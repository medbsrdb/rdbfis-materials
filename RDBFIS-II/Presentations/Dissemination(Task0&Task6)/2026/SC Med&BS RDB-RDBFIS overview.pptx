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0" r:id="rId5"/>
  </p:sldMasterIdLst>
  <p:notesMasterIdLst>
    <p:notesMasterId r:id="rId26"/>
  </p:notesMasterIdLst>
  <p:sldIdLst>
    <p:sldId id="257" r:id="rId6"/>
    <p:sldId id="258" r:id="rId7"/>
    <p:sldId id="609" r:id="rId8"/>
    <p:sldId id="261" r:id="rId9"/>
    <p:sldId id="588" r:id="rId10"/>
    <p:sldId id="593" r:id="rId11"/>
    <p:sldId id="606" r:id="rId12"/>
    <p:sldId id="607" r:id="rId13"/>
    <p:sldId id="662" r:id="rId14"/>
    <p:sldId id="657" r:id="rId15"/>
    <p:sldId id="654" r:id="rId16"/>
    <p:sldId id="655" r:id="rId17"/>
    <p:sldId id="658" r:id="rId18"/>
    <p:sldId id="659" r:id="rId19"/>
    <p:sldId id="660" r:id="rId20"/>
    <p:sldId id="661" r:id="rId21"/>
    <p:sldId id="653" r:id="rId22"/>
    <p:sldId id="608" r:id="rId23"/>
    <p:sldId id="663" r:id="rId24"/>
    <p:sldId id="286"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49" autoAdjust="0"/>
    <p:restoredTop sz="96322" autoAdjust="0"/>
  </p:normalViewPr>
  <p:slideViewPr>
    <p:cSldViewPr>
      <p:cViewPr varScale="1">
        <p:scale>
          <a:sx n="107" d="100"/>
          <a:sy n="107" d="100"/>
        </p:scale>
        <p:origin x="1384" y="4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4CDF764-5E72-4AAF-9039-FA6BF9CBFC5F}" type="datetimeFigureOut">
              <a:rPr lang="en-US" smtClean="0"/>
              <a:t>4/18/2026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5E8FD5-C534-4262-9F18-48F10B6C4C8E}" type="slidenum">
              <a:rPr lang="en-US" smtClean="0"/>
              <a:t>‹#›</a:t>
            </a:fld>
            <a:endParaRPr lang="en-US"/>
          </a:p>
        </p:txBody>
      </p:sp>
    </p:spTree>
    <p:extLst>
      <p:ext uri="{BB962C8B-B14F-4D97-AF65-F5344CB8AC3E}">
        <p14:creationId xmlns:p14="http://schemas.microsoft.com/office/powerpoint/2010/main" val="2386875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aa397a42ba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gaa397a42ba_0_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b="1" dirty="0">
                <a:solidFill>
                  <a:schemeClr val="bg2">
                    <a:lumMod val="75000"/>
                  </a:schemeClr>
                </a:solidFill>
                <a:latin typeface="Calibri" pitchFamily="34" charset="0"/>
                <a:ea typeface="Calibri" pitchFamily="34" charset="0"/>
                <a:cs typeface="Calibri" pitchFamily="34" charset="0"/>
              </a:rPr>
              <a:t>Actions already performed</a:t>
            </a:r>
          </a:p>
          <a:p>
            <a:endParaRPr lang="en-US" sz="2000" dirty="0">
              <a:solidFill>
                <a:schemeClr val="bg2">
                  <a:lumMod val="75000"/>
                </a:schemeClr>
              </a:solidFill>
              <a:latin typeface="Calibri" pitchFamily="34" charset="0"/>
              <a:ea typeface="Calibri" pitchFamily="34" charset="0"/>
              <a:cs typeface="Calibri" pitchFamily="34" charset="0"/>
            </a:endParaRPr>
          </a:p>
          <a:p>
            <a:pPr marL="285750" indent="-285750">
              <a:buFont typeface="Wingdings" pitchFamily="2" charset="2"/>
              <a:buChar char="v"/>
            </a:pPr>
            <a:r>
              <a:rPr lang="en-US" sz="2000" b="1" dirty="0">
                <a:solidFill>
                  <a:schemeClr val="bg2">
                    <a:lumMod val="75000"/>
                  </a:schemeClr>
                </a:solidFill>
                <a:latin typeface="Calibri" pitchFamily="34" charset="0"/>
                <a:ea typeface="Calibri" pitchFamily="34" charset="0"/>
                <a:cs typeface="Calibri" pitchFamily="34" charset="0"/>
              </a:rPr>
              <a:t>Participation in meetings</a:t>
            </a:r>
            <a:r>
              <a:rPr lang="en-US" sz="2000" dirty="0">
                <a:solidFill>
                  <a:schemeClr val="bg2">
                    <a:lumMod val="75000"/>
                  </a:schemeClr>
                </a:solidFill>
                <a:latin typeface="Calibri" pitchFamily="34" charset="0"/>
                <a:ea typeface="Calibri" pitchFamily="34" charset="0"/>
                <a:cs typeface="Calibri" pitchFamily="34" charset="0"/>
              </a:rPr>
              <a:t>:</a:t>
            </a:r>
          </a:p>
          <a:p>
            <a:pPr marL="742950" lvl="6" indent="-285750">
              <a:buFont typeface="Courier New" pitchFamily="49" charset="0"/>
              <a:buChar char="o"/>
            </a:pPr>
            <a:r>
              <a:rPr lang="en-US" sz="2000" dirty="0">
                <a:solidFill>
                  <a:schemeClr val="bg2">
                    <a:lumMod val="75000"/>
                  </a:schemeClr>
                </a:solidFill>
                <a:latin typeface="Calibri" pitchFamily="34" charset="0"/>
                <a:ea typeface="Calibri" pitchFamily="34" charset="0"/>
                <a:cs typeface="Calibri" pitchFamily="34" charset="0"/>
              </a:rPr>
              <a:t>MEDIAS SC </a:t>
            </a:r>
          </a:p>
          <a:p>
            <a:pPr marL="742950" lvl="8" indent="-285750">
              <a:buFont typeface="Courier New" pitchFamily="49" charset="0"/>
              <a:buChar char="o"/>
            </a:pPr>
            <a:r>
              <a:rPr lang="en-US" sz="2000" dirty="0">
                <a:solidFill>
                  <a:schemeClr val="bg2">
                    <a:lumMod val="75000"/>
                  </a:schemeClr>
                </a:solidFill>
                <a:latin typeface="Calibri" pitchFamily="34" charset="0"/>
                <a:ea typeface="Calibri" pitchFamily="34" charset="0"/>
                <a:cs typeface="Calibri" pitchFamily="34" charset="0"/>
              </a:rPr>
              <a:t>MEDITS SC </a:t>
            </a:r>
          </a:p>
          <a:p>
            <a:pPr marL="742950" lvl="8" indent="-285750">
              <a:buFont typeface="Courier New" pitchFamily="49" charset="0"/>
              <a:buChar char="o"/>
            </a:pPr>
            <a:r>
              <a:rPr lang="en-US" sz="2000" dirty="0">
                <a:solidFill>
                  <a:schemeClr val="bg2">
                    <a:lumMod val="75000"/>
                  </a:schemeClr>
                </a:solidFill>
                <a:latin typeface="Calibri" pitchFamily="34" charset="0"/>
                <a:ea typeface="Calibri" pitchFamily="34" charset="0"/>
                <a:cs typeface="Calibri" pitchFamily="34" charset="0"/>
              </a:rPr>
              <a:t>RCG ECON </a:t>
            </a:r>
          </a:p>
          <a:p>
            <a:pPr marL="742950" lvl="8" indent="-285750">
              <a:buFont typeface="Courier New" pitchFamily="49" charset="0"/>
              <a:buChar char="o"/>
            </a:pPr>
            <a:r>
              <a:rPr lang="en-US" sz="2000" dirty="0">
                <a:solidFill>
                  <a:schemeClr val="bg2">
                    <a:lumMod val="75000"/>
                  </a:schemeClr>
                </a:solidFill>
                <a:latin typeface="Calibri" pitchFamily="34" charset="0"/>
                <a:ea typeface="Calibri" pitchFamily="34" charset="0"/>
                <a:cs typeface="Calibri" pitchFamily="34" charset="0"/>
              </a:rPr>
              <a:t>RCG LP </a:t>
            </a:r>
          </a:p>
          <a:p>
            <a:pPr marL="742950" lvl="8" indent="-285750">
              <a:buFont typeface="Courier New" pitchFamily="49" charset="0"/>
              <a:buChar char="o"/>
            </a:pPr>
            <a:r>
              <a:rPr lang="en-US" sz="2000" dirty="0">
                <a:solidFill>
                  <a:schemeClr val="bg2">
                    <a:lumMod val="75000"/>
                  </a:schemeClr>
                </a:solidFill>
                <a:latin typeface="Calibri" pitchFamily="34" charset="0"/>
                <a:ea typeface="Calibri" pitchFamily="34" charset="0"/>
                <a:cs typeface="Calibri" pitchFamily="34" charset="0"/>
              </a:rPr>
              <a:t>SC RDB</a:t>
            </a:r>
          </a:p>
          <a:p>
            <a:pPr marL="742950" lvl="8" indent="-285750">
              <a:buFont typeface="Courier New" pitchFamily="49" charset="0"/>
              <a:buChar char="o"/>
            </a:pPr>
            <a:r>
              <a:rPr lang="en-US" sz="2000" dirty="0">
                <a:solidFill>
                  <a:schemeClr val="bg2">
                    <a:lumMod val="75000"/>
                  </a:schemeClr>
                </a:solidFill>
                <a:latin typeface="Calibri" pitchFamily="34" charset="0"/>
                <a:ea typeface="Calibri" pitchFamily="34" charset="0"/>
                <a:cs typeface="Calibri" pitchFamily="34" charset="0"/>
              </a:rPr>
              <a:t>MED&amp;BS RCG</a:t>
            </a:r>
          </a:p>
          <a:p>
            <a:pPr marL="742950" lvl="8" indent="-285750">
              <a:buFont typeface="Courier New" pitchFamily="49" charset="0"/>
              <a:buChar char="o"/>
            </a:pPr>
            <a:r>
              <a:rPr lang="en-US" sz="2000" dirty="0">
                <a:solidFill>
                  <a:schemeClr val="bg2">
                    <a:lumMod val="75000"/>
                  </a:schemeClr>
                </a:solidFill>
                <a:latin typeface="Calibri" pitchFamily="34" charset="0"/>
                <a:ea typeface="Calibri" pitchFamily="34" charset="0"/>
                <a:cs typeface="Calibri" pitchFamily="34" charset="0"/>
              </a:rPr>
              <a:t>DCF Liaison Meeting</a:t>
            </a:r>
          </a:p>
          <a:p>
            <a:pPr marL="742950" lvl="8" indent="-285750">
              <a:buFont typeface="Courier New" pitchFamily="49" charset="0"/>
              <a:buChar char="o"/>
            </a:pPr>
            <a:r>
              <a:rPr lang="en-US" sz="2000" dirty="0">
                <a:solidFill>
                  <a:schemeClr val="bg2">
                    <a:lumMod val="75000"/>
                  </a:schemeClr>
                </a:solidFill>
                <a:latin typeface="Calibri" pitchFamily="34" charset="0"/>
                <a:ea typeface="Calibri" pitchFamily="34" charset="0"/>
                <a:cs typeface="Calibri" pitchFamily="34" charset="0"/>
              </a:rPr>
              <a:t>NC DCF meetings</a:t>
            </a:r>
          </a:p>
          <a:p>
            <a:pPr marL="0" lvl="7"/>
            <a:endParaRPr lang="en-US" sz="2000" b="1" dirty="0">
              <a:solidFill>
                <a:schemeClr val="bg2">
                  <a:lumMod val="75000"/>
                </a:schemeClr>
              </a:solidFill>
              <a:latin typeface="Calibri" pitchFamily="34" charset="0"/>
              <a:ea typeface="Calibri" pitchFamily="34" charset="0"/>
              <a:cs typeface="Calibri" pitchFamily="34" charset="0"/>
            </a:endParaRPr>
          </a:p>
          <a:p>
            <a:pPr marL="285750" lvl="7" indent="-285750">
              <a:buFont typeface="Wingdings" pitchFamily="2" charset="2"/>
              <a:buChar char="v"/>
            </a:pPr>
            <a:r>
              <a:rPr lang="en-US" sz="2000" dirty="0">
                <a:solidFill>
                  <a:schemeClr val="bg2">
                    <a:lumMod val="75000"/>
                  </a:schemeClr>
                </a:solidFill>
                <a:latin typeface="Calibri" pitchFamily="34" charset="0"/>
                <a:ea typeface="Calibri" pitchFamily="34" charset="0"/>
                <a:cs typeface="Calibri" pitchFamily="34" charset="0"/>
              </a:rPr>
              <a:t>A series of </a:t>
            </a:r>
            <a:r>
              <a:rPr lang="en-US" sz="2000" b="1" dirty="0">
                <a:solidFill>
                  <a:schemeClr val="bg2">
                    <a:lumMod val="75000"/>
                  </a:schemeClr>
                </a:solidFill>
                <a:latin typeface="Calibri" pitchFamily="34" charset="0"/>
                <a:ea typeface="Calibri" pitchFamily="34" charset="0"/>
                <a:cs typeface="Calibri" pitchFamily="34" charset="0"/>
              </a:rPr>
              <a:t>dedicated workshops and meetings </a:t>
            </a:r>
            <a:r>
              <a:rPr lang="en-US" sz="2000" dirty="0">
                <a:solidFill>
                  <a:schemeClr val="bg2">
                    <a:lumMod val="75000"/>
                  </a:schemeClr>
                </a:solidFill>
                <a:latin typeface="Calibri" pitchFamily="34" charset="0"/>
                <a:ea typeface="Calibri" pitchFamily="34" charset="0"/>
                <a:cs typeface="Calibri" pitchFamily="34" charset="0"/>
              </a:rPr>
              <a:t>focusing on fine-tuning and further development have been organised to facilitate the implementation of the project activities. </a:t>
            </a:r>
          </a:p>
          <a:p>
            <a:endParaRPr lang="el-GR" dirty="0"/>
          </a:p>
        </p:txBody>
      </p:sp>
      <p:sp>
        <p:nvSpPr>
          <p:cNvPr id="4" name="Slide Number Placeholder 3"/>
          <p:cNvSpPr>
            <a:spLocks noGrp="1"/>
          </p:cNvSpPr>
          <p:nvPr>
            <p:ph type="sldNum" sz="quarter" idx="5"/>
          </p:nvPr>
        </p:nvSpPr>
        <p:spPr/>
        <p:txBody>
          <a:bodyPr/>
          <a:lstStyle/>
          <a:p>
            <a:fld id="{955E8FD5-C534-4262-9F18-48F10B6C4C8E}" type="slidenum">
              <a:rPr lang="en-US" smtClean="0"/>
              <a:t>3</a:t>
            </a:fld>
            <a:endParaRPr lang="en-US"/>
          </a:p>
        </p:txBody>
      </p:sp>
    </p:spTree>
    <p:extLst>
      <p:ext uri="{BB962C8B-B14F-4D97-AF65-F5344CB8AC3E}">
        <p14:creationId xmlns:p14="http://schemas.microsoft.com/office/powerpoint/2010/main" val="1901169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l-GR" sz="11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3680333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l-GR"/>
          </a:p>
        </p:txBody>
      </p:sp>
      <p:sp>
        <p:nvSpPr>
          <p:cNvPr id="4" name="Slide Number Placeholder 3"/>
          <p:cNvSpPr>
            <a:spLocks noGrp="1"/>
          </p:cNvSpPr>
          <p:nvPr>
            <p:ph type="sldNum" sz="quarter" idx="10"/>
          </p:nvPr>
        </p:nvSpPr>
        <p:spPr>
          <a:xfrm>
            <a:off x="3884613" y="8685213"/>
            <a:ext cx="2971800" cy="457200"/>
          </a:xfrm>
          <a:prstGeom prst="rect">
            <a:avLst/>
          </a:prstGeom>
        </p:spPr>
        <p:txBody>
          <a:bodyPr/>
          <a:lstStyle/>
          <a:p>
            <a:fld id="{FC744FE7-E0CB-477A-9181-79AFBD3227AD}" type="slidenum">
              <a:rPr lang="el-GR" smtClean="0">
                <a:solidFill>
                  <a:prstClr val="black"/>
                </a:solidFill>
              </a:rPr>
              <a:pPr/>
              <a:t>17</a:t>
            </a:fld>
            <a:endParaRPr lang="el-GR">
              <a:solidFill>
                <a:prstClr val="black"/>
              </a:solidFill>
            </a:endParaRPr>
          </a:p>
        </p:txBody>
      </p:sp>
    </p:spTree>
    <p:extLst>
      <p:ext uri="{BB962C8B-B14F-4D97-AF65-F5344CB8AC3E}">
        <p14:creationId xmlns:p14="http://schemas.microsoft.com/office/powerpoint/2010/main" val="41640934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pPr>
              <a:buNone/>
            </a:pPr>
            <a:endParaRPr lang="el-G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85800" y="2130454"/>
            <a:ext cx="7772400" cy="14700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371600" y="3886200"/>
            <a:ext cx="6400800" cy="1752600"/>
          </a:xfrm>
          <a:prstGeom prst="rect">
            <a:avLst/>
          </a:prstGeom>
          <a:noFill/>
          <a:ln>
            <a:noFill/>
          </a:ln>
        </p:spPr>
        <p:txBody>
          <a:bodyPr spcFirstLastPara="1" wrap="square" lIns="91400" tIns="45700" rIns="91400"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4" name="Google Shape;14;p2"/>
          <p:cNvSpPr txBox="1">
            <a:spLocks noGrp="1"/>
          </p:cNvSpPr>
          <p:nvPr>
            <p:ph type="dt" idx="10"/>
          </p:nvPr>
        </p:nvSpPr>
        <p:spPr>
          <a:xfrm>
            <a:off x="457200" y="6356378"/>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3124200" y="6356378"/>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6553200" y="6356378"/>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115189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2" y="273050"/>
            <a:ext cx="3008313" cy="1162050"/>
          </a:xfrm>
          <a:prstGeom prst="rect">
            <a:avLst/>
          </a:prstGeom>
          <a:noFill/>
          <a:ln>
            <a:noFill/>
          </a:ln>
        </p:spPr>
        <p:txBody>
          <a:bodyPr spcFirstLastPara="1" wrap="square" lIns="91400" tIns="45700" rIns="91400"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79"/>
            <a:ext cx="5111750" cy="5853113"/>
          </a:xfrm>
          <a:prstGeom prst="rect">
            <a:avLst/>
          </a:prstGeom>
          <a:noFill/>
          <a:ln>
            <a:noFill/>
          </a:ln>
        </p:spPr>
        <p:txBody>
          <a:bodyPr spcFirstLastPara="1" wrap="square" lIns="91400" tIns="45700" rIns="91400"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2" y="1435103"/>
            <a:ext cx="3008313" cy="4691063"/>
          </a:xfrm>
          <a:prstGeom prst="rect">
            <a:avLst/>
          </a:prstGeom>
          <a:noFill/>
          <a:ln>
            <a:noFill/>
          </a:ln>
        </p:spPr>
        <p:txBody>
          <a:bodyPr spcFirstLastPara="1" wrap="square" lIns="91400" tIns="45700" rIns="91400"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78"/>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78"/>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78"/>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650601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1"/>
            <a:ext cx="5486400" cy="566738"/>
          </a:xfrm>
          <a:prstGeom prst="rect">
            <a:avLst/>
          </a:prstGeom>
          <a:noFill/>
          <a:ln>
            <a:noFill/>
          </a:ln>
        </p:spPr>
        <p:txBody>
          <a:bodyPr spcFirstLastPara="1" wrap="square" lIns="91400" tIns="45700" rIns="91400"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6"/>
            <a:ext cx="5486400" cy="4114800"/>
          </a:xfrm>
          <a:prstGeom prst="rect">
            <a:avLst/>
          </a:prstGeom>
          <a:noFill/>
          <a:ln>
            <a:noFill/>
          </a:ln>
        </p:spPr>
        <p:txBody>
          <a:bodyPr spcFirstLastPara="1" wrap="square" lIns="91400" tIns="45700" rIns="91400" bIns="45700" anchor="t" anchorCtr="0">
            <a:no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00" tIns="45700" rIns="91400"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78"/>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78"/>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78"/>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9930438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32" y="-251618"/>
            <a:ext cx="4525963" cy="8229600"/>
          </a:xfrm>
          <a:prstGeom prst="rect">
            <a:avLst/>
          </a:prstGeom>
          <a:noFill/>
          <a:ln>
            <a:noFill/>
          </a:ln>
        </p:spPr>
        <p:txBody>
          <a:bodyPr spcFirstLastPara="1" wrap="square" lIns="91400" tIns="45700" rIns="91400"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78"/>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78"/>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78"/>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1569005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51" y="2171700"/>
            <a:ext cx="5851525" cy="2057400"/>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53" y="190501"/>
            <a:ext cx="5851525" cy="6019800"/>
          </a:xfrm>
          <a:prstGeom prst="rect">
            <a:avLst/>
          </a:prstGeom>
          <a:noFill/>
          <a:ln>
            <a:noFill/>
          </a:ln>
        </p:spPr>
        <p:txBody>
          <a:bodyPr spcFirstLastPara="1" wrap="square" lIns="91400" tIns="45700" rIns="91400"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78"/>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78"/>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78"/>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634626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
        <p:cNvGrpSpPr/>
        <p:nvPr/>
      </p:nvGrpSpPr>
      <p:grpSpPr>
        <a:xfrm>
          <a:off x="0" y="0"/>
          <a:ext cx="0" cy="0"/>
          <a:chOff x="0" y="0"/>
          <a:chExt cx="0" cy="0"/>
        </a:xfrm>
      </p:grpSpPr>
      <p:sp>
        <p:nvSpPr>
          <p:cNvPr id="18" name="Google Shape;18;p3"/>
          <p:cNvSpPr txBox="1">
            <a:spLocks noGrp="1"/>
          </p:cNvSpPr>
          <p:nvPr>
            <p:ph type="dt" idx="10"/>
          </p:nvPr>
        </p:nvSpPr>
        <p:spPr>
          <a:xfrm>
            <a:off x="457200" y="6356378"/>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78"/>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78"/>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p14="http://schemas.microsoft.com/office/powerpoint/2010/main" val="3714940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144296D5-671A-F85F-2BB3-169E395D6404}"/>
              </a:ext>
            </a:extLst>
          </p:cNvPr>
          <p:cNvSpPr/>
          <p:nvPr userDrawn="1"/>
        </p:nvSpPr>
        <p:spPr>
          <a:xfrm>
            <a:off x="189542" y="5913579"/>
            <a:ext cx="8707856" cy="8869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91"/>
            <a:endParaRPr lang="gl-ES" sz="1050">
              <a:solidFill>
                <a:prstClr val="white"/>
              </a:solidFill>
            </a:endParaRPr>
          </a:p>
        </p:txBody>
      </p:sp>
      <p:sp>
        <p:nvSpPr>
          <p:cNvPr id="8" name="Rectangle 7"/>
          <p:cNvSpPr>
            <a:spLocks noChangeAspect="1"/>
          </p:cNvSpPr>
          <p:nvPr/>
        </p:nvSpPr>
        <p:spPr>
          <a:xfrm>
            <a:off x="335919" y="5495721"/>
            <a:ext cx="8475953" cy="90508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hasCustomPrompt="1"/>
          </p:nvPr>
        </p:nvSpPr>
        <p:spPr>
          <a:xfrm>
            <a:off x="467972" y="3191721"/>
            <a:ext cx="8208169" cy="1389804"/>
          </a:xfrm>
        </p:spPr>
        <p:txBody>
          <a:bodyPr anchor="b">
            <a:normAutofit/>
          </a:bodyPr>
          <a:lstStyle>
            <a:lvl1pPr algn="l">
              <a:defRPr sz="2701" b="0" cap="all">
                <a:solidFill>
                  <a:schemeClr val="accent5"/>
                </a:solidFill>
              </a:defRPr>
            </a:lvl1pPr>
          </a:lstStyle>
          <a:p>
            <a:r>
              <a:rPr lang="en-US" dirty="0"/>
              <a:t>Click to edit section title</a:t>
            </a:r>
          </a:p>
        </p:txBody>
      </p:sp>
      <p:sp>
        <p:nvSpPr>
          <p:cNvPr id="3" name="Text Placeholder 2"/>
          <p:cNvSpPr>
            <a:spLocks noGrp="1"/>
          </p:cNvSpPr>
          <p:nvPr>
            <p:ph type="body" idx="1"/>
          </p:nvPr>
        </p:nvSpPr>
        <p:spPr>
          <a:xfrm>
            <a:off x="467972" y="4693530"/>
            <a:ext cx="8208169" cy="619157"/>
          </a:xfrm>
        </p:spPr>
        <p:txBody>
          <a:bodyPr anchor="t">
            <a:normAutofit/>
          </a:bodyPr>
          <a:lstStyle>
            <a:lvl1pPr marL="0" indent="0" algn="l">
              <a:buNone/>
              <a:defRPr sz="1350" cap="all">
                <a:solidFill>
                  <a:schemeClr val="accent2"/>
                </a:solidFill>
              </a:defRPr>
            </a:lvl1pPr>
            <a:lvl2pPr marL="342991" indent="0">
              <a:buNone/>
              <a:defRPr sz="1350">
                <a:solidFill>
                  <a:schemeClr val="tx1">
                    <a:tint val="75000"/>
                  </a:schemeClr>
                </a:solidFill>
              </a:defRPr>
            </a:lvl2pPr>
            <a:lvl3pPr marL="685983" indent="0">
              <a:buNone/>
              <a:defRPr sz="1200">
                <a:solidFill>
                  <a:schemeClr val="tx1">
                    <a:tint val="75000"/>
                  </a:schemeClr>
                </a:solidFill>
              </a:defRPr>
            </a:lvl3pPr>
            <a:lvl4pPr marL="1028974" indent="0">
              <a:buNone/>
              <a:defRPr sz="1050">
                <a:solidFill>
                  <a:schemeClr val="tx1">
                    <a:tint val="75000"/>
                  </a:schemeClr>
                </a:solidFill>
              </a:defRPr>
            </a:lvl4pPr>
            <a:lvl5pPr marL="1371966" indent="0">
              <a:buNone/>
              <a:defRPr sz="1050">
                <a:solidFill>
                  <a:schemeClr val="tx1">
                    <a:tint val="75000"/>
                  </a:schemeClr>
                </a:solidFill>
              </a:defRPr>
            </a:lvl5pPr>
            <a:lvl6pPr marL="1714957" indent="0">
              <a:buNone/>
              <a:defRPr sz="1050">
                <a:solidFill>
                  <a:schemeClr val="tx1">
                    <a:tint val="75000"/>
                  </a:schemeClr>
                </a:solidFill>
              </a:defRPr>
            </a:lvl6pPr>
            <a:lvl7pPr marL="2057949" indent="0">
              <a:buNone/>
              <a:defRPr sz="1050">
                <a:solidFill>
                  <a:schemeClr val="tx1">
                    <a:tint val="75000"/>
                  </a:schemeClr>
                </a:solidFill>
              </a:defRPr>
            </a:lvl7pPr>
            <a:lvl8pPr marL="2400940" indent="0">
              <a:buNone/>
              <a:defRPr sz="1050">
                <a:solidFill>
                  <a:schemeClr val="tx1">
                    <a:tint val="75000"/>
                  </a:schemeClr>
                </a:solidFill>
              </a:defRPr>
            </a:lvl8pPr>
            <a:lvl9pPr marL="2743932" indent="0">
              <a:buNone/>
              <a:defRPr sz="1050">
                <a:solidFill>
                  <a:schemeClr val="tx1">
                    <a:tint val="75000"/>
                  </a:schemeClr>
                </a:solidFill>
              </a:defRPr>
            </a:lvl9pPr>
          </a:lstStyle>
          <a:p>
            <a:pPr lvl="0"/>
            <a:r>
              <a:rPr lang="en-US" dirty="0"/>
              <a:t>Edit Master text styles</a:t>
            </a:r>
          </a:p>
        </p:txBody>
      </p:sp>
      <p:grpSp>
        <p:nvGrpSpPr>
          <p:cNvPr id="4" name="Grupo 3">
            <a:extLst>
              <a:ext uri="{FF2B5EF4-FFF2-40B4-BE49-F238E27FC236}">
                <a16:creationId xmlns:a16="http://schemas.microsoft.com/office/drawing/2014/main" id="{3B92DF82-E3A5-4724-AA79-878AC26BFF52}"/>
              </a:ext>
            </a:extLst>
          </p:cNvPr>
          <p:cNvGrpSpPr/>
          <p:nvPr userDrawn="1"/>
        </p:nvGrpSpPr>
        <p:grpSpPr>
          <a:xfrm>
            <a:off x="477406" y="5679700"/>
            <a:ext cx="8196152" cy="537122"/>
            <a:chOff x="636485" y="2625537"/>
            <a:chExt cx="10928203" cy="537122"/>
          </a:xfrm>
        </p:grpSpPr>
        <p:pic>
          <p:nvPicPr>
            <p:cNvPr id="22" name="Picture 1">
              <a:extLst>
                <a:ext uri="{FF2B5EF4-FFF2-40B4-BE49-F238E27FC236}">
                  <a16:creationId xmlns:a16="http://schemas.microsoft.com/office/drawing/2014/main" id="{4A1957FF-2357-4C7F-AFB7-746A4267CA9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36485" y="2625538"/>
              <a:ext cx="1681085" cy="537121"/>
            </a:xfrm>
            <a:prstGeom prst="rect">
              <a:avLst/>
            </a:prstGeom>
          </p:spPr>
        </p:pic>
        <p:pic>
          <p:nvPicPr>
            <p:cNvPr id="23" name="Picture 1">
              <a:extLst>
                <a:ext uri="{FF2B5EF4-FFF2-40B4-BE49-F238E27FC236}">
                  <a16:creationId xmlns:a16="http://schemas.microsoft.com/office/drawing/2014/main" id="{7E31F0DF-A26E-4EE2-BC05-D0B639B31C9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485908" y="2625537"/>
              <a:ext cx="1681086" cy="537122"/>
            </a:xfrm>
            <a:prstGeom prst="rect">
              <a:avLst/>
            </a:prstGeom>
          </p:spPr>
        </p:pic>
        <p:pic>
          <p:nvPicPr>
            <p:cNvPr id="24" name="Picture 1">
              <a:extLst>
                <a:ext uri="{FF2B5EF4-FFF2-40B4-BE49-F238E27FC236}">
                  <a16:creationId xmlns:a16="http://schemas.microsoft.com/office/drawing/2014/main" id="{529C7E29-2992-4647-808A-F87E07AAADA7}"/>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335332" y="2625538"/>
              <a:ext cx="1681083" cy="537120"/>
            </a:xfrm>
            <a:prstGeom prst="rect">
              <a:avLst/>
            </a:prstGeom>
          </p:spPr>
        </p:pic>
        <p:pic>
          <p:nvPicPr>
            <p:cNvPr id="25" name="Picture 1">
              <a:extLst>
                <a:ext uri="{FF2B5EF4-FFF2-40B4-BE49-F238E27FC236}">
                  <a16:creationId xmlns:a16="http://schemas.microsoft.com/office/drawing/2014/main" id="{12CBAE9A-F841-4760-8854-89B44BB7ADF9}"/>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184753" y="2625538"/>
              <a:ext cx="1681085" cy="537121"/>
            </a:xfrm>
            <a:prstGeom prst="rect">
              <a:avLst/>
            </a:prstGeom>
          </p:spPr>
        </p:pic>
        <p:pic>
          <p:nvPicPr>
            <p:cNvPr id="26" name="Picture 1">
              <a:extLst>
                <a:ext uri="{FF2B5EF4-FFF2-40B4-BE49-F238E27FC236}">
                  <a16:creationId xmlns:a16="http://schemas.microsoft.com/office/drawing/2014/main" id="{1B5B2363-9A54-4DD0-AD13-A2DFD94FD6CD}"/>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034176" y="2625538"/>
              <a:ext cx="1681085" cy="537121"/>
            </a:xfrm>
            <a:prstGeom prst="rect">
              <a:avLst/>
            </a:prstGeom>
          </p:spPr>
        </p:pic>
        <p:pic>
          <p:nvPicPr>
            <p:cNvPr id="27" name="Picture 1">
              <a:extLst>
                <a:ext uri="{FF2B5EF4-FFF2-40B4-BE49-F238E27FC236}">
                  <a16:creationId xmlns:a16="http://schemas.microsoft.com/office/drawing/2014/main" id="{4871DA72-B951-45ED-99C1-806B3CD7C23A}"/>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9883600" y="2625537"/>
              <a:ext cx="1681088" cy="537122"/>
            </a:xfrm>
            <a:prstGeom prst="rect">
              <a:avLst/>
            </a:prstGeom>
          </p:spPr>
        </p:pic>
      </p:grpSp>
    </p:spTree>
    <p:extLst>
      <p:ext uri="{BB962C8B-B14F-4D97-AF65-F5344CB8AC3E}">
        <p14:creationId xmlns:p14="http://schemas.microsoft.com/office/powerpoint/2010/main" val="1473652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1" y="1600203"/>
            <a:ext cx="4038600" cy="4525963"/>
          </a:xfrm>
          <a:prstGeom prst="rect">
            <a:avLst/>
          </a:prstGeom>
          <a:noFill/>
          <a:ln>
            <a:noFill/>
          </a:ln>
        </p:spPr>
        <p:txBody>
          <a:bodyPr spcFirstLastPara="1" wrap="square" lIns="91400" tIns="45700" rIns="91400"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3"/>
            <a:ext cx="4038600" cy="4525963"/>
          </a:xfrm>
          <a:prstGeom prst="rect">
            <a:avLst/>
          </a:prstGeom>
          <a:noFill/>
          <a:ln>
            <a:noFill/>
          </a:ln>
        </p:spPr>
        <p:txBody>
          <a:bodyPr spcFirstLastPara="1" wrap="square" lIns="91400" tIns="45700" rIns="91400"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2"/>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2"/>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2"/>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extLst>
      <p:ext uri="{BB962C8B-B14F-4D97-AF65-F5344CB8AC3E}">
        <p14:creationId xmlns:p14="http://schemas.microsoft.com/office/powerpoint/2010/main" val="558687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
        <p:cNvGrpSpPr/>
        <p:nvPr/>
      </p:nvGrpSpPr>
      <p:grpSpPr>
        <a:xfrm>
          <a:off x="0" y="0"/>
          <a:ext cx="0" cy="0"/>
          <a:chOff x="0" y="0"/>
          <a:chExt cx="0" cy="0"/>
        </a:xfrm>
      </p:grpSpPr>
      <p:sp>
        <p:nvSpPr>
          <p:cNvPr id="18" name="Google Shape;18;p3"/>
          <p:cNvSpPr txBox="1">
            <a:spLocks noGrp="1"/>
          </p:cNvSpPr>
          <p:nvPr>
            <p:ph type="dt" idx="10"/>
          </p:nvPr>
        </p:nvSpPr>
        <p:spPr>
          <a:xfrm>
            <a:off x="457200" y="6356376"/>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76"/>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76"/>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189791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76"/>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76"/>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76"/>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317808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2" y="273050"/>
            <a:ext cx="3008313" cy="1162050"/>
          </a:xfrm>
          <a:prstGeom prst="rect">
            <a:avLst/>
          </a:prstGeom>
          <a:noFill/>
          <a:ln>
            <a:noFill/>
          </a:ln>
        </p:spPr>
        <p:txBody>
          <a:bodyPr spcFirstLastPara="1" wrap="square" lIns="91400" tIns="45700" rIns="91400"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77"/>
            <a:ext cx="5111750" cy="5853113"/>
          </a:xfrm>
          <a:prstGeom prst="rect">
            <a:avLst/>
          </a:prstGeom>
          <a:noFill/>
          <a:ln>
            <a:noFill/>
          </a:ln>
        </p:spPr>
        <p:txBody>
          <a:bodyPr spcFirstLastPara="1" wrap="square" lIns="91400" tIns="45700" rIns="91400"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2" y="1435103"/>
            <a:ext cx="3008313" cy="4691063"/>
          </a:xfrm>
          <a:prstGeom prst="rect">
            <a:avLst/>
          </a:prstGeom>
          <a:noFill/>
          <a:ln>
            <a:noFill/>
          </a:ln>
        </p:spPr>
        <p:txBody>
          <a:bodyPr spcFirstLastPara="1" wrap="square" lIns="91400" tIns="45700" rIns="91400"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76"/>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76"/>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76"/>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2001011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1"/>
            <a:ext cx="5486400" cy="566738"/>
          </a:xfrm>
          <a:prstGeom prst="rect">
            <a:avLst/>
          </a:prstGeom>
          <a:noFill/>
          <a:ln>
            <a:noFill/>
          </a:ln>
        </p:spPr>
        <p:txBody>
          <a:bodyPr spcFirstLastPara="1" wrap="square" lIns="91400" tIns="45700" rIns="91400"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6"/>
            <a:ext cx="5486400" cy="4114800"/>
          </a:xfrm>
          <a:prstGeom prst="rect">
            <a:avLst/>
          </a:prstGeom>
          <a:noFill/>
          <a:ln>
            <a:noFill/>
          </a:ln>
        </p:spPr>
        <p:txBody>
          <a:bodyPr spcFirstLastPara="1" wrap="square" lIns="91400" tIns="45700" rIns="91400" bIns="45700" anchor="t" anchorCtr="0">
            <a:no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00" tIns="45700" rIns="91400"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76"/>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76"/>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76"/>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304251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31" y="-251618"/>
            <a:ext cx="4525963" cy="8229600"/>
          </a:xfrm>
          <a:prstGeom prst="rect">
            <a:avLst/>
          </a:prstGeom>
          <a:noFill/>
          <a:ln>
            <a:noFill/>
          </a:ln>
        </p:spPr>
        <p:txBody>
          <a:bodyPr spcFirstLastPara="1" wrap="square" lIns="91400" tIns="45700" rIns="91400"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76"/>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76"/>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76"/>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2872718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50" y="2171700"/>
            <a:ext cx="5851525" cy="2057400"/>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52" y="190501"/>
            <a:ext cx="5851525" cy="6019800"/>
          </a:xfrm>
          <a:prstGeom prst="rect">
            <a:avLst/>
          </a:prstGeom>
          <a:noFill/>
          <a:ln>
            <a:noFill/>
          </a:ln>
        </p:spPr>
        <p:txBody>
          <a:bodyPr spcFirstLastPara="1" wrap="square" lIns="91400" tIns="45700" rIns="91400"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76"/>
            <a:ext cx="2133600" cy="365125"/>
          </a:xfrm>
          <a:prstGeom prst="rect">
            <a:avLst/>
          </a:prstGeom>
          <a:noFill/>
          <a:ln>
            <a:noFill/>
          </a:ln>
        </p:spPr>
        <p:txBody>
          <a:bodyPr spcFirstLastPara="1" wrap="square" lIns="91400" tIns="45700" rIns="9140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76"/>
            <a:ext cx="2895600" cy="365125"/>
          </a:xfrm>
          <a:prstGeom prst="rect">
            <a:avLst/>
          </a:prstGeom>
          <a:noFill/>
          <a:ln>
            <a:noFill/>
          </a:ln>
        </p:spPr>
        <p:txBody>
          <a:bodyPr spcFirstLastPara="1" wrap="square" lIns="91400" tIns="45700" rIns="9140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76"/>
            <a:ext cx="2133600" cy="365125"/>
          </a:xfrm>
          <a:prstGeom prst="rect">
            <a:avLst/>
          </a:prstGeom>
          <a:noFill/>
          <a:ln>
            <a:noFill/>
          </a:ln>
        </p:spPr>
        <p:txBody>
          <a:bodyPr spcFirstLastPara="1" wrap="square" lIns="91400" tIns="45700" rIns="9140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a:p>
        </p:txBody>
      </p:sp>
    </p:spTree>
    <p:extLst>
      <p:ext uri="{BB962C8B-B14F-4D97-AF65-F5344CB8AC3E}">
        <p14:creationId xmlns:p14="http://schemas.microsoft.com/office/powerpoint/2010/main" val="3149631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40000"/>
          </a:scheme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00" tIns="45700" rIns="91400"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6"/>
            <a:ext cx="8229600" cy="4525963"/>
          </a:xfrm>
          <a:prstGeom prst="rect">
            <a:avLst/>
          </a:prstGeom>
          <a:noFill/>
          <a:ln>
            <a:noFill/>
          </a:ln>
        </p:spPr>
        <p:txBody>
          <a:bodyPr spcFirstLastPara="1" wrap="square" lIns="91400" tIns="45700" rIns="91400"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78"/>
            <a:ext cx="2133600" cy="365125"/>
          </a:xfrm>
          <a:prstGeom prst="rect">
            <a:avLst/>
          </a:prstGeom>
          <a:noFill/>
          <a:ln>
            <a:noFill/>
          </a:ln>
        </p:spPr>
        <p:txBody>
          <a:bodyPr spcFirstLastPara="1" wrap="square" lIns="91400" tIns="45700" rIns="91400"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9" name="Google Shape;9;p1"/>
          <p:cNvSpPr txBox="1">
            <a:spLocks noGrp="1"/>
          </p:cNvSpPr>
          <p:nvPr>
            <p:ph type="ftr" idx="11"/>
          </p:nvPr>
        </p:nvSpPr>
        <p:spPr>
          <a:xfrm>
            <a:off x="3124200" y="6356378"/>
            <a:ext cx="2895600" cy="365125"/>
          </a:xfrm>
          <a:prstGeom prst="rect">
            <a:avLst/>
          </a:prstGeom>
          <a:noFill/>
          <a:ln>
            <a:noFill/>
          </a:ln>
        </p:spPr>
        <p:txBody>
          <a:bodyPr spcFirstLastPara="1" wrap="square" lIns="91400" tIns="45700" rIns="91400"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10" name="Google Shape;10;p1"/>
          <p:cNvSpPr txBox="1">
            <a:spLocks noGrp="1"/>
          </p:cNvSpPr>
          <p:nvPr>
            <p:ph type="sldNum" idx="12"/>
          </p:nvPr>
        </p:nvSpPr>
        <p:spPr>
          <a:xfrm>
            <a:off x="6553200" y="6356378"/>
            <a:ext cx="2133600" cy="365125"/>
          </a:xfrm>
          <a:prstGeom prst="rect">
            <a:avLst/>
          </a:prstGeom>
          <a:noFill/>
          <a:ln>
            <a:noFill/>
          </a:ln>
        </p:spPr>
        <p:txBody>
          <a:bodyPr spcFirstLastPara="1" wrap="square" lIns="91400" tIns="45700" rIns="91400"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3839692906"/>
      </p:ext>
    </p:extLst>
  </p:cSld>
  <p:clrMap bg1="lt1" tx1="dk1" bg2="dk2" tx2="lt2" accent1="accent1" accent2="accent2" accent3="accent3" accent4="accent4" accent5="accent5" accent6="accent6" hlink="hlink" folHlink="folHlink"/>
  <p:sldLayoutIdLst>
    <p:sldLayoutId id="2147483661" r:id="rId1"/>
    <p:sldLayoutId id="2147483666" r:id="rId2"/>
    <p:sldLayoutId id="2147483667" r:id="rId3"/>
    <p:sldLayoutId id="2147483668" r:id="rId4"/>
    <p:sldLayoutId id="2147483669" r:id="rId5"/>
    <p:sldLayoutId id="2147483689" r:id="rId6"/>
    <p:sldLayoutId id="2147483690" r:id="rId7"/>
    <p:sldLayoutId id="2147483691"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00" tIns="45700" rIns="91400"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6"/>
            <a:ext cx="8229600" cy="4525963"/>
          </a:xfrm>
          <a:prstGeom prst="rect">
            <a:avLst/>
          </a:prstGeom>
          <a:noFill/>
          <a:ln>
            <a:noFill/>
          </a:ln>
        </p:spPr>
        <p:txBody>
          <a:bodyPr spcFirstLastPara="1" wrap="square" lIns="91400" tIns="45700" rIns="91400"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76"/>
            <a:ext cx="2133600" cy="365125"/>
          </a:xfrm>
          <a:prstGeom prst="rect">
            <a:avLst/>
          </a:prstGeom>
          <a:noFill/>
          <a:ln>
            <a:noFill/>
          </a:ln>
        </p:spPr>
        <p:txBody>
          <a:bodyPr spcFirstLastPara="1" wrap="square" lIns="91400" tIns="45700" rIns="91400"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9" name="Google Shape;9;p1"/>
          <p:cNvSpPr txBox="1">
            <a:spLocks noGrp="1"/>
          </p:cNvSpPr>
          <p:nvPr>
            <p:ph type="ftr" idx="11"/>
          </p:nvPr>
        </p:nvSpPr>
        <p:spPr>
          <a:xfrm>
            <a:off x="3124200" y="6356376"/>
            <a:ext cx="2895600" cy="365125"/>
          </a:xfrm>
          <a:prstGeom prst="rect">
            <a:avLst/>
          </a:prstGeom>
          <a:noFill/>
          <a:ln>
            <a:noFill/>
          </a:ln>
        </p:spPr>
        <p:txBody>
          <a:bodyPr spcFirstLastPara="1" wrap="square" lIns="91400" tIns="45700" rIns="91400"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a:buClr>
                <a:srgbClr val="000000"/>
              </a:buClr>
              <a:buFont typeface="Arial"/>
              <a:buNone/>
            </a:pPr>
            <a:endParaRPr kern="0"/>
          </a:p>
        </p:txBody>
      </p:sp>
      <p:sp>
        <p:nvSpPr>
          <p:cNvPr id="10" name="Google Shape;10;p1"/>
          <p:cNvSpPr txBox="1">
            <a:spLocks noGrp="1"/>
          </p:cNvSpPr>
          <p:nvPr>
            <p:ph type="sldNum" idx="12"/>
          </p:nvPr>
        </p:nvSpPr>
        <p:spPr>
          <a:xfrm>
            <a:off x="6553200" y="6356376"/>
            <a:ext cx="2133600" cy="365125"/>
          </a:xfrm>
          <a:prstGeom prst="rect">
            <a:avLst/>
          </a:prstGeom>
          <a:noFill/>
          <a:ln>
            <a:noFill/>
          </a:ln>
        </p:spPr>
        <p:txBody>
          <a:bodyPr spcFirstLastPara="1" wrap="square" lIns="91400" tIns="45700" rIns="91400"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200817606"/>
      </p:ext>
    </p:extLst>
  </p:cSld>
  <p:clrMap bg1="lt1" tx1="dk1" bg2="dk2" tx2="lt2" accent1="accent1" accent2="accent2" accent3="accent3" accent4="accent4" accent5="accent5" accent6="accent6" hlink="hlink" folHlink="folHlink"/>
  <p:sldLayoutIdLst>
    <p:sldLayoutId id="2147483681" r:id="rId1"/>
    <p:sldLayoutId id="2147483684" r:id="rId2"/>
    <p:sldLayoutId id="2147483685" r:id="rId3"/>
    <p:sldLayoutId id="2147483686" r:id="rId4"/>
    <p:sldLayoutId id="2147483687" r:id="rId5"/>
    <p:sldLayoutId id="2147483688"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5" descr="https://ec.europa.eu/info/sites/info/themes/europa/images/svg/logo/logo--en.svg"/>
          <p:cNvSpPr/>
          <p:nvPr/>
        </p:nvSpPr>
        <p:spPr>
          <a:xfrm>
            <a:off x="155575" y="-144462"/>
            <a:ext cx="304800" cy="304800"/>
          </a:xfrm>
          <a:prstGeom prst="rect">
            <a:avLst/>
          </a:prstGeom>
          <a:noFill/>
          <a:ln>
            <a:noFill/>
          </a:ln>
        </p:spPr>
        <p:txBody>
          <a:bodyPr spcFirstLastPara="1" wrap="square" lIns="91400" tIns="45700" rIns="91400" bIns="45700" anchor="t" anchorCtr="0">
            <a:noAutofit/>
          </a:bodyPr>
          <a:lstStyle/>
          <a:p>
            <a:pPr>
              <a:buClr>
                <a:srgbClr val="000000"/>
              </a:buClr>
              <a:buFont typeface="Arial"/>
              <a:buNone/>
            </a:pPr>
            <a:endParaRPr kern="0">
              <a:solidFill>
                <a:srgbClr val="000000"/>
              </a:solidFill>
              <a:latin typeface="Calibri"/>
              <a:ea typeface="Calibri"/>
              <a:cs typeface="Calibri"/>
              <a:sym typeface="Calibri"/>
            </a:endParaRPr>
          </a:p>
        </p:txBody>
      </p:sp>
      <p:sp>
        <p:nvSpPr>
          <p:cNvPr id="7" name="Rectangle 6"/>
          <p:cNvSpPr/>
          <p:nvPr/>
        </p:nvSpPr>
        <p:spPr>
          <a:xfrm>
            <a:off x="1345383" y="718334"/>
            <a:ext cx="6731817" cy="3585597"/>
          </a:xfrm>
          <a:prstGeom prst="rect">
            <a:avLst/>
          </a:prstGeom>
        </p:spPr>
        <p:txBody>
          <a:bodyPr wrap="square">
            <a:spAutoFit/>
          </a:bodyPr>
          <a:lstStyle/>
          <a:p>
            <a:pPr algn="ctr">
              <a:buClr>
                <a:srgbClr val="000000"/>
              </a:buClr>
              <a:buFont typeface="Arial"/>
              <a:buNone/>
            </a:pPr>
            <a:r>
              <a:rPr lang="en-US" sz="2400" b="1" kern="0" dirty="0">
                <a:solidFill>
                  <a:schemeClr val="accent1">
                    <a:lumMod val="75000"/>
                  </a:schemeClr>
                </a:solidFill>
                <a:latin typeface="Calibri" pitchFamily="34" charset="0"/>
                <a:ea typeface="Calibri" pitchFamily="34" charset="0"/>
                <a:cs typeface="Calibri" pitchFamily="34" charset="0"/>
                <a:sym typeface="Symbol"/>
              </a:rPr>
              <a:t>Establishment of the Regional Database </a:t>
            </a:r>
          </a:p>
          <a:p>
            <a:pPr algn="ctr">
              <a:buClr>
                <a:srgbClr val="000000"/>
              </a:buClr>
              <a:buFont typeface="Arial"/>
              <a:buNone/>
            </a:pPr>
            <a:r>
              <a:rPr lang="en-US" sz="2400" b="1" kern="0" dirty="0">
                <a:solidFill>
                  <a:schemeClr val="accent1">
                    <a:lumMod val="75000"/>
                  </a:schemeClr>
                </a:solidFill>
                <a:latin typeface="Calibri" pitchFamily="34" charset="0"/>
                <a:ea typeface="Calibri" pitchFamily="34" charset="0"/>
                <a:cs typeface="Calibri" pitchFamily="34" charset="0"/>
                <a:sym typeface="Symbol"/>
              </a:rPr>
              <a:t>for the Mediterranean and Black Seas</a:t>
            </a:r>
          </a:p>
          <a:p>
            <a:pPr algn="ctr">
              <a:buClr>
                <a:srgbClr val="000000"/>
              </a:buClr>
            </a:pPr>
            <a:r>
              <a:rPr lang="en-US" sz="2400" b="1" kern="0" dirty="0">
                <a:solidFill>
                  <a:schemeClr val="accent1">
                    <a:lumMod val="75000"/>
                  </a:schemeClr>
                </a:solidFill>
                <a:latin typeface="Calibri" pitchFamily="34" charset="0"/>
                <a:ea typeface="Calibri" pitchFamily="34" charset="0"/>
                <a:cs typeface="Calibri" pitchFamily="34" charset="0"/>
                <a:sym typeface="Calibri"/>
              </a:rPr>
              <a:t>(RDBFIS-III)</a:t>
            </a:r>
          </a:p>
          <a:p>
            <a:pPr algn="ctr">
              <a:buClr>
                <a:srgbClr val="000000"/>
              </a:buClr>
              <a:buFont typeface="Arial"/>
              <a:buNone/>
            </a:pPr>
            <a:endParaRPr lang="en-US" sz="1000" b="1" kern="0" dirty="0">
              <a:solidFill>
                <a:schemeClr val="accent1">
                  <a:lumMod val="75000"/>
                </a:schemeClr>
              </a:solidFill>
              <a:latin typeface="Calibri" pitchFamily="34" charset="0"/>
              <a:ea typeface="Calibri" pitchFamily="34" charset="0"/>
              <a:cs typeface="Calibri" pitchFamily="34" charset="0"/>
              <a:sym typeface="Symbol"/>
            </a:endParaRPr>
          </a:p>
          <a:p>
            <a:pPr marL="177800" indent="-177800" algn="ctr">
              <a:buClr>
                <a:srgbClr val="000000"/>
              </a:buClr>
              <a:buFont typeface="Arial"/>
              <a:buNone/>
            </a:pPr>
            <a:r>
              <a:rPr lang="en-US" kern="0" dirty="0">
                <a:solidFill>
                  <a:schemeClr val="accent1">
                    <a:lumMod val="75000"/>
                  </a:schemeClr>
                </a:solidFill>
                <a:latin typeface="Calibri" pitchFamily="34" charset="0"/>
                <a:ea typeface="Calibri" pitchFamily="34" charset="0"/>
                <a:cs typeface="Calibri" pitchFamily="34" charset="0"/>
                <a:sym typeface="Symbol"/>
              </a:rPr>
              <a:t>Under framework contract – EASME/EMFF/2020/OP/0021</a:t>
            </a:r>
          </a:p>
          <a:p>
            <a:pPr algn="ctr">
              <a:buClr>
                <a:srgbClr val="000000"/>
              </a:buClr>
              <a:buFont typeface="Arial"/>
              <a:buNone/>
            </a:pPr>
            <a:r>
              <a:rPr lang="en-US" kern="0" dirty="0">
                <a:solidFill>
                  <a:schemeClr val="accent1">
                    <a:lumMod val="75000"/>
                  </a:schemeClr>
                </a:solidFill>
                <a:latin typeface="Calibri" pitchFamily="34" charset="0"/>
                <a:ea typeface="Calibri" pitchFamily="34" charset="0"/>
                <a:cs typeface="Calibri" pitchFamily="34" charset="0"/>
                <a:sym typeface="Arial"/>
              </a:rPr>
              <a:t>Specific Contract CINEA/EMFAF/2024/3.1/01/SC08</a:t>
            </a:r>
          </a:p>
          <a:p>
            <a:pPr algn="ctr">
              <a:buClr>
                <a:srgbClr val="000000"/>
              </a:buClr>
              <a:buFont typeface="Arial"/>
              <a:buNone/>
            </a:pPr>
            <a:endParaRPr lang="en-US" sz="1600" b="1" kern="0" dirty="0">
              <a:solidFill>
                <a:schemeClr val="accent1">
                  <a:lumMod val="75000"/>
                </a:schemeClr>
              </a:solidFill>
              <a:latin typeface="Calibri" pitchFamily="34" charset="0"/>
              <a:ea typeface="Calibri" pitchFamily="34" charset="0"/>
              <a:cs typeface="Calibri" pitchFamily="34" charset="0"/>
              <a:sym typeface="Calibri"/>
            </a:endParaRPr>
          </a:p>
          <a:p>
            <a:pPr algn="ctr">
              <a:buClr>
                <a:srgbClr val="000000"/>
              </a:buClr>
              <a:buFont typeface="Arial"/>
              <a:buNone/>
            </a:pPr>
            <a:endParaRPr lang="en-US" sz="1400" b="1" kern="0" dirty="0">
              <a:solidFill>
                <a:schemeClr val="accent1">
                  <a:lumMod val="75000"/>
                </a:schemeClr>
              </a:solidFill>
              <a:latin typeface="Calibri" pitchFamily="34" charset="0"/>
              <a:ea typeface="Calibri" pitchFamily="34" charset="0"/>
              <a:cs typeface="Calibri" pitchFamily="34" charset="0"/>
              <a:sym typeface="Calibri"/>
            </a:endParaRPr>
          </a:p>
          <a:p>
            <a:pPr algn="ctr">
              <a:buClr>
                <a:srgbClr val="000000"/>
              </a:buClr>
              <a:buFont typeface="Arial"/>
              <a:buNone/>
            </a:pPr>
            <a:r>
              <a:rPr lang="en-US" sz="2400" b="1" kern="0" dirty="0">
                <a:solidFill>
                  <a:schemeClr val="accent1">
                    <a:lumMod val="75000"/>
                  </a:schemeClr>
                </a:solidFill>
                <a:latin typeface="Calibri" pitchFamily="34" charset="0"/>
                <a:ea typeface="Calibri" pitchFamily="34" charset="0"/>
                <a:cs typeface="Calibri" pitchFamily="34" charset="0"/>
                <a:sym typeface="Calibri"/>
              </a:rPr>
              <a:t>RCG Med&amp;BS | Steering Committee for the Med&amp;BS Regional Database</a:t>
            </a:r>
          </a:p>
          <a:p>
            <a:pPr algn="ctr">
              <a:buClr>
                <a:srgbClr val="000000"/>
              </a:buClr>
              <a:buFont typeface="Arial"/>
              <a:buNone/>
            </a:pPr>
            <a:r>
              <a:rPr lang="en-US" sz="2400" b="1" kern="0" dirty="0">
                <a:solidFill>
                  <a:schemeClr val="accent1">
                    <a:lumMod val="75000"/>
                  </a:schemeClr>
                </a:solidFill>
                <a:latin typeface="Calibri" pitchFamily="34" charset="0"/>
                <a:ea typeface="Calibri" pitchFamily="34" charset="0"/>
                <a:cs typeface="Calibri" pitchFamily="34" charset="0"/>
                <a:sym typeface="Calibri"/>
              </a:rPr>
              <a:t>16 April 2026</a:t>
            </a:r>
          </a:p>
          <a:p>
            <a:pPr algn="ctr">
              <a:buClr>
                <a:srgbClr val="000000"/>
              </a:buClr>
              <a:buFont typeface="Arial"/>
              <a:buNone/>
            </a:pPr>
            <a:endParaRPr lang="en-US" sz="700" i="1" kern="0" dirty="0">
              <a:solidFill>
                <a:srgbClr val="002060"/>
              </a:solidFill>
              <a:latin typeface="Calibri" pitchFamily="34" charset="0"/>
              <a:ea typeface="Calibri" pitchFamily="34" charset="0"/>
              <a:cs typeface="Calibri" pitchFamily="34" charset="0"/>
              <a:sym typeface="Arial"/>
            </a:endParaRPr>
          </a:p>
        </p:txBody>
      </p:sp>
      <p:sp>
        <p:nvSpPr>
          <p:cNvPr id="10" name="Rectangle 9"/>
          <p:cNvSpPr/>
          <p:nvPr/>
        </p:nvSpPr>
        <p:spPr>
          <a:xfrm>
            <a:off x="0" y="-24"/>
            <a:ext cx="9144000" cy="400110"/>
          </a:xfrm>
          <a:prstGeom prst="rect">
            <a:avLst/>
          </a:prstGeom>
          <a:solidFill>
            <a:schemeClr val="bg2">
              <a:lumMod val="75000"/>
            </a:schemeClr>
          </a:solidFill>
          <a:ln w="6350">
            <a:noFill/>
          </a:ln>
        </p:spPr>
        <p:txBody>
          <a:bodyPr wrap="square">
            <a:spAutoFit/>
          </a:bodyPr>
          <a:lstStyle/>
          <a:p>
            <a:pPr algn="ctr">
              <a:buClr>
                <a:srgbClr val="000000"/>
              </a:buClr>
              <a:buFont typeface="Arial"/>
              <a:buNone/>
            </a:pPr>
            <a:endParaRPr lang="en-GB" sz="2000" b="1" kern="0" dirty="0">
              <a:solidFill>
                <a:srgbClr val="FFFFFF"/>
              </a:solidFill>
              <a:latin typeface="Calibri Light" pitchFamily="34" charset="0"/>
              <a:cs typeface="Calibri Light" pitchFamily="34" charset="0"/>
              <a:sym typeface="Arial"/>
            </a:endParaRPr>
          </a:p>
        </p:txBody>
      </p:sp>
      <p:pic>
        <p:nvPicPr>
          <p:cNvPr id="11" name="Picture 10"/>
          <p:cNvPicPr/>
          <p:nvPr/>
        </p:nvPicPr>
        <p:blipFill>
          <a:blip r:embed="rId3"/>
          <a:stretch>
            <a:fillRect/>
          </a:stretch>
        </p:blipFill>
        <p:spPr>
          <a:xfrm>
            <a:off x="1676400" y="4343400"/>
            <a:ext cx="6096000" cy="1752600"/>
          </a:xfrm>
          <a:prstGeom prst="rect">
            <a:avLst/>
          </a:prstGeom>
        </p:spPr>
      </p:pic>
    </p:spTree>
    <p:extLst>
      <p:ext uri="{BB962C8B-B14F-4D97-AF65-F5344CB8AC3E}">
        <p14:creationId xmlns:p14="http://schemas.microsoft.com/office/powerpoint/2010/main" val="1903942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091" y="764704"/>
            <a:ext cx="9052413" cy="56886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91"/>
            <a:endParaRPr lang="el-GR" sz="1050">
              <a:solidFill>
                <a:prstClr val="white"/>
              </a:solidFill>
            </a:endParaRPr>
          </a:p>
        </p:txBody>
      </p:sp>
      <p:sp>
        <p:nvSpPr>
          <p:cNvPr id="14" name="TextBox 13">
            <a:extLst>
              <a:ext uri="{FF2B5EF4-FFF2-40B4-BE49-F238E27FC236}">
                <a16:creationId xmlns:a16="http://schemas.microsoft.com/office/drawing/2014/main" id="{462907E3-396C-4F6C-96CA-22E75B0BC433}"/>
              </a:ext>
            </a:extLst>
          </p:cNvPr>
          <p:cNvSpPr txBox="1"/>
          <p:nvPr/>
        </p:nvSpPr>
        <p:spPr>
          <a:xfrm>
            <a:off x="899592" y="980728"/>
            <a:ext cx="1656183" cy="830997"/>
          </a:xfrm>
          <a:prstGeom prst="rect">
            <a:avLst/>
          </a:prstGeom>
          <a:solidFill>
            <a:srgbClr val="FFFFFF">
              <a:lumMod val="95000"/>
            </a:srgbClr>
          </a:solidFill>
        </p:spPr>
        <p:txBody>
          <a:bodyPr wrap="square">
            <a:spAutoFit/>
          </a:bodyPr>
          <a:lstStyle/>
          <a:p>
            <a:pPr>
              <a:defRPr/>
            </a:pPr>
            <a:r>
              <a:rPr lang="en-US" sz="1200" b="1"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Phase I</a:t>
            </a: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 </a:t>
            </a:r>
          </a:p>
          <a:p>
            <a:pPr>
              <a:defRPr/>
            </a:pP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Start: 01/01/2021 </a:t>
            </a:r>
          </a:p>
          <a:p>
            <a:pPr>
              <a:defRPr/>
            </a:pP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End: 28/02/2023</a:t>
            </a:r>
          </a:p>
          <a:p>
            <a:pPr>
              <a:defRPr/>
            </a:pP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Coordinator: S. Kavadas</a:t>
            </a:r>
          </a:p>
        </p:txBody>
      </p:sp>
      <p:grpSp>
        <p:nvGrpSpPr>
          <p:cNvPr id="15" name="Group 14">
            <a:extLst>
              <a:ext uri="{FF2B5EF4-FFF2-40B4-BE49-F238E27FC236}">
                <a16:creationId xmlns:a16="http://schemas.microsoft.com/office/drawing/2014/main" id="{1C5274AA-D6ED-47D1-838F-8F1C6081ECAB}"/>
              </a:ext>
            </a:extLst>
          </p:cNvPr>
          <p:cNvGrpSpPr/>
          <p:nvPr/>
        </p:nvGrpSpPr>
        <p:grpSpPr>
          <a:xfrm>
            <a:off x="2411760" y="607032"/>
            <a:ext cx="5732900" cy="1398108"/>
            <a:chOff x="1612021" y="74804"/>
            <a:chExt cx="7643866" cy="1863657"/>
          </a:xfrm>
        </p:grpSpPr>
        <p:sp>
          <p:nvSpPr>
            <p:cNvPr id="16" name="Google Shape;142;p15">
              <a:extLst>
                <a:ext uri="{FF2B5EF4-FFF2-40B4-BE49-F238E27FC236}">
                  <a16:creationId xmlns:a16="http://schemas.microsoft.com/office/drawing/2014/main" id="{CA0B7D13-CF2B-415D-8E3F-A7177223F8EF}"/>
                </a:ext>
              </a:extLst>
            </p:cNvPr>
            <p:cNvSpPr/>
            <p:nvPr/>
          </p:nvSpPr>
          <p:spPr>
            <a:xfrm>
              <a:off x="1612021" y="74804"/>
              <a:ext cx="7643866" cy="1222304"/>
            </a:xfrm>
            <a:prstGeom prst="rect">
              <a:avLst/>
            </a:prstGeom>
            <a:noFill/>
            <a:ln>
              <a:noFill/>
            </a:ln>
          </p:spPr>
          <p:txBody>
            <a:bodyPr spcFirstLastPara="1" wrap="square" lIns="68587" tIns="34284" rIns="68587" bIns="34284" anchor="t" anchorCtr="0">
              <a:noAutofit/>
            </a:bodyPr>
            <a:lstStyle/>
            <a:p>
              <a:pPr algn="ctr">
                <a:lnSpc>
                  <a:spcPct val="105000"/>
                </a:lnSpc>
                <a:defRPr/>
              </a:pPr>
              <a:r>
                <a:rPr lang="en-US" b="1" cap="small" dirty="0">
                  <a:solidFill>
                    <a:srgbClr val="1F497D">
                      <a:lumMod val="75000"/>
                    </a:srgbClr>
                  </a:solidFill>
                  <a:latin typeface="Calibri Light" pitchFamily="34" charset="0"/>
                  <a:ea typeface="Calibri"/>
                  <a:cs typeface="Calibri Light" pitchFamily="34" charset="0"/>
                  <a:sym typeface="Calibri"/>
                </a:rPr>
                <a:t>MARE/2020/08 - SI2.839444</a:t>
              </a:r>
            </a:p>
            <a:p>
              <a:pPr algn="ctr">
                <a:lnSpc>
                  <a:spcPct val="105000"/>
                </a:lnSpc>
                <a:defRPr/>
              </a:pPr>
              <a:r>
                <a:rPr lang="en-US" b="1" cap="small" dirty="0">
                  <a:solidFill>
                    <a:srgbClr val="1F497D">
                      <a:lumMod val="75000"/>
                    </a:srgbClr>
                  </a:solidFill>
                  <a:latin typeface="Calibri Light" pitchFamily="34" charset="0"/>
                  <a:ea typeface="Calibri"/>
                  <a:cs typeface="Calibri Light" pitchFamily="34" charset="0"/>
                  <a:sym typeface="Calibri"/>
                </a:rPr>
                <a:t>Development of the Regional Database for the </a:t>
              </a:r>
            </a:p>
            <a:p>
              <a:pPr algn="ctr">
                <a:lnSpc>
                  <a:spcPct val="105000"/>
                </a:lnSpc>
                <a:defRPr/>
              </a:pPr>
              <a:r>
                <a:rPr lang="en-US" b="1" cap="small" dirty="0">
                  <a:solidFill>
                    <a:srgbClr val="1F497D">
                      <a:lumMod val="75000"/>
                    </a:srgbClr>
                  </a:solidFill>
                  <a:latin typeface="Calibri Light" pitchFamily="34" charset="0"/>
                  <a:ea typeface="Calibri"/>
                  <a:cs typeface="Calibri Light" pitchFamily="34" charset="0"/>
                  <a:sym typeface="Calibri"/>
                </a:rPr>
                <a:t>Mediterranean &amp; Black Seas (</a:t>
              </a:r>
              <a:r>
                <a:rPr lang="en-US" b="1" dirty="0">
                  <a:solidFill>
                    <a:srgbClr val="1F497D">
                      <a:lumMod val="75000"/>
                    </a:srgbClr>
                  </a:solidFill>
                  <a:latin typeface="Calibri Light" pitchFamily="34" charset="0"/>
                  <a:ea typeface="Calibri"/>
                  <a:cs typeface="Calibri Light" pitchFamily="34" charset="0"/>
                  <a:sym typeface="Calibri"/>
                </a:rPr>
                <a:t>Med&amp;BS RDBFIS</a:t>
              </a:r>
              <a:r>
                <a:rPr lang="en-US" b="1" cap="small" dirty="0">
                  <a:solidFill>
                    <a:srgbClr val="1F497D">
                      <a:lumMod val="75000"/>
                    </a:srgbClr>
                  </a:solidFill>
                  <a:latin typeface="Calibri Light" pitchFamily="34" charset="0"/>
                  <a:ea typeface="Calibri"/>
                  <a:cs typeface="Calibri Light" pitchFamily="34" charset="0"/>
                  <a:sym typeface="Calibri"/>
                </a:rPr>
                <a:t>)</a:t>
              </a:r>
            </a:p>
            <a:p>
              <a:pPr algn="ctr">
                <a:lnSpc>
                  <a:spcPct val="105000"/>
                </a:lnSpc>
                <a:defRPr/>
              </a:pPr>
              <a:r>
                <a:rPr lang="en-US" sz="1200" i="1" dirty="0">
                  <a:solidFill>
                    <a:srgbClr val="1F497D">
                      <a:lumMod val="75000"/>
                    </a:srgbClr>
                  </a:solidFill>
                  <a:latin typeface="Calibri Light" pitchFamily="34" charset="0"/>
                  <a:ea typeface="Calibri"/>
                  <a:cs typeface="Calibri Light" pitchFamily="34" charset="0"/>
                  <a:sym typeface="Calibri"/>
                </a:rPr>
                <a:t>This project has financed under the European Maritime and Fisheries Fund (EMFF)</a:t>
              </a:r>
            </a:p>
          </p:txBody>
        </p:sp>
        <p:pic>
          <p:nvPicPr>
            <p:cNvPr id="17" name="Picture 16">
              <a:extLst>
                <a:ext uri="{FF2B5EF4-FFF2-40B4-BE49-F238E27FC236}">
                  <a16:creationId xmlns:a16="http://schemas.microsoft.com/office/drawing/2014/main" id="{D3424B67-4EF0-4972-9EA0-73FBFFCF089F}"/>
                </a:ext>
              </a:extLst>
            </p:cNvPr>
            <p:cNvPicPr>
              <a:picLocks noChangeAspect="1"/>
            </p:cNvPicPr>
            <p:nvPr/>
          </p:nvPicPr>
          <p:blipFill rotWithShape="1">
            <a:blip r:embed="rId2"/>
            <a:srcRect l="14788" t="-6463" b="-1"/>
            <a:stretch/>
          </p:blipFill>
          <p:spPr>
            <a:xfrm>
              <a:off x="3015000" y="1532791"/>
              <a:ext cx="4837908" cy="405670"/>
            </a:xfrm>
            <a:prstGeom prst="rect">
              <a:avLst/>
            </a:prstGeom>
          </p:spPr>
        </p:pic>
      </p:grpSp>
      <p:sp>
        <p:nvSpPr>
          <p:cNvPr id="18" name="Google Shape;142;p15">
            <a:extLst>
              <a:ext uri="{FF2B5EF4-FFF2-40B4-BE49-F238E27FC236}">
                <a16:creationId xmlns:a16="http://schemas.microsoft.com/office/drawing/2014/main" id="{EFC8739C-6FB0-4931-8120-63B24B621A7D}"/>
              </a:ext>
            </a:extLst>
          </p:cNvPr>
          <p:cNvSpPr/>
          <p:nvPr/>
        </p:nvSpPr>
        <p:spPr>
          <a:xfrm>
            <a:off x="2874900" y="2332823"/>
            <a:ext cx="4806534" cy="756281"/>
          </a:xfrm>
          <a:prstGeom prst="rect">
            <a:avLst/>
          </a:prstGeom>
          <a:noFill/>
          <a:ln>
            <a:noFill/>
          </a:ln>
        </p:spPr>
        <p:txBody>
          <a:bodyPr spcFirstLastPara="1" wrap="square" lIns="68587" tIns="34284" rIns="68587" bIns="34284" anchor="t" anchorCtr="0">
            <a:noAutofit/>
          </a:bodyPr>
          <a:lstStyle/>
          <a:p>
            <a:pPr algn="ctr">
              <a:lnSpc>
                <a:spcPct val="105000"/>
              </a:lnSpc>
              <a:defRPr/>
            </a:pPr>
            <a:r>
              <a:rPr lang="en-US" b="1" cap="small" dirty="0">
                <a:solidFill>
                  <a:srgbClr val="1F497D">
                    <a:lumMod val="75000"/>
                  </a:srgbClr>
                </a:solidFill>
                <a:latin typeface="Calibri Light" pitchFamily="34" charset="0"/>
                <a:ea typeface="Calibri"/>
                <a:cs typeface="Calibri Light" pitchFamily="34" charset="0"/>
                <a:sym typeface="Symbol"/>
              </a:rPr>
              <a:t>CINEA/EMFAF/2021/3.1.2/03/SC04/SI2.881222</a:t>
            </a:r>
          </a:p>
          <a:p>
            <a:pPr algn="ctr">
              <a:defRPr/>
            </a:pPr>
            <a:r>
              <a:rPr lang="en-US" b="1" cap="small" dirty="0">
                <a:solidFill>
                  <a:srgbClr val="1F497D">
                    <a:lumMod val="75000"/>
                  </a:srgbClr>
                </a:solidFill>
                <a:latin typeface="Calibri Light" pitchFamily="34" charset="0"/>
                <a:ea typeface="Calibri"/>
                <a:cs typeface="Calibri Light" pitchFamily="34" charset="0"/>
                <a:sym typeface="Symbol"/>
              </a:rPr>
              <a:t>Hosting, maintenance and further development of the Regional Database for the Mediterranean and Black Seas</a:t>
            </a:r>
            <a:endParaRPr lang="en-US" b="1" dirty="0">
              <a:solidFill>
                <a:srgbClr val="002060"/>
              </a:solidFill>
              <a:latin typeface="Calibri Light" pitchFamily="34" charset="0"/>
              <a:ea typeface="Calibri Light" pitchFamily="34" charset="0"/>
              <a:cs typeface="Calibri Light" pitchFamily="34" charset="0"/>
              <a:sym typeface="Calibri"/>
            </a:endParaRPr>
          </a:p>
          <a:p>
            <a:pPr algn="ctr">
              <a:lnSpc>
                <a:spcPct val="105000"/>
              </a:lnSpc>
              <a:defRPr/>
            </a:pPr>
            <a:endParaRPr lang="en-US" sz="1050" i="1" dirty="0">
              <a:solidFill>
                <a:srgbClr val="1F497D">
                  <a:lumMod val="50000"/>
                </a:srgbClr>
              </a:solidFill>
              <a:latin typeface="Calibri Light" pitchFamily="34" charset="0"/>
              <a:ea typeface="Calibri"/>
              <a:cs typeface="Calibri Light" pitchFamily="34" charset="0"/>
              <a:sym typeface="Calibri"/>
            </a:endParaRPr>
          </a:p>
          <a:p>
            <a:pPr algn="ctr">
              <a:lnSpc>
                <a:spcPct val="105000"/>
              </a:lnSpc>
              <a:defRPr/>
            </a:pPr>
            <a:endParaRPr lang="en-US" sz="1800" b="1" cap="small" dirty="0">
              <a:solidFill>
                <a:srgbClr val="1F497D">
                  <a:lumMod val="50000"/>
                </a:srgbClr>
              </a:solidFill>
              <a:latin typeface="Calibri"/>
              <a:ea typeface="Calibri"/>
              <a:cs typeface="Calibri"/>
              <a:sym typeface="Calibri"/>
            </a:endParaRPr>
          </a:p>
        </p:txBody>
      </p:sp>
      <p:sp>
        <p:nvSpPr>
          <p:cNvPr id="19" name="TextBox 18">
            <a:extLst>
              <a:ext uri="{FF2B5EF4-FFF2-40B4-BE49-F238E27FC236}">
                <a16:creationId xmlns:a16="http://schemas.microsoft.com/office/drawing/2014/main" id="{61B1D47F-CCB7-4494-8E16-27BAC42390B0}"/>
              </a:ext>
            </a:extLst>
          </p:cNvPr>
          <p:cNvSpPr txBox="1"/>
          <p:nvPr/>
        </p:nvSpPr>
        <p:spPr>
          <a:xfrm>
            <a:off x="899592" y="2742019"/>
            <a:ext cx="1656183" cy="830997"/>
          </a:xfrm>
          <a:prstGeom prst="rect">
            <a:avLst/>
          </a:prstGeom>
          <a:solidFill>
            <a:srgbClr val="FFFFFF">
              <a:lumMod val="95000"/>
            </a:srgbClr>
          </a:solidFill>
        </p:spPr>
        <p:txBody>
          <a:bodyPr wrap="square">
            <a:spAutoFit/>
          </a:bodyPr>
          <a:lstStyle/>
          <a:p>
            <a:pPr>
              <a:defRPr/>
            </a:pPr>
            <a:r>
              <a:rPr lang="en-US" sz="1200" b="1"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Phase II</a:t>
            </a: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 </a:t>
            </a:r>
          </a:p>
          <a:p>
            <a:pPr>
              <a:defRPr/>
            </a:pP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Start: 01/04/2023 </a:t>
            </a:r>
          </a:p>
          <a:p>
            <a:pPr>
              <a:defRPr/>
            </a:pP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End: 31/03/2025</a:t>
            </a:r>
          </a:p>
          <a:p>
            <a:pPr>
              <a:defRPr/>
            </a:pP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Coordinator: S. Kavadas</a:t>
            </a:r>
          </a:p>
        </p:txBody>
      </p:sp>
      <p:pic>
        <p:nvPicPr>
          <p:cNvPr id="20" name="Picture 19">
            <a:extLst>
              <a:ext uri="{FF2B5EF4-FFF2-40B4-BE49-F238E27FC236}">
                <a16:creationId xmlns:a16="http://schemas.microsoft.com/office/drawing/2014/main" id="{63560BC2-A1E9-415D-86F8-63C2051474D0}"/>
              </a:ext>
            </a:extLst>
          </p:cNvPr>
          <p:cNvPicPr>
            <a:picLocks noChangeAspect="1"/>
          </p:cNvPicPr>
          <p:nvPr/>
        </p:nvPicPr>
        <p:blipFill>
          <a:blip r:embed="rId3"/>
          <a:stretch>
            <a:fillRect/>
          </a:stretch>
        </p:blipFill>
        <p:spPr>
          <a:xfrm>
            <a:off x="3800742" y="3265587"/>
            <a:ext cx="2954938" cy="925413"/>
          </a:xfrm>
          <a:prstGeom prst="rect">
            <a:avLst/>
          </a:prstGeom>
        </p:spPr>
      </p:pic>
      <p:sp>
        <p:nvSpPr>
          <p:cNvPr id="21" name="TextBox 20">
            <a:extLst>
              <a:ext uri="{FF2B5EF4-FFF2-40B4-BE49-F238E27FC236}">
                <a16:creationId xmlns:a16="http://schemas.microsoft.com/office/drawing/2014/main" id="{61B1D47F-CCB7-4494-8E16-27BAC42390B0}"/>
              </a:ext>
            </a:extLst>
          </p:cNvPr>
          <p:cNvSpPr txBox="1"/>
          <p:nvPr/>
        </p:nvSpPr>
        <p:spPr>
          <a:xfrm>
            <a:off x="899592" y="4974267"/>
            <a:ext cx="1656183" cy="1015663"/>
          </a:xfrm>
          <a:prstGeom prst="rect">
            <a:avLst/>
          </a:prstGeom>
          <a:solidFill>
            <a:srgbClr val="FFFFFF">
              <a:lumMod val="95000"/>
            </a:srgbClr>
          </a:solidFill>
        </p:spPr>
        <p:txBody>
          <a:bodyPr wrap="square">
            <a:spAutoFit/>
          </a:bodyPr>
          <a:lstStyle/>
          <a:p>
            <a:pPr>
              <a:defRPr/>
            </a:pPr>
            <a:r>
              <a:rPr lang="en-US" sz="1200" b="1"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Phase III</a:t>
            </a: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 </a:t>
            </a:r>
          </a:p>
          <a:p>
            <a:pPr>
              <a:defRPr/>
            </a:pP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Start: 01/04/2025 </a:t>
            </a:r>
          </a:p>
          <a:p>
            <a:pPr>
              <a:defRPr/>
            </a:pP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End: 21/05/2026</a:t>
            </a:r>
          </a:p>
          <a:p>
            <a:pPr>
              <a:defRPr/>
            </a:pPr>
            <a:r>
              <a:rPr lang="en-US" sz="1200" i="1" dirty="0">
                <a:solidFill>
                  <a:srgbClr val="1F497D">
                    <a:lumMod val="75000"/>
                  </a:srgbClr>
                </a:solidFill>
                <a:latin typeface="Calibri" panose="020F0502020204030204" pitchFamily="34" charset="0"/>
                <a:ea typeface="Calibri" panose="020F0502020204030204" pitchFamily="34" charset="0"/>
                <a:cs typeface="Calibri" panose="020F0502020204030204" pitchFamily="34" charset="0"/>
              </a:rPr>
              <a:t>Coordinators: I. Maina &amp; S. Kavadas</a:t>
            </a:r>
          </a:p>
        </p:txBody>
      </p:sp>
      <p:sp>
        <p:nvSpPr>
          <p:cNvPr id="3" name="TextBox 2"/>
          <p:cNvSpPr txBox="1"/>
          <p:nvPr/>
        </p:nvSpPr>
        <p:spPr>
          <a:xfrm>
            <a:off x="3045534" y="4519162"/>
            <a:ext cx="4461734" cy="954107"/>
          </a:xfrm>
          <a:prstGeom prst="rect">
            <a:avLst/>
          </a:prstGeom>
          <a:noFill/>
        </p:spPr>
        <p:txBody>
          <a:bodyPr wrap="square" rtlCol="0">
            <a:spAutoFit/>
          </a:bodyPr>
          <a:lstStyle/>
          <a:p>
            <a:pPr algn="ctr" defTabSz="342991"/>
            <a:r>
              <a:rPr lang="en-US" b="1" cap="small" dirty="0">
                <a:solidFill>
                  <a:srgbClr val="1F497D">
                    <a:lumMod val="75000"/>
                  </a:srgbClr>
                </a:solidFill>
                <a:latin typeface="Calibri Light" pitchFamily="34" charset="0"/>
                <a:ea typeface="Calibri"/>
                <a:cs typeface="Calibri Light" pitchFamily="34" charset="0"/>
              </a:rPr>
              <a:t>CINEA/EMFAF/2024/3.1/01/SC08</a:t>
            </a:r>
          </a:p>
          <a:p>
            <a:pPr algn="ctr" defTabSz="342991"/>
            <a:r>
              <a:rPr lang="en-US" b="1" cap="small" dirty="0">
                <a:solidFill>
                  <a:srgbClr val="1F497D">
                    <a:lumMod val="75000"/>
                  </a:srgbClr>
                </a:solidFill>
                <a:latin typeface="Calibri Light" pitchFamily="34" charset="0"/>
                <a:ea typeface="Calibri"/>
                <a:cs typeface="Calibri Light" pitchFamily="34" charset="0"/>
              </a:rPr>
              <a:t>Establishment of the Regional Database for the Mediterranean and Black Seas</a:t>
            </a:r>
          </a:p>
          <a:p>
            <a:pPr algn="ctr" defTabSz="342991"/>
            <a:endParaRPr lang="en-US" b="1" dirty="0">
              <a:solidFill>
                <a:srgbClr val="002060"/>
              </a:solidFill>
              <a:latin typeface="Calibri" pitchFamily="34" charset="0"/>
              <a:ea typeface="Calibri" pitchFamily="34" charset="0"/>
              <a:cs typeface="Calibri" pitchFamily="34" charset="0"/>
            </a:endParaRPr>
          </a:p>
        </p:txBody>
      </p:sp>
      <p:cxnSp>
        <p:nvCxnSpPr>
          <p:cNvPr id="24" name="Straight Connector 23"/>
          <p:cNvCxnSpPr/>
          <p:nvPr/>
        </p:nvCxnSpPr>
        <p:spPr>
          <a:xfrm>
            <a:off x="0" y="2195315"/>
            <a:ext cx="9144000" cy="0"/>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p:cNvCxnSpPr/>
          <p:nvPr/>
        </p:nvCxnSpPr>
        <p:spPr>
          <a:xfrm>
            <a:off x="8073" y="4419600"/>
            <a:ext cx="9144000" cy="0"/>
          </a:xfrm>
          <a:prstGeom prst="line">
            <a:avLst/>
          </a:prstGeom>
        </p:spPr>
        <p:style>
          <a:lnRef idx="1">
            <a:schemeClr val="dk1"/>
          </a:lnRef>
          <a:fillRef idx="0">
            <a:schemeClr val="dk1"/>
          </a:fillRef>
          <a:effectRef idx="0">
            <a:schemeClr val="dk1"/>
          </a:effectRef>
          <a:fontRef idx="minor">
            <a:schemeClr val="tx1"/>
          </a:fontRef>
        </p:style>
      </p:cxnSp>
      <p:sp>
        <p:nvSpPr>
          <p:cNvPr id="30" name="Right Arrow 29"/>
          <p:cNvSpPr/>
          <p:nvPr/>
        </p:nvSpPr>
        <p:spPr>
          <a:xfrm>
            <a:off x="467544" y="5291580"/>
            <a:ext cx="355002" cy="232282"/>
          </a:xfrm>
          <a:prstGeom prst="rightArrow">
            <a:avLst/>
          </a:prstGeom>
          <a:solidFill>
            <a:srgbClr val="0070C0"/>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defTabSz="342991"/>
            <a:endParaRPr lang="el-GR" sz="1050">
              <a:solidFill>
                <a:schemeClr val="accent1">
                  <a:lumMod val="50000"/>
                </a:schemeClr>
              </a:solidFill>
            </a:endParaRPr>
          </a:p>
        </p:txBody>
      </p:sp>
      <p:sp>
        <p:nvSpPr>
          <p:cNvPr id="22" name="Rectangle 21">
            <a:extLst>
              <a:ext uri="{FF2B5EF4-FFF2-40B4-BE49-F238E27FC236}">
                <a16:creationId xmlns:a16="http://schemas.microsoft.com/office/drawing/2014/main" id="{8FD2C567-3A6D-44F1-8D75-04DE5F59243D}"/>
              </a:ext>
            </a:extLst>
          </p:cNvPr>
          <p:cNvSpPr/>
          <p:nvPr/>
        </p:nvSpPr>
        <p:spPr>
          <a:xfrm>
            <a:off x="0" y="-685"/>
            <a:ext cx="9144000" cy="400110"/>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RDBFIS: Overview of RDBFIS Phases I, II, III</a:t>
            </a:r>
          </a:p>
        </p:txBody>
      </p:sp>
      <p:pic>
        <p:nvPicPr>
          <p:cNvPr id="4" name="Picture 3">
            <a:extLst>
              <a:ext uri="{FF2B5EF4-FFF2-40B4-BE49-F238E27FC236}">
                <a16:creationId xmlns:a16="http://schemas.microsoft.com/office/drawing/2014/main" id="{4A9660E3-FD2E-4633-8629-E174A3980793}"/>
              </a:ext>
            </a:extLst>
          </p:cNvPr>
          <p:cNvPicPr>
            <a:picLocks noChangeAspect="1"/>
          </p:cNvPicPr>
          <p:nvPr/>
        </p:nvPicPr>
        <p:blipFill>
          <a:blip r:embed="rId4"/>
          <a:stretch>
            <a:fillRect/>
          </a:stretch>
        </p:blipFill>
        <p:spPr>
          <a:xfrm>
            <a:off x="3821470" y="5397928"/>
            <a:ext cx="2956816" cy="926672"/>
          </a:xfrm>
          <a:prstGeom prst="rect">
            <a:avLst/>
          </a:prstGeom>
        </p:spPr>
      </p:pic>
    </p:spTree>
    <p:extLst>
      <p:ext uri="{BB962C8B-B14F-4D97-AF65-F5344CB8AC3E}">
        <p14:creationId xmlns:p14="http://schemas.microsoft.com/office/powerpoint/2010/main" val="185052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6C73609C-E89F-45B0-B681-30BF75532A35}"/>
              </a:ext>
            </a:extLst>
          </p:cNvPr>
          <p:cNvSpPr txBox="1"/>
          <p:nvPr/>
        </p:nvSpPr>
        <p:spPr>
          <a:xfrm>
            <a:off x="457200" y="609600"/>
            <a:ext cx="8064896" cy="6011902"/>
          </a:xfrm>
          <a:prstGeom prst="rect">
            <a:avLst/>
          </a:prstGeom>
          <a:noFill/>
          <a:ln w="6350">
            <a:noFill/>
          </a:ln>
        </p:spPr>
        <p:txBody>
          <a:bodyPr wrap="square">
            <a:spAutoFit/>
          </a:bodyPr>
          <a:lstStyle/>
          <a:p>
            <a:r>
              <a:rPr lang="en-US" sz="2000"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During the third phase of the RDBFIS implementation , in addition to supporting MS in data validation and uploading, as well as addressing specific requirements, the consortium focused on the following objectives:</a:t>
            </a:r>
          </a:p>
          <a:p>
            <a:pPr>
              <a:spcAft>
                <a:spcPts val="400"/>
              </a:spcAft>
            </a:pPr>
            <a:endPar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endParaRPr>
          </a:p>
          <a:p>
            <a:pPr marL="360363" indent="-192088">
              <a:spcAft>
                <a:spcPts val="400"/>
              </a:spcAft>
              <a:buFont typeface="Arial" panose="020B0604020202020204" pitchFamily="34" charset="0"/>
              <a:buChar char="•"/>
            </a:pP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system maintenance and fine-tuning</a:t>
            </a:r>
          </a:p>
          <a:p>
            <a:pPr marL="360363" indent="-192088">
              <a:spcAft>
                <a:spcPts val="400"/>
              </a:spcAft>
              <a:buFont typeface="Arial" panose="020B0604020202020204" pitchFamily="34" charset="0"/>
              <a:buChar char="•"/>
            </a:pP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finalising the MEDIAS data base structure;</a:t>
            </a:r>
          </a:p>
          <a:p>
            <a:pPr marL="360363" indent="-192088">
              <a:spcAft>
                <a:spcPts val="400"/>
              </a:spcAft>
              <a:buFont typeface="Arial" panose="020B0604020202020204" pitchFamily="34" charset="0"/>
              <a:buChar char="•"/>
            </a:pP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developing the MEDIAS R package </a:t>
            </a:r>
            <a:r>
              <a:rPr lang="el-GR"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a:t>
            </a: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similar to RoME</a:t>
            </a:r>
            <a:r>
              <a:rPr lang="el-GR"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a:t>
            </a: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a:t>
            </a:r>
          </a:p>
          <a:p>
            <a:pPr marL="360363" indent="-192088">
              <a:spcAft>
                <a:spcPts val="400"/>
              </a:spcAft>
              <a:buFont typeface="Arial" panose="020B0604020202020204" pitchFamily="34" charset="0"/>
              <a:buChar char="•"/>
            </a:pP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developing an R package for statistical analysis;</a:t>
            </a:r>
          </a:p>
          <a:p>
            <a:pPr marL="360363" indent="-192088">
              <a:spcAft>
                <a:spcPts val="400"/>
              </a:spcAft>
              <a:buFont typeface="Arial" panose="020B0604020202020204" pitchFamily="34" charset="0"/>
              <a:buChar char="•"/>
            </a:pP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integration of SDTool package for sampling optimization;</a:t>
            </a:r>
          </a:p>
          <a:p>
            <a:pPr marL="360363" indent="-192088">
              <a:spcAft>
                <a:spcPts val="400"/>
              </a:spcAft>
              <a:buFont typeface="Arial" panose="020B0604020202020204" pitchFamily="34" charset="0"/>
              <a:buChar char="•"/>
            </a:pP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substantially enhancing system performance, with a particular focus on the consistency check phase;</a:t>
            </a:r>
          </a:p>
          <a:p>
            <a:pPr marL="360363" indent="-192088">
              <a:spcAft>
                <a:spcPts val="400"/>
              </a:spcAft>
              <a:buFont typeface="Arial" panose="020B0604020202020204" pitchFamily="34" charset="0"/>
              <a:buChar char="•"/>
            </a:pP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establishing collaboration with other consortia, with the aim of expanding the system through the integration of new components with the aim</a:t>
            </a:r>
            <a:r>
              <a:rPr lang="el-GR"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 </a:t>
            </a: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of enabling MS to use the platform to respond to multiple data requests (JRC, GFCM, ICES);</a:t>
            </a:r>
          </a:p>
          <a:p>
            <a:pPr marL="360363" indent="-192088">
              <a:spcAft>
                <a:spcPts val="400"/>
              </a:spcAft>
              <a:buFont typeface="Arial" panose="020B0604020202020204" pitchFamily="34" charset="0"/>
              <a:buChar char="•"/>
            </a:pP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RDBFIS Transition to EU DIGIT – Collaboration with EU IT Services;</a:t>
            </a:r>
          </a:p>
          <a:p>
            <a:pPr marL="360363" indent="-192088">
              <a:spcAft>
                <a:spcPts val="400"/>
              </a:spcAft>
              <a:buFont typeface="Arial" panose="020B0604020202020204" pitchFamily="34" charset="0"/>
              <a:buChar char="•"/>
            </a:pP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harmonizing RDBFIS with other platforms (JRC, GFCM);</a:t>
            </a:r>
          </a:p>
          <a:p>
            <a:pPr marL="360363" indent="-192088">
              <a:spcAft>
                <a:spcPts val="400"/>
              </a:spcAft>
              <a:buFont typeface="Arial" panose="020B0604020202020204" pitchFamily="34" charset="0"/>
              <a:buChar char="•"/>
            </a:pP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participation in meetings</a:t>
            </a:r>
            <a:r>
              <a:rPr lang="el-GR"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 (</a:t>
            </a: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MED&amp;BS RCG, Liaison, NC DCF meetings, LP RCG, ..) </a:t>
            </a:r>
            <a:endParaRPr lang="el-GR"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endParaRPr>
          </a:p>
          <a:p>
            <a:pPr marL="360363" indent="-192088">
              <a:spcAft>
                <a:spcPts val="400"/>
              </a:spcAft>
              <a:buFont typeface="Arial" panose="020B0604020202020204" pitchFamily="34" charset="0"/>
              <a:buChar char="•"/>
            </a:pPr>
            <a:r>
              <a:rPr lang="en-US"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workshops and internal meetings were organised to support system fine-tuning and development;</a:t>
            </a:r>
          </a:p>
        </p:txBody>
      </p:sp>
      <p:sp>
        <p:nvSpPr>
          <p:cNvPr id="43" name="Rectangle 42">
            <a:extLst>
              <a:ext uri="{FF2B5EF4-FFF2-40B4-BE49-F238E27FC236}">
                <a16:creationId xmlns:a16="http://schemas.microsoft.com/office/drawing/2014/main" id="{F67E19A8-BE14-4366-8151-8C8535B05911}"/>
              </a:ext>
            </a:extLst>
          </p:cNvPr>
          <p:cNvSpPr/>
          <p:nvPr/>
        </p:nvSpPr>
        <p:spPr>
          <a:xfrm>
            <a:off x="0" y="0"/>
            <a:ext cx="9144000" cy="400110"/>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dirty="0">
                <a:solidFill>
                  <a:srgbClr val="FFFFFF"/>
                </a:solidFill>
                <a:latin typeface="Calibri Light" pitchFamily="34" charset="0"/>
                <a:cs typeface="Calibri Light" pitchFamily="34" charset="0"/>
              </a:rPr>
              <a:t>Key activities</a:t>
            </a:r>
            <a:endPar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endParaRPr>
          </a:p>
        </p:txBody>
      </p:sp>
    </p:spTree>
    <p:extLst>
      <p:ext uri="{BB962C8B-B14F-4D97-AF65-F5344CB8AC3E}">
        <p14:creationId xmlns:p14="http://schemas.microsoft.com/office/powerpoint/2010/main" val="1192018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4" y="-27384"/>
            <a:ext cx="9144000" cy="400110"/>
          </a:xfrm>
          <a:prstGeom prst="rect">
            <a:avLst/>
          </a:prstGeom>
          <a:solidFill>
            <a:schemeClr val="bg2">
              <a:lumMod val="75000"/>
            </a:schemeClr>
          </a:solidFill>
          <a:ln w="6350">
            <a:noFill/>
          </a:ln>
        </p:spPr>
        <p:txBody>
          <a:bodyPr wrap="square">
            <a:spAutoFit/>
          </a:bodyPr>
          <a:lstStyle/>
          <a:p>
            <a:pPr algn="ctr">
              <a:buClr>
                <a:srgbClr val="000000"/>
              </a:buClr>
              <a:buFont typeface="Arial"/>
              <a:buNone/>
              <a:defRPr/>
            </a:pPr>
            <a:r>
              <a:rPr lang="en-US" sz="2000" b="1" dirty="0">
                <a:solidFill>
                  <a:prstClr val="white"/>
                </a:solidFill>
                <a:latin typeface="Calibri Light" panose="020F0302020204030204" pitchFamily="34" charset="0"/>
                <a:ea typeface="Calibri Light" panose="020F0302020204030204" pitchFamily="34" charset="0"/>
                <a:cs typeface="Calibri Light" panose="020F0302020204030204" pitchFamily="34" charset="0"/>
              </a:rPr>
              <a:t>RDBFIS overview</a:t>
            </a:r>
            <a:endParaRPr lang="en-GB" sz="2000" b="1" dirty="0">
              <a:solidFill>
                <a:prstClr val="white"/>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9" name="Cylinder 8">
            <a:extLst>
              <a:ext uri="{FF2B5EF4-FFF2-40B4-BE49-F238E27FC236}">
                <a16:creationId xmlns:a16="http://schemas.microsoft.com/office/drawing/2014/main" id="{D1512444-598A-429B-8F2B-3562F4269895}"/>
              </a:ext>
            </a:extLst>
          </p:cNvPr>
          <p:cNvSpPr/>
          <p:nvPr/>
        </p:nvSpPr>
        <p:spPr>
          <a:xfrm>
            <a:off x="899592" y="1628800"/>
            <a:ext cx="3130849" cy="4104456"/>
          </a:xfrm>
          <a:prstGeom prst="can">
            <a:avLst/>
          </a:prstGeom>
          <a:solidFill>
            <a:schemeClr val="bg1">
              <a:lumMod val="85000"/>
              <a:alpha val="7000"/>
            </a:schemeClr>
          </a:solidFill>
          <a:ln w="6350">
            <a:solidFill>
              <a:schemeClr val="accent5">
                <a:lumMod val="50000"/>
                <a:alpha val="5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00000"/>
              </a:buClr>
              <a:buFont typeface="Arial"/>
              <a:buNone/>
            </a:pPr>
            <a:endParaRPr lang="el-GR" sz="1050">
              <a:solidFill>
                <a:srgbClr val="FFFFFF"/>
              </a:solidFill>
            </a:endParaRPr>
          </a:p>
        </p:txBody>
      </p:sp>
      <p:sp>
        <p:nvSpPr>
          <p:cNvPr id="14" name="TextBox 9">
            <a:extLst>
              <a:ext uri="{FF2B5EF4-FFF2-40B4-BE49-F238E27FC236}">
                <a16:creationId xmlns:a16="http://schemas.microsoft.com/office/drawing/2014/main" id="{76F8BFE1-A548-4887-A565-574F961ACA93}"/>
              </a:ext>
            </a:extLst>
          </p:cNvPr>
          <p:cNvSpPr txBox="1">
            <a:spLocks noChangeArrowheads="1"/>
          </p:cNvSpPr>
          <p:nvPr/>
        </p:nvSpPr>
        <p:spPr bwMode="auto">
          <a:xfrm>
            <a:off x="1366182" y="1916832"/>
            <a:ext cx="2233800" cy="3554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Lst>
        </p:spPr>
        <p:txBody>
          <a:bodyPr vert="horz" wrap="square" lIns="68598" tIns="34299" rIns="68598" bIns="34299" numCol="1" anchor="t" anchorCtr="0" compatLnSpc="1">
            <a:prstTxWarp prst="textNoShape">
              <a:avLst/>
            </a:prstTxWarp>
            <a:spAutoFit/>
          </a:bodyPr>
          <a:lstStyle/>
          <a:p>
            <a:pPr algn="ctr" eaLnBrk="0" fontAlgn="base" hangingPunct="0">
              <a:spcBef>
                <a:spcPct val="0"/>
              </a:spcBef>
              <a:spcAft>
                <a:spcPct val="0"/>
              </a:spcAft>
            </a:pPr>
            <a:r>
              <a:rPr lang="en-US" altLang="el-GR" sz="2101" b="1"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Med&amp;BS RDB</a:t>
            </a:r>
          </a:p>
          <a:p>
            <a:pPr algn="ctr" eaLnBrk="0" fontAlgn="base" hangingPunct="0">
              <a:spcBef>
                <a:spcPct val="0"/>
              </a:spcBef>
              <a:spcAft>
                <a:spcPct val="0"/>
              </a:spcAft>
            </a:pPr>
            <a:endParaRPr lang="en-US" altLang="el-GR" sz="1050" b="1"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endParaRPr>
          </a:p>
          <a:p>
            <a:pPr marL="135767" indent="-135767" eaLnBrk="0" fontAlgn="base" hangingPunct="0">
              <a:spcBef>
                <a:spcPct val="0"/>
              </a:spcBef>
              <a:spcAft>
                <a:spcPct val="0"/>
              </a:spcAft>
              <a:buFont typeface="Arial" panose="020B0604020202020204" pitchFamily="34" charset="0"/>
              <a:buChar char="•"/>
            </a:pPr>
            <a:r>
              <a:rPr lang="en-US" altLang="el-GR" sz="1500" b="1"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Datacalls</a:t>
            </a: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 Med&amp;BS, FDI, </a:t>
            </a:r>
          </a:p>
          <a:p>
            <a:pPr marL="135767" indent="-135767" eaLnBrk="0" fontAlgn="base" hangingPunct="0">
              <a:spcBef>
                <a:spcPct val="0"/>
              </a:spcBef>
              <a:spcAft>
                <a:spcPct val="0"/>
              </a:spcAft>
              <a:buFont typeface="Arial" panose="020B0604020202020204" pitchFamily="34" charset="0"/>
              <a:buChar char="•"/>
            </a:pP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GFCM/DCRF</a:t>
            </a:r>
          </a:p>
          <a:p>
            <a:pPr marL="135767" indent="-135767" eaLnBrk="0" fontAlgn="base" hangingPunct="0">
              <a:spcBef>
                <a:spcPct val="0"/>
              </a:spcBef>
              <a:spcAft>
                <a:spcPct val="0"/>
              </a:spcAft>
              <a:buFont typeface="Arial" panose="020B0604020202020204" pitchFamily="34" charset="0"/>
              <a:buChar char="•"/>
            </a:pP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Detailed biological data</a:t>
            </a:r>
          </a:p>
          <a:p>
            <a:pPr marL="135767" indent="-135767" eaLnBrk="0" fontAlgn="base" hangingPunct="0">
              <a:spcBef>
                <a:spcPct val="0"/>
              </a:spcBef>
              <a:spcAft>
                <a:spcPct val="0"/>
              </a:spcAft>
              <a:buFont typeface="Arial" panose="020B0604020202020204" pitchFamily="34" charset="0"/>
              <a:buChar char="•"/>
            </a:pPr>
            <a:r>
              <a:rPr lang="en-US" altLang="el-GR" sz="1500" b="1"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Surveys</a:t>
            </a: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 MEDITS, MEDIAS, Eggs&amp;Larvae</a:t>
            </a:r>
          </a:p>
          <a:p>
            <a:pPr marL="135767" indent="-135767" eaLnBrk="0" fontAlgn="base" hangingPunct="0">
              <a:spcBef>
                <a:spcPct val="0"/>
              </a:spcBef>
              <a:spcAft>
                <a:spcPct val="0"/>
              </a:spcAft>
              <a:buFont typeface="Arial" panose="020B0604020202020204" pitchFamily="34" charset="0"/>
              <a:buChar char="•"/>
            </a:pP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EU Fleet</a:t>
            </a:r>
          </a:p>
          <a:p>
            <a:pPr marL="135767" indent="-135767" eaLnBrk="0" fontAlgn="base" hangingPunct="0">
              <a:spcBef>
                <a:spcPct val="0"/>
              </a:spcBef>
              <a:spcAft>
                <a:spcPct val="0"/>
              </a:spcAft>
              <a:buFont typeface="Arial" panose="020B0604020202020204" pitchFamily="34" charset="0"/>
              <a:buChar char="•"/>
            </a:pP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Stomach content</a:t>
            </a:r>
          </a:p>
          <a:p>
            <a:pPr marL="135767" indent="-135767" eaLnBrk="0" fontAlgn="base" hangingPunct="0">
              <a:spcBef>
                <a:spcPct val="0"/>
              </a:spcBef>
              <a:spcAft>
                <a:spcPct val="0"/>
              </a:spcAft>
              <a:buFont typeface="Arial" panose="020B0604020202020204" pitchFamily="34" charset="0"/>
              <a:buChar char="•"/>
            </a:pP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PETS</a:t>
            </a:r>
          </a:p>
          <a:p>
            <a:pPr marL="135767" indent="-135767" eaLnBrk="0" fontAlgn="base" hangingPunct="0">
              <a:spcBef>
                <a:spcPct val="0"/>
              </a:spcBef>
              <a:spcAft>
                <a:spcPct val="0"/>
              </a:spcAft>
              <a:buFont typeface="Arial" panose="020B0604020202020204" pitchFamily="34" charset="0"/>
              <a:buChar char="•"/>
            </a:pP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Alien species</a:t>
            </a:r>
          </a:p>
          <a:p>
            <a:pPr marL="135767" indent="-135767" eaLnBrk="0" fontAlgn="base" hangingPunct="0">
              <a:spcBef>
                <a:spcPct val="0"/>
              </a:spcBef>
              <a:spcAft>
                <a:spcPct val="0"/>
              </a:spcAft>
              <a:buFont typeface="Arial" panose="020B0604020202020204" pitchFamily="34" charset="0"/>
              <a:buChar char="•"/>
            </a:pP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Recreational</a:t>
            </a:r>
          </a:p>
          <a:p>
            <a:pPr marL="135767" indent="-135767" eaLnBrk="0" fontAlgn="base" hangingPunct="0">
              <a:spcBef>
                <a:spcPct val="0"/>
              </a:spcBef>
              <a:spcAft>
                <a:spcPct val="0"/>
              </a:spcAft>
              <a:buFont typeface="Arial" panose="020B0604020202020204" pitchFamily="34" charset="0"/>
              <a:buChar char="•"/>
            </a:pP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Coding</a:t>
            </a:r>
          </a:p>
          <a:p>
            <a:pPr marL="135767" indent="-135767" eaLnBrk="0" fontAlgn="base" hangingPunct="0">
              <a:spcBef>
                <a:spcPct val="0"/>
              </a:spcBef>
              <a:spcAft>
                <a:spcPct val="0"/>
              </a:spcAft>
              <a:buFont typeface="Arial" panose="020B0604020202020204" pitchFamily="34" charset="0"/>
              <a:buChar char="•"/>
            </a:pP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Environmental</a:t>
            </a:r>
          </a:p>
          <a:p>
            <a:pPr marL="135767" indent="-135767" eaLnBrk="0" fontAlgn="base" hangingPunct="0">
              <a:spcBef>
                <a:spcPct val="0"/>
              </a:spcBef>
              <a:spcAft>
                <a:spcPct val="0"/>
              </a:spcAft>
              <a:buFont typeface="Arial" panose="020B0604020202020204" pitchFamily="34" charset="0"/>
              <a:buChar char="•"/>
            </a:pPr>
            <a:r>
              <a:rPr lang="en-US" altLang="el-GR" sz="1500"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Spatial data</a:t>
            </a:r>
          </a:p>
        </p:txBody>
      </p:sp>
      <p:sp>
        <p:nvSpPr>
          <p:cNvPr id="15" name="Rectangle 14">
            <a:extLst>
              <a:ext uri="{FF2B5EF4-FFF2-40B4-BE49-F238E27FC236}">
                <a16:creationId xmlns:a16="http://schemas.microsoft.com/office/drawing/2014/main" id="{399967EF-F798-4B26-B57F-A2BA83182A05}"/>
              </a:ext>
            </a:extLst>
          </p:cNvPr>
          <p:cNvSpPr/>
          <p:nvPr/>
        </p:nvSpPr>
        <p:spPr>
          <a:xfrm>
            <a:off x="539552" y="548680"/>
            <a:ext cx="7992888" cy="6192688"/>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000000"/>
              </a:buClr>
              <a:buFont typeface="Arial"/>
              <a:buNone/>
            </a:pPr>
            <a:endParaRPr lang="el-GR" sz="1050">
              <a:solidFill>
                <a:srgbClr val="FFFFFF"/>
              </a:solidFill>
            </a:endParaRPr>
          </a:p>
        </p:txBody>
      </p:sp>
      <p:pic>
        <p:nvPicPr>
          <p:cNvPr id="17" name="Picture 16">
            <a:extLst>
              <a:ext uri="{FF2B5EF4-FFF2-40B4-BE49-F238E27FC236}">
                <a16:creationId xmlns:a16="http://schemas.microsoft.com/office/drawing/2014/main" id="{7C28F84C-F814-42B8-A5C6-43E398CAB62F}"/>
              </a:ext>
            </a:extLst>
          </p:cNvPr>
          <p:cNvPicPr>
            <a:picLocks noChangeAspect="1"/>
          </p:cNvPicPr>
          <p:nvPr/>
        </p:nvPicPr>
        <p:blipFill>
          <a:blip r:embed="rId3"/>
          <a:stretch>
            <a:fillRect/>
          </a:stretch>
        </p:blipFill>
        <p:spPr>
          <a:xfrm>
            <a:off x="3995937" y="378255"/>
            <a:ext cx="1095114" cy="314441"/>
          </a:xfrm>
          <a:prstGeom prst="rect">
            <a:avLst/>
          </a:prstGeom>
        </p:spPr>
      </p:pic>
      <p:sp>
        <p:nvSpPr>
          <p:cNvPr id="21" name="TextBox 20">
            <a:extLst>
              <a:ext uri="{FF2B5EF4-FFF2-40B4-BE49-F238E27FC236}">
                <a16:creationId xmlns:a16="http://schemas.microsoft.com/office/drawing/2014/main" id="{3EE56E1C-97FD-491C-AABC-902D6A7CDBC9}"/>
              </a:ext>
            </a:extLst>
          </p:cNvPr>
          <p:cNvSpPr txBox="1"/>
          <p:nvPr/>
        </p:nvSpPr>
        <p:spPr>
          <a:xfrm>
            <a:off x="4428023" y="2636912"/>
            <a:ext cx="3672369" cy="3970446"/>
          </a:xfrm>
          <a:prstGeom prst="rect">
            <a:avLst/>
          </a:prstGeom>
          <a:solidFill>
            <a:schemeClr val="bg1">
              <a:lumMod val="95000"/>
              <a:alpha val="30000"/>
            </a:schemeClr>
          </a:solidFill>
          <a:ln w="3175">
            <a:noFill/>
          </a:ln>
        </p:spPr>
        <p:txBody>
          <a:bodyPr wrap="square">
            <a:spAutoFit/>
          </a:bodyPr>
          <a:lstStyle/>
          <a:p>
            <a:pPr>
              <a:buClr>
                <a:srgbClr val="000000"/>
              </a:buClr>
              <a:buFont typeface="Arial"/>
              <a:buNone/>
            </a:pPr>
            <a:r>
              <a:rPr lang="en-US" sz="2101" b="1" dirty="0">
                <a:solidFill>
                  <a:schemeClr val="bg2"/>
                </a:solidFill>
                <a:latin typeface="Calibri Light" panose="020F0302020204030204" pitchFamily="34" charset="0"/>
                <a:ea typeface="Calibri Light" panose="020F0302020204030204" pitchFamily="34" charset="0"/>
                <a:cs typeface="Calibri Light" panose="020F0302020204030204" pitchFamily="34" charset="0"/>
              </a:rPr>
              <a:t>Integrated Components</a:t>
            </a:r>
          </a:p>
          <a:p>
            <a:pPr>
              <a:buClr>
                <a:srgbClr val="000000"/>
              </a:buClr>
              <a:buFont typeface="Arial"/>
              <a:buNone/>
            </a:pPr>
            <a:endParaRPr lang="en-US" sz="600" dirty="0">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endParaRPr>
          </a:p>
          <a:p>
            <a:pPr marL="257244" indent="-257244">
              <a:buFont typeface="Wingdings" panose="05000000000000000000" pitchFamily="2" charset="2"/>
              <a:buChar char="ü"/>
            </a:pPr>
            <a:r>
              <a:rPr lang="en-US" sz="1500" dirty="0">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rPr>
              <a:t>UI</a:t>
            </a:r>
          </a:p>
          <a:p>
            <a:pPr marL="257244" indent="-257244">
              <a:buFont typeface="Wingdings" panose="05000000000000000000" pitchFamily="2" charset="2"/>
              <a:buChar char="ü"/>
            </a:pPr>
            <a:r>
              <a:rPr lang="en-US" sz="1500" dirty="0">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rPr>
              <a:t>Validation schemes</a:t>
            </a:r>
          </a:p>
          <a:p>
            <a:pPr marL="257244" indent="-257244">
              <a:buFont typeface="Wingdings" panose="05000000000000000000" pitchFamily="2" charset="2"/>
              <a:buChar char="ü"/>
            </a:pPr>
            <a:r>
              <a:rPr lang="en-US" sz="1500" dirty="0">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rPr>
              <a:t>FDI spatial checks</a:t>
            </a:r>
          </a:p>
          <a:p>
            <a:pPr marL="257244" indent="-257244">
              <a:buFont typeface="Wingdings" panose="05000000000000000000" pitchFamily="2" charset="2"/>
              <a:buChar char="ü"/>
            </a:pPr>
            <a:r>
              <a:rPr lang="en-US" sz="1500" dirty="0">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rPr>
              <a:t>RDBqc</a:t>
            </a:r>
          </a:p>
          <a:p>
            <a:pPr marL="257244" indent="-257244">
              <a:buFont typeface="Wingdings" panose="05000000000000000000" pitchFamily="2" charset="2"/>
              <a:buChar char="ü"/>
            </a:pPr>
            <a:r>
              <a:rPr lang="en-US" sz="1500" dirty="0" err="1">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rPr>
              <a:t>RDBprocessing</a:t>
            </a:r>
            <a:endParaRPr lang="en-US" sz="1500" dirty="0">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endParaRPr>
          </a:p>
          <a:p>
            <a:pPr marL="257244" indent="-257244">
              <a:buFont typeface="Wingdings" panose="05000000000000000000" pitchFamily="2" charset="2"/>
              <a:buChar char="ü"/>
            </a:pPr>
            <a:r>
              <a:rPr lang="en-US" sz="1500" dirty="0">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rPr>
              <a:t>RoME, </a:t>
            </a:r>
            <a:r>
              <a:rPr lang="en-US" sz="1500" dirty="0" err="1">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rPr>
              <a:t>RoMEBS</a:t>
            </a:r>
            <a:endParaRPr lang="en-US" sz="1500" dirty="0">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endParaRPr>
          </a:p>
          <a:p>
            <a:pPr marL="257244" indent="-257244">
              <a:buFont typeface="Wingdings" panose="05000000000000000000" pitchFamily="2" charset="2"/>
              <a:buChar char="ü"/>
            </a:pPr>
            <a:r>
              <a:rPr lang="en-US" sz="1500" dirty="0" err="1">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rPr>
              <a:t>BioIndex</a:t>
            </a:r>
            <a:endParaRPr lang="en-US" sz="1500" dirty="0">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endParaRPr>
          </a:p>
          <a:p>
            <a:pPr marL="257244" indent="-257244">
              <a:buFont typeface="Wingdings" panose="05000000000000000000" pitchFamily="2" charset="2"/>
              <a:buChar char="ü"/>
            </a:pPr>
            <a:r>
              <a:rPr lang="en-US" sz="1500" dirty="0">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rPr>
              <a:t>EU fleet analysis</a:t>
            </a:r>
          </a:p>
          <a:p>
            <a:pPr marL="257244" indent="-257244">
              <a:buFont typeface="Wingdings" panose="05000000000000000000" pitchFamily="2" charset="2"/>
              <a:buChar char="ü"/>
            </a:pPr>
            <a:r>
              <a:rPr lang="en-US" sz="1500" dirty="0">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rPr>
              <a:t>MCDA for SSF</a:t>
            </a:r>
          </a:p>
          <a:p>
            <a:pPr marL="257244" indent="-257244">
              <a:buFont typeface="Wingdings" panose="05000000000000000000" pitchFamily="2" charset="2"/>
              <a:buChar char="ü"/>
            </a:pPr>
            <a:r>
              <a:rPr lang="en-US" sz="1500" dirty="0">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rPr>
              <a:t>Mapping</a:t>
            </a:r>
          </a:p>
          <a:p>
            <a:pPr marL="257244" indent="-257244">
              <a:buFont typeface="Wingdings" panose="05000000000000000000" pitchFamily="2" charset="2"/>
              <a:buChar char="ü"/>
            </a:pPr>
            <a:r>
              <a:rPr lang="en-US" sz="1500" dirty="0">
                <a:solidFill>
                  <a:srgbClr val="1F497D">
                    <a:lumMod val="75000"/>
                  </a:srgbClr>
                </a:solidFill>
                <a:latin typeface="Calibri Light" panose="020F0302020204030204" pitchFamily="34" charset="0"/>
                <a:ea typeface="Calibri Light" panose="020F0302020204030204" pitchFamily="34" charset="0"/>
                <a:cs typeface="Calibri Light" panose="020F0302020204030204" pitchFamily="34" charset="0"/>
              </a:rPr>
              <a:t>Stomach content, Eggs&amp;Larvae data entry forms</a:t>
            </a:r>
          </a:p>
          <a:p>
            <a:pPr marL="257244" indent="-257244">
              <a:buFont typeface="Wingdings" panose="05000000000000000000" pitchFamily="2" charset="2"/>
              <a:buChar char="ü"/>
            </a:pPr>
            <a:r>
              <a:rPr lang="en-US" sz="1500" dirty="0">
                <a:solidFill>
                  <a:schemeClr val="bg2">
                    <a:lumMod val="60000"/>
                    <a:lumOff val="40000"/>
                  </a:schemeClr>
                </a:solidFill>
                <a:latin typeface="Calibri Light" panose="020F0302020204030204" pitchFamily="34" charset="0"/>
                <a:ea typeface="Calibri Light" panose="020F0302020204030204" pitchFamily="34" charset="0"/>
                <a:cs typeface="Calibri Light" panose="020F0302020204030204" pitchFamily="34" charset="0"/>
              </a:rPr>
              <a:t>MEDIAS R package</a:t>
            </a:r>
          </a:p>
          <a:p>
            <a:pPr marL="257244" indent="-257244">
              <a:buFont typeface="Wingdings" panose="05000000000000000000" pitchFamily="2" charset="2"/>
              <a:buChar char="ü"/>
            </a:pPr>
            <a:r>
              <a:rPr lang="en-US" sz="1500" dirty="0">
                <a:solidFill>
                  <a:schemeClr val="bg2">
                    <a:lumMod val="60000"/>
                    <a:lumOff val="40000"/>
                  </a:schemeClr>
                </a:solidFill>
                <a:latin typeface="Calibri Light" panose="020F0302020204030204" pitchFamily="34" charset="0"/>
                <a:ea typeface="Calibri Light" panose="020F0302020204030204" pitchFamily="34" charset="0"/>
                <a:cs typeface="Calibri Light" panose="020F0302020204030204" pitchFamily="34" charset="0"/>
              </a:rPr>
              <a:t>stat4RDBFIS R package</a:t>
            </a:r>
          </a:p>
          <a:p>
            <a:pPr marL="257244" indent="-257244">
              <a:buFont typeface="Wingdings" panose="05000000000000000000" pitchFamily="2" charset="2"/>
              <a:buChar char="ü"/>
            </a:pPr>
            <a:r>
              <a:rPr lang="en-US" sz="1500" dirty="0">
                <a:solidFill>
                  <a:schemeClr val="bg2">
                    <a:lumMod val="60000"/>
                    <a:lumOff val="40000"/>
                  </a:schemeClr>
                </a:solidFill>
                <a:latin typeface="Calibri Light" panose="020F0302020204030204" pitchFamily="34" charset="0"/>
                <a:ea typeface="Calibri Light" panose="020F0302020204030204" pitchFamily="34" charset="0"/>
                <a:cs typeface="Calibri Light" panose="020F0302020204030204" pitchFamily="34" charset="0"/>
              </a:rPr>
              <a:t>SDTool package for sampling optimization </a:t>
            </a:r>
          </a:p>
        </p:txBody>
      </p:sp>
      <p:pic>
        <p:nvPicPr>
          <p:cNvPr id="3" name="Picture 2">
            <a:extLst>
              <a:ext uri="{FF2B5EF4-FFF2-40B4-BE49-F238E27FC236}">
                <a16:creationId xmlns:a16="http://schemas.microsoft.com/office/drawing/2014/main" id="{AB8186A4-9BA0-4518-816C-07627D938237}"/>
              </a:ext>
            </a:extLst>
          </p:cNvPr>
          <p:cNvPicPr>
            <a:picLocks noChangeAspect="1"/>
          </p:cNvPicPr>
          <p:nvPr/>
        </p:nvPicPr>
        <p:blipFill>
          <a:blip r:embed="rId4"/>
          <a:stretch>
            <a:fillRect/>
          </a:stretch>
        </p:blipFill>
        <p:spPr>
          <a:xfrm>
            <a:off x="4680889" y="800169"/>
            <a:ext cx="3166635" cy="1784770"/>
          </a:xfrm>
          <a:prstGeom prst="rect">
            <a:avLst/>
          </a:prstGeom>
        </p:spPr>
      </p:pic>
    </p:spTree>
    <p:extLst>
      <p:ext uri="{BB962C8B-B14F-4D97-AF65-F5344CB8AC3E}">
        <p14:creationId xmlns:p14="http://schemas.microsoft.com/office/powerpoint/2010/main" val="35160414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6C73609C-E89F-45B0-B681-30BF75532A35}"/>
              </a:ext>
            </a:extLst>
          </p:cNvPr>
          <p:cNvSpPr txBox="1"/>
          <p:nvPr/>
        </p:nvSpPr>
        <p:spPr>
          <a:xfrm>
            <a:off x="755576" y="3789040"/>
            <a:ext cx="7704856" cy="1938992"/>
          </a:xfrm>
          <a:prstGeom prst="rect">
            <a:avLst/>
          </a:prstGeom>
          <a:noFill/>
          <a:ln w="1270">
            <a:solidFill>
              <a:schemeClr val="bg2">
                <a:lumMod val="75000"/>
              </a:schemeClr>
            </a:solidFill>
          </a:ln>
        </p:spPr>
        <p:txBody>
          <a:bodyPr wrap="square">
            <a:spAutoFit/>
          </a:bodyPr>
          <a:lstStyle/>
          <a:p>
            <a:pPr algn="just"/>
            <a:r>
              <a:rPr lang="en-US" sz="20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RDBFIS</a:t>
            </a:r>
            <a:r>
              <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 The validation scheme implemented in the RDBFIS was strictly aligned with the specifications defined in the various Annexes of the relevant EU/GFCM data calls and the survey handbooks.</a:t>
            </a:r>
          </a:p>
          <a:p>
            <a:pPr algn="just"/>
            <a:endPar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The </a:t>
            </a:r>
            <a:r>
              <a:rPr lang="en-US" sz="20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JRC</a:t>
            </a:r>
            <a:r>
              <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 system is more flexible with certain validation rules, particularly regarding the number of digits allowed after the decimal point</a:t>
            </a:r>
            <a:r>
              <a:rPr lang="el-GR"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a:t>
            </a:r>
          </a:p>
        </p:txBody>
      </p:sp>
      <p:sp>
        <p:nvSpPr>
          <p:cNvPr id="43" name="Rectangle 42">
            <a:extLst>
              <a:ext uri="{FF2B5EF4-FFF2-40B4-BE49-F238E27FC236}">
                <a16:creationId xmlns:a16="http://schemas.microsoft.com/office/drawing/2014/main" id="{F67E19A8-BE14-4366-8151-8C8535B05911}"/>
              </a:ext>
            </a:extLst>
          </p:cNvPr>
          <p:cNvSpPr/>
          <p:nvPr/>
        </p:nvSpPr>
        <p:spPr>
          <a:xfrm>
            <a:off x="0" y="0"/>
            <a:ext cx="9144000" cy="400110"/>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Harmonization across RDBFIS, JRC, and GFCM Platforms</a:t>
            </a:r>
          </a:p>
        </p:txBody>
      </p:sp>
      <p:sp>
        <p:nvSpPr>
          <p:cNvPr id="9" name="TextBox 8">
            <a:extLst>
              <a:ext uri="{FF2B5EF4-FFF2-40B4-BE49-F238E27FC236}">
                <a16:creationId xmlns:a16="http://schemas.microsoft.com/office/drawing/2014/main" id="{64743C98-DC31-4E80-BD09-039A13E7B029}"/>
              </a:ext>
            </a:extLst>
          </p:cNvPr>
          <p:cNvSpPr txBox="1"/>
          <p:nvPr/>
        </p:nvSpPr>
        <p:spPr>
          <a:xfrm>
            <a:off x="1043608" y="808413"/>
            <a:ext cx="7128792" cy="2764603"/>
          </a:xfrm>
          <a:prstGeom prst="rect">
            <a:avLst/>
          </a:prstGeom>
          <a:noFill/>
          <a:ln w="3175">
            <a:noFill/>
          </a:ln>
        </p:spPr>
        <p:txBody>
          <a:bodyPr wrap="square">
            <a:spAutoFit/>
          </a:bodyPr>
          <a:lstStyle/>
          <a:p>
            <a:pPr>
              <a:buSzPts val="1000"/>
              <a:tabLst>
                <a:tab pos="457200" algn="l"/>
              </a:tabLst>
            </a:pPr>
            <a:r>
              <a:rPr lang="en-US" sz="20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schema &amp; syntactic rules</a:t>
            </a:r>
          </a:p>
          <a:p>
            <a:pPr lvl="0">
              <a:buSzPts val="1000"/>
              <a:tabLst>
                <a:tab pos="457200" algn="l"/>
              </a:tabLst>
            </a:pPr>
            <a:r>
              <a:rPr lang="en-US" sz="2000"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rPr>
              <a:t>Multiple platforms (RDBFIS, JRC, GFCM DCRF) </a:t>
            </a:r>
          </a:p>
          <a:p>
            <a:pPr lvl="0">
              <a:buSzPts val="1000"/>
              <a:tabLst>
                <a:tab pos="457200" algn="l"/>
              </a:tabLst>
            </a:pPr>
            <a:endParaRPr lang="en-US" sz="2000" b="1"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p>
            <a:pPr marL="342900" lvl="0" indent="-342900">
              <a:lnSpc>
                <a:spcPct val="115000"/>
              </a:lnSpc>
              <a:buSzPts val="1000"/>
              <a:buFont typeface="Symbol" panose="05050102010706020507" pitchFamily="18" charset="2"/>
              <a:buChar char=""/>
              <a:tabLst>
                <a:tab pos="457200" algn="l"/>
              </a:tabLst>
            </a:pPr>
            <a:r>
              <a:rPr lang="el-GR" sz="2000"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rPr>
              <a:t>Issues:</a:t>
            </a:r>
          </a:p>
          <a:p>
            <a:pPr marL="742950" lvl="1" indent="-285750">
              <a:lnSpc>
                <a:spcPct val="115000"/>
              </a:lnSpc>
              <a:buSzPts val="1000"/>
              <a:buFont typeface="Courier New" panose="02070309020205020404" pitchFamily="49" charset="0"/>
              <a:buChar char="o"/>
              <a:tabLst>
                <a:tab pos="914400" algn="l"/>
              </a:tabLst>
            </a:pPr>
            <a:r>
              <a:rPr lang="el-GR" sz="2000"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rPr>
              <a:t>Divergent </a:t>
            </a:r>
            <a:r>
              <a:rPr lang="el-GR" sz="2000" b="1"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rPr>
              <a:t>field names</a:t>
            </a:r>
            <a:endParaRPr lang="el-GR" sz="2000"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15000"/>
              </a:lnSpc>
              <a:buSzPts val="1000"/>
              <a:buFont typeface="Courier New" panose="02070309020205020404" pitchFamily="49" charset="0"/>
              <a:buChar char="o"/>
              <a:tabLst>
                <a:tab pos="914400" algn="l"/>
              </a:tabLst>
            </a:pPr>
            <a:r>
              <a:rPr lang="el-GR" sz="2000"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rPr>
              <a:t>Varying </a:t>
            </a:r>
            <a:r>
              <a:rPr lang="el-GR" sz="2000" b="1"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rPr>
              <a:t>decimal precision tolerance</a:t>
            </a:r>
            <a:endParaRPr lang="el-GR" sz="2000"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15000"/>
              </a:lnSpc>
              <a:buSzPts val="1000"/>
              <a:buFont typeface="Courier New" panose="02070309020205020404" pitchFamily="49" charset="0"/>
              <a:buChar char="o"/>
              <a:tabLst>
                <a:tab pos="914400" algn="l"/>
              </a:tabLst>
            </a:pPr>
            <a:r>
              <a:rPr lang="en-US" sz="2000" b="1"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rPr>
              <a:t>Code lists</a:t>
            </a:r>
            <a:r>
              <a:rPr lang="en-US" sz="2000"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rPr>
              <a:t> applied (species, gears, GSAs)</a:t>
            </a:r>
            <a:endParaRPr lang="el-GR" sz="2000"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endParaRPr>
          </a:p>
          <a:p>
            <a:pPr marL="742950" lvl="1" indent="-285750">
              <a:lnSpc>
                <a:spcPct val="115000"/>
              </a:lnSpc>
              <a:buSzPts val="1000"/>
              <a:buFont typeface="Courier New" panose="02070309020205020404" pitchFamily="49" charset="0"/>
              <a:buChar char="o"/>
              <a:tabLst>
                <a:tab pos="914400" algn="l"/>
              </a:tabLst>
            </a:pPr>
            <a:r>
              <a:rPr lang="en-US" sz="2000"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rPr>
              <a:t>Different </a:t>
            </a:r>
            <a:r>
              <a:rPr lang="en-US" sz="2000" b="1"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rPr>
              <a:t>syntactic rules</a:t>
            </a:r>
            <a:endParaRPr lang="el-GR" sz="2000" dirty="0">
              <a:solidFill>
                <a:schemeClr val="bg2">
                  <a:lumMod val="75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21636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6C73609C-E89F-45B0-B681-30BF75532A35}"/>
              </a:ext>
            </a:extLst>
          </p:cNvPr>
          <p:cNvSpPr txBox="1"/>
          <p:nvPr/>
        </p:nvSpPr>
        <p:spPr>
          <a:xfrm>
            <a:off x="539552" y="533400"/>
            <a:ext cx="8064896" cy="5909310"/>
          </a:xfrm>
          <a:prstGeom prst="rect">
            <a:avLst/>
          </a:prstGeom>
          <a:noFill/>
          <a:ln w="6350">
            <a:noFill/>
          </a:ln>
        </p:spPr>
        <p:txBody>
          <a:bodyPr wrap="square">
            <a:spAutoFit/>
          </a:bodyPr>
          <a:lstStyle/>
          <a:p>
            <a:pPr algn="just"/>
            <a:r>
              <a:rPr lang="en-US" sz="1800" b="1" dirty="0">
                <a:solidFill>
                  <a:schemeClr val="bg2">
                    <a:lumMod val="75000"/>
                  </a:schemeClr>
                </a:solidFill>
                <a:latin typeface="Calibri" panose="020F0502020204030204" pitchFamily="34" charset="0"/>
              </a:rPr>
              <a:t>JRC-RDBFIS meeting, 20 November 2025</a:t>
            </a:r>
          </a:p>
          <a:p>
            <a:pPr algn="just"/>
            <a:r>
              <a:rPr lang="en-US" sz="1800" u="sng" dirty="0">
                <a:solidFill>
                  <a:schemeClr val="bg2">
                    <a:lumMod val="75000"/>
                  </a:schemeClr>
                </a:solidFill>
                <a:latin typeface="Calibri" panose="020F0502020204030204" pitchFamily="34" charset="0"/>
              </a:rPr>
              <a:t>Objective:</a:t>
            </a:r>
            <a:r>
              <a:rPr lang="en-US" sz="1800" dirty="0">
                <a:solidFill>
                  <a:schemeClr val="bg2">
                    <a:lumMod val="75000"/>
                  </a:schemeClr>
                </a:solidFill>
                <a:latin typeface="Calibri" panose="020F0502020204030204" pitchFamily="34" charset="0"/>
              </a:rPr>
              <a:t> To review and align the technical aspects and data validation rules between RDBFIS and JRC systems, ensuring consistency, interoperability, and accurate data exchange under the DCF / Med&amp;BS datacall framework.</a:t>
            </a:r>
          </a:p>
          <a:p>
            <a:pPr algn="just"/>
            <a:endParaRPr lang="en-US" sz="1800" u="sng" dirty="0">
              <a:solidFill>
                <a:schemeClr val="bg2">
                  <a:lumMod val="75000"/>
                </a:schemeClr>
              </a:solidFill>
              <a:latin typeface="Calibri" panose="020F0502020204030204" pitchFamily="34" charset="0"/>
            </a:endParaRPr>
          </a:p>
          <a:p>
            <a:pPr algn="just"/>
            <a:r>
              <a:rPr lang="en-US" sz="1800" u="sng" dirty="0">
                <a:solidFill>
                  <a:schemeClr val="bg2">
                    <a:lumMod val="75000"/>
                  </a:schemeClr>
                </a:solidFill>
                <a:latin typeface="Calibri" panose="020F0502020204030204" pitchFamily="34" charset="0"/>
              </a:rPr>
              <a:t>Main topics</a:t>
            </a:r>
          </a:p>
          <a:p>
            <a:pPr marL="539750" lvl="3" indent="-285750" algn="just">
              <a:buFont typeface="Arial" panose="020B0604020202020204" pitchFamily="34" charset="0"/>
              <a:buChar char="•"/>
            </a:pPr>
            <a:r>
              <a:rPr lang="en-US" sz="1800" dirty="0">
                <a:solidFill>
                  <a:schemeClr val="bg2">
                    <a:lumMod val="75000"/>
                  </a:schemeClr>
                </a:solidFill>
                <a:latin typeface="Calibri" panose="020F0502020204030204" pitchFamily="34" charset="0"/>
              </a:rPr>
              <a:t>Coding Systems and Species Lists</a:t>
            </a:r>
          </a:p>
          <a:p>
            <a:pPr marL="539750" lvl="3" indent="-285750" algn="just">
              <a:buFont typeface="Arial" panose="020B0604020202020204" pitchFamily="34" charset="0"/>
              <a:buChar char="•"/>
            </a:pPr>
            <a:r>
              <a:rPr lang="en-US" sz="1800" dirty="0">
                <a:solidFill>
                  <a:schemeClr val="bg2">
                    <a:lumMod val="75000"/>
                  </a:schemeClr>
                </a:solidFill>
                <a:latin typeface="Calibri" panose="020F0502020204030204" pitchFamily="34" charset="0"/>
              </a:rPr>
              <a:t>Validation Rules and Numerical Precision</a:t>
            </a:r>
          </a:p>
          <a:p>
            <a:pPr marL="539750" lvl="3" indent="-285750" algn="just">
              <a:buFont typeface="Arial" panose="020B0604020202020204" pitchFamily="34" charset="0"/>
              <a:buChar char="•"/>
            </a:pPr>
            <a:r>
              <a:rPr lang="en-US" sz="1800" dirty="0">
                <a:solidFill>
                  <a:schemeClr val="bg2">
                    <a:lumMod val="75000"/>
                  </a:schemeClr>
                </a:solidFill>
                <a:latin typeface="Calibri" panose="020F0502020204030204" pitchFamily="34" charset="0"/>
              </a:rPr>
              <a:t>ANNEX 1 Update</a:t>
            </a:r>
          </a:p>
          <a:p>
            <a:pPr marL="539750" lvl="3" indent="-285750" algn="just">
              <a:buFont typeface="Arial" panose="020B0604020202020204" pitchFamily="34" charset="0"/>
              <a:buChar char="•"/>
            </a:pPr>
            <a:r>
              <a:rPr lang="en-US" sz="1800" dirty="0">
                <a:solidFill>
                  <a:schemeClr val="bg2">
                    <a:lumMod val="75000"/>
                  </a:schemeClr>
                </a:solidFill>
                <a:latin typeface="Calibri" panose="020F0502020204030204" pitchFamily="34" charset="0"/>
              </a:rPr>
              <a:t>MEDITS-Specific Harmonization Issues</a:t>
            </a:r>
          </a:p>
          <a:p>
            <a:pPr marL="539750" lvl="3" indent="-285750" algn="just">
              <a:buFont typeface="Arial" panose="020B0604020202020204" pitchFamily="34" charset="0"/>
              <a:buChar char="•"/>
            </a:pPr>
            <a:r>
              <a:rPr lang="en-US" sz="1800" dirty="0">
                <a:solidFill>
                  <a:schemeClr val="bg2">
                    <a:lumMod val="75000"/>
                  </a:schemeClr>
                </a:solidFill>
                <a:latin typeface="Calibri" panose="020F0502020204030204" pitchFamily="34" charset="0"/>
              </a:rPr>
              <a:t>Next Steps and Coordination</a:t>
            </a:r>
          </a:p>
          <a:p>
            <a:pPr algn="just"/>
            <a:endParaRPr lang="en-US" sz="1800" dirty="0">
              <a:solidFill>
                <a:schemeClr val="bg2">
                  <a:lumMod val="75000"/>
                </a:schemeClr>
              </a:solidFill>
              <a:latin typeface="Calibri" panose="020F0502020204030204" pitchFamily="34" charset="0"/>
            </a:endParaRPr>
          </a:p>
          <a:p>
            <a:pPr algn="just"/>
            <a:r>
              <a:rPr lang="en-US" sz="1800" u="sng" dirty="0">
                <a:solidFill>
                  <a:schemeClr val="bg2">
                    <a:lumMod val="75000"/>
                  </a:schemeClr>
                </a:solidFill>
                <a:latin typeface="Calibri" panose="020F0502020204030204" pitchFamily="34" charset="0"/>
              </a:rPr>
              <a:t>Actions implemented following the meeting</a:t>
            </a:r>
            <a:r>
              <a:rPr lang="en-US" sz="1800" dirty="0">
                <a:solidFill>
                  <a:schemeClr val="bg2">
                    <a:lumMod val="75000"/>
                  </a:schemeClr>
                </a:solidFill>
                <a:latin typeface="Calibri" panose="020F0502020204030204" pitchFamily="34" charset="0"/>
              </a:rPr>
              <a:t>: </a:t>
            </a:r>
          </a:p>
          <a:p>
            <a:pPr algn="just"/>
            <a:r>
              <a:rPr lang="en-US" sz="1800" dirty="0">
                <a:solidFill>
                  <a:schemeClr val="bg2">
                    <a:lumMod val="75000"/>
                  </a:schemeClr>
                </a:solidFill>
                <a:latin typeface="Calibri" panose="020F0502020204030204" pitchFamily="34" charset="0"/>
              </a:rPr>
              <a:t>The harmonization process between the JRC and RDBFIS databases is nearly complete; a few remaining issues require further discussion and will be included as agenda items for the next meeting.</a:t>
            </a:r>
          </a:p>
          <a:p>
            <a:pPr algn="just"/>
            <a:endParaRPr lang="en-US" sz="1800" dirty="0">
              <a:solidFill>
                <a:schemeClr val="bg2">
                  <a:lumMod val="75000"/>
                </a:schemeClr>
              </a:solidFill>
              <a:latin typeface="Calibri" panose="020F0502020204030204" pitchFamily="34" charset="0"/>
            </a:endParaRPr>
          </a:p>
          <a:p>
            <a:pPr algn="just"/>
            <a:r>
              <a:rPr lang="en-US" sz="1800" dirty="0">
                <a:solidFill>
                  <a:schemeClr val="bg2">
                    <a:lumMod val="75000"/>
                  </a:schemeClr>
                </a:solidFill>
                <a:latin typeface="Calibri" panose="020F0502020204030204" pitchFamily="34" charset="0"/>
              </a:rPr>
              <a:t>Regarding the MEDITS structure and validation rules, these will be addressed at the next meeting with JRC as: (a) the new MEDITS Handbook has been finalised and published, and (b) the outcomes of the meeting between RDBFIS and the MEDITS Chair have been circulated within the MEDITS group for review and agreement.</a:t>
            </a:r>
          </a:p>
        </p:txBody>
      </p:sp>
      <p:sp>
        <p:nvSpPr>
          <p:cNvPr id="43" name="Rectangle 42">
            <a:extLst>
              <a:ext uri="{FF2B5EF4-FFF2-40B4-BE49-F238E27FC236}">
                <a16:creationId xmlns:a16="http://schemas.microsoft.com/office/drawing/2014/main" id="{F67E19A8-BE14-4366-8151-8C8535B05911}"/>
              </a:ext>
            </a:extLst>
          </p:cNvPr>
          <p:cNvSpPr/>
          <p:nvPr/>
        </p:nvSpPr>
        <p:spPr>
          <a:xfrm>
            <a:off x="0" y="0"/>
            <a:ext cx="9144000" cy="400110"/>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System Harmonization across RDBFIS</a:t>
            </a:r>
            <a:r>
              <a:rPr lang="en-US" sz="2000" b="1" dirty="0">
                <a:solidFill>
                  <a:srgbClr val="FFFFFF"/>
                </a:solidFill>
                <a:latin typeface="Calibri Light" pitchFamily="34" charset="0"/>
                <a:cs typeface="Calibri Light" pitchFamily="34" charset="0"/>
              </a:rPr>
              <a:t> and </a:t>
            </a: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JRC (Med&amp;BS datacall)</a:t>
            </a:r>
          </a:p>
        </p:txBody>
      </p:sp>
    </p:spTree>
    <p:extLst>
      <p:ext uri="{BB962C8B-B14F-4D97-AF65-F5344CB8AC3E}">
        <p14:creationId xmlns:p14="http://schemas.microsoft.com/office/powerpoint/2010/main" val="3320619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6C73609C-E89F-45B0-B681-30BF75532A35}"/>
              </a:ext>
            </a:extLst>
          </p:cNvPr>
          <p:cNvSpPr txBox="1"/>
          <p:nvPr/>
        </p:nvSpPr>
        <p:spPr>
          <a:xfrm>
            <a:off x="539552" y="934283"/>
            <a:ext cx="4642048" cy="4247317"/>
          </a:xfrm>
          <a:prstGeom prst="rect">
            <a:avLst/>
          </a:prstGeom>
          <a:noFill/>
          <a:ln w="6350">
            <a:noFill/>
          </a:ln>
        </p:spPr>
        <p:txBody>
          <a:bodyPr wrap="square">
            <a:spAutoFit/>
          </a:bodyPr>
          <a:lstStyle/>
          <a:p>
            <a:pPr algn="just"/>
            <a:r>
              <a:rPr lang="en-US" sz="1800" b="1" dirty="0">
                <a:solidFill>
                  <a:schemeClr val="bg2">
                    <a:lumMod val="75000"/>
                  </a:schemeClr>
                </a:solidFill>
                <a:latin typeface="Calibri" panose="020F0502020204030204" pitchFamily="34" charset="0"/>
              </a:rPr>
              <a:t>GFCM-RDBFIS meeting, 26 November 2025</a:t>
            </a:r>
          </a:p>
          <a:p>
            <a:pPr algn="just"/>
            <a:r>
              <a:rPr lang="en-US" sz="1800" u="sng" dirty="0">
                <a:solidFill>
                  <a:schemeClr val="bg2">
                    <a:lumMod val="75000"/>
                  </a:schemeClr>
                </a:solidFill>
                <a:latin typeface="Calibri" panose="020F0502020204030204" pitchFamily="34" charset="0"/>
              </a:rPr>
              <a:t>Objective:</a:t>
            </a:r>
            <a:r>
              <a:rPr lang="en-US" sz="1800" dirty="0">
                <a:solidFill>
                  <a:schemeClr val="bg2">
                    <a:lumMod val="75000"/>
                  </a:schemeClr>
                </a:solidFill>
                <a:latin typeface="Calibri" panose="020F0502020204030204" pitchFamily="34" charset="0"/>
              </a:rPr>
              <a:t> To address the technical harmonization needs between the GFCM Data Collection Reference Framework (DCRF) and the RDBFIS platform. </a:t>
            </a:r>
          </a:p>
          <a:p>
            <a:pPr algn="just"/>
            <a:endParaRPr lang="en-US" sz="1800" u="sng" dirty="0">
              <a:solidFill>
                <a:schemeClr val="bg2">
                  <a:lumMod val="75000"/>
                </a:schemeClr>
              </a:solidFill>
              <a:latin typeface="Calibri" panose="020F0502020204030204" pitchFamily="34" charset="0"/>
            </a:endParaRPr>
          </a:p>
          <a:p>
            <a:pPr algn="just"/>
            <a:r>
              <a:rPr lang="en-US" sz="1800" u="sng" dirty="0">
                <a:solidFill>
                  <a:schemeClr val="bg2">
                    <a:lumMod val="75000"/>
                  </a:schemeClr>
                </a:solidFill>
                <a:latin typeface="Calibri" panose="020F0502020204030204" pitchFamily="34" charset="0"/>
              </a:rPr>
              <a:t>Main topics</a:t>
            </a:r>
          </a:p>
          <a:p>
            <a:pPr marL="254000" lvl="3" algn="just"/>
            <a:r>
              <a:rPr lang="en-US" sz="1800" dirty="0">
                <a:solidFill>
                  <a:schemeClr val="bg2">
                    <a:lumMod val="75000"/>
                  </a:schemeClr>
                </a:solidFill>
                <a:latin typeface="Calibri" panose="020F0502020204030204" pitchFamily="34" charset="0"/>
              </a:rPr>
              <a:t>Participants from the RDBFIS consortium, DG MARE, and the GFCM Secretariat examined the current integration status, coding systems, data validation processes, spatial inconsistencies in GSA polygons, and upcoming changes in the DCRF structure.</a:t>
            </a:r>
          </a:p>
          <a:p>
            <a:pPr algn="just"/>
            <a:endParaRPr lang="en-US" sz="1800" dirty="0">
              <a:solidFill>
                <a:schemeClr val="bg2">
                  <a:lumMod val="75000"/>
                </a:schemeClr>
              </a:solidFill>
              <a:latin typeface="Calibri" panose="020F0502020204030204" pitchFamily="34" charset="0"/>
            </a:endParaRPr>
          </a:p>
          <a:p>
            <a:pPr algn="just"/>
            <a:r>
              <a:rPr lang="en-US" sz="1800" u="sng" dirty="0">
                <a:solidFill>
                  <a:schemeClr val="bg2">
                    <a:lumMod val="75000"/>
                  </a:schemeClr>
                </a:solidFill>
                <a:latin typeface="Calibri" panose="020F0502020204030204" pitchFamily="34" charset="0"/>
              </a:rPr>
              <a:t>Next meeting:</a:t>
            </a:r>
            <a:r>
              <a:rPr lang="en-US" sz="1800" dirty="0">
                <a:solidFill>
                  <a:schemeClr val="bg2">
                    <a:lumMod val="75000"/>
                  </a:schemeClr>
                </a:solidFill>
                <a:latin typeface="Calibri" panose="020F0502020204030204" pitchFamily="34" charset="0"/>
              </a:rPr>
              <a:t> GFCM will set the date  </a:t>
            </a:r>
            <a:endParaRPr lang="en-US" sz="18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43" name="Rectangle 42">
            <a:extLst>
              <a:ext uri="{FF2B5EF4-FFF2-40B4-BE49-F238E27FC236}">
                <a16:creationId xmlns:a16="http://schemas.microsoft.com/office/drawing/2014/main" id="{F67E19A8-BE14-4366-8151-8C8535B05911}"/>
              </a:ext>
            </a:extLst>
          </p:cNvPr>
          <p:cNvSpPr/>
          <p:nvPr/>
        </p:nvSpPr>
        <p:spPr>
          <a:xfrm>
            <a:off x="0" y="0"/>
            <a:ext cx="9144000" cy="400110"/>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System Harmonization across RDBFIS</a:t>
            </a:r>
            <a:r>
              <a:rPr lang="en-US" sz="2000" b="1" dirty="0">
                <a:solidFill>
                  <a:srgbClr val="FFFFFF"/>
                </a:solidFill>
                <a:latin typeface="Calibri Light" pitchFamily="34" charset="0"/>
                <a:cs typeface="Calibri Light" pitchFamily="34" charset="0"/>
              </a:rPr>
              <a:t> and </a:t>
            </a: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GFCM/DCRF datacalls</a:t>
            </a:r>
          </a:p>
        </p:txBody>
      </p:sp>
      <p:pic>
        <p:nvPicPr>
          <p:cNvPr id="2" name="Picture 1">
            <a:extLst>
              <a:ext uri="{FF2B5EF4-FFF2-40B4-BE49-F238E27FC236}">
                <a16:creationId xmlns:a16="http://schemas.microsoft.com/office/drawing/2014/main" id="{91C67020-BCAD-4AE6-B38D-187F4E09FCA9}"/>
              </a:ext>
            </a:extLst>
          </p:cNvPr>
          <p:cNvPicPr>
            <a:picLocks noChangeAspect="1"/>
          </p:cNvPicPr>
          <p:nvPr/>
        </p:nvPicPr>
        <p:blipFill>
          <a:blip r:embed="rId2"/>
          <a:stretch>
            <a:fillRect/>
          </a:stretch>
        </p:blipFill>
        <p:spPr>
          <a:xfrm>
            <a:off x="5334000" y="762000"/>
            <a:ext cx="3322608" cy="4529721"/>
          </a:xfrm>
          <a:prstGeom prst="rect">
            <a:avLst/>
          </a:prstGeom>
        </p:spPr>
      </p:pic>
    </p:spTree>
    <p:extLst>
      <p:ext uri="{BB962C8B-B14F-4D97-AF65-F5344CB8AC3E}">
        <p14:creationId xmlns:p14="http://schemas.microsoft.com/office/powerpoint/2010/main" val="3565094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6C73609C-E89F-45B0-B681-30BF75532A35}"/>
              </a:ext>
            </a:extLst>
          </p:cNvPr>
          <p:cNvSpPr txBox="1"/>
          <p:nvPr/>
        </p:nvSpPr>
        <p:spPr>
          <a:xfrm>
            <a:off x="539552" y="856595"/>
            <a:ext cx="8064896" cy="4401205"/>
          </a:xfrm>
          <a:prstGeom prst="rect">
            <a:avLst/>
          </a:prstGeom>
          <a:noFill/>
          <a:ln w="6350">
            <a:noFill/>
          </a:ln>
        </p:spPr>
        <p:txBody>
          <a:bodyPr wrap="square">
            <a:spAutoFit/>
          </a:bodyPr>
          <a:lstStyle/>
          <a:p>
            <a:pPr algn="just"/>
            <a:r>
              <a:rPr lang="en-US" sz="1800" b="1" dirty="0">
                <a:solidFill>
                  <a:schemeClr val="bg2">
                    <a:lumMod val="75000"/>
                  </a:schemeClr>
                </a:solidFill>
                <a:latin typeface="Calibri" panose="020F0502020204030204" pitchFamily="34" charset="0"/>
              </a:rPr>
              <a:t>MEDITS Chair and RDBFIS Consortium online meeting, 2 December 2025</a:t>
            </a:r>
          </a:p>
          <a:p>
            <a:pPr algn="just"/>
            <a:r>
              <a:rPr lang="en-US" sz="1800" u="sng" dirty="0">
                <a:solidFill>
                  <a:schemeClr val="bg2">
                    <a:lumMod val="75000"/>
                  </a:schemeClr>
                </a:solidFill>
                <a:latin typeface="Calibri" panose="020F0502020204030204" pitchFamily="34" charset="0"/>
              </a:rPr>
              <a:t>Objective:</a:t>
            </a:r>
            <a:r>
              <a:rPr lang="en-US" sz="1800" dirty="0">
                <a:solidFill>
                  <a:schemeClr val="bg2">
                    <a:lumMod val="75000"/>
                  </a:schemeClr>
                </a:solidFill>
                <a:latin typeface="Calibri" panose="020F0502020204030204" pitchFamily="34" charset="0"/>
              </a:rPr>
              <a:t> Revision of the MEDITS new Handbook and species </a:t>
            </a:r>
            <a:r>
              <a:rPr lang="en-US" dirty="0">
                <a:solidFill>
                  <a:schemeClr val="bg2">
                    <a:lumMod val="75000"/>
                  </a:schemeClr>
                </a:solidFill>
                <a:latin typeface="Calibri" panose="020F0502020204030204" pitchFamily="34" charset="0"/>
              </a:rPr>
              <a:t>l</a:t>
            </a:r>
            <a:r>
              <a:rPr lang="en-US" sz="1800" dirty="0">
                <a:solidFill>
                  <a:schemeClr val="bg2">
                    <a:lumMod val="75000"/>
                  </a:schemeClr>
                </a:solidFill>
                <a:latin typeface="Calibri" panose="020F0502020204030204" pitchFamily="34" charset="0"/>
              </a:rPr>
              <a:t>ist</a:t>
            </a:r>
          </a:p>
          <a:p>
            <a:pPr algn="just"/>
            <a:endParaRPr lang="en-US" sz="1800" u="sng" dirty="0">
              <a:solidFill>
                <a:schemeClr val="bg2">
                  <a:lumMod val="75000"/>
                </a:schemeClr>
              </a:solidFill>
              <a:latin typeface="Calibri" panose="020F0502020204030204" pitchFamily="34" charset="0"/>
            </a:endParaRPr>
          </a:p>
          <a:p>
            <a:pPr algn="just"/>
            <a:r>
              <a:rPr lang="en-US" sz="1800" u="sng" dirty="0">
                <a:solidFill>
                  <a:schemeClr val="bg2">
                    <a:lumMod val="75000"/>
                  </a:schemeClr>
                </a:solidFill>
                <a:latin typeface="Calibri" panose="020F0502020204030204" pitchFamily="34" charset="0"/>
              </a:rPr>
              <a:t>Main topics</a:t>
            </a:r>
          </a:p>
          <a:p>
            <a:pPr algn="just"/>
            <a:r>
              <a:rPr lang="en-US" sz="1800" dirty="0">
                <a:solidFill>
                  <a:schemeClr val="bg2">
                    <a:lumMod val="75000"/>
                  </a:schemeClr>
                </a:solidFill>
                <a:latin typeface="Calibri" panose="020F0502020204030204" pitchFamily="34" charset="0"/>
              </a:rPr>
              <a:t>The discussion focused on: </a:t>
            </a:r>
          </a:p>
          <a:p>
            <a:pPr marL="285750" indent="-285750" algn="just">
              <a:spcAft>
                <a:spcPts val="600"/>
              </a:spcAft>
              <a:buFont typeface="Arial" panose="020B0604020202020204" pitchFamily="34" charset="0"/>
              <a:buChar char="•"/>
            </a:pPr>
            <a:r>
              <a:rPr lang="en-US" dirty="0">
                <a:solidFill>
                  <a:schemeClr val="bg2">
                    <a:lumMod val="75000"/>
                  </a:schemeClr>
                </a:solidFill>
                <a:latin typeface="Calibri" panose="020F0502020204030204" pitchFamily="34" charset="0"/>
              </a:rPr>
              <a:t>assessing</a:t>
            </a:r>
            <a:r>
              <a:rPr lang="en-US" sz="1800" dirty="0">
                <a:solidFill>
                  <a:schemeClr val="bg2">
                    <a:lumMod val="75000"/>
                  </a:schemeClr>
                </a:solidFill>
                <a:latin typeface="Calibri" panose="020F0502020204030204" pitchFamily="34" charset="0"/>
              </a:rPr>
              <a:t> the impact of the changes introduced in the MEDITS data structure on the RDBFIS platform, including the database, </a:t>
            </a:r>
            <a:r>
              <a:rPr lang="en-US" dirty="0">
                <a:solidFill>
                  <a:schemeClr val="bg2">
                    <a:lumMod val="75000"/>
                  </a:schemeClr>
                </a:solidFill>
                <a:latin typeface="Calibri" panose="020F0502020204030204" pitchFamily="34" charset="0"/>
              </a:rPr>
              <a:t>the integrated R packages (RoME</a:t>
            </a:r>
            <a:r>
              <a:rPr lang="en-US" sz="1800" dirty="0">
                <a:solidFill>
                  <a:schemeClr val="bg2">
                    <a:lumMod val="75000"/>
                  </a:schemeClr>
                </a:solidFill>
                <a:latin typeface="Calibri" panose="020F0502020204030204" pitchFamily="34" charset="0"/>
              </a:rPr>
              <a:t>, BioIndex, and RDBQC), the backend, frontend, and validation schema (</a:t>
            </a:r>
            <a:r>
              <a:rPr lang="en-US" sz="1600" i="1"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reordering of the column NUMBER_OF_THE_STRATUM in table TA, removal of the columns CODEND_CLOSING and PART_OF_THE_CODEND from tables TA and TB, addition of new columns-STATION_NUMBER and DOOR_OPENING to table TA</a:t>
            </a:r>
            <a:r>
              <a:rPr lang="en-US" sz="1800" dirty="0">
                <a:solidFill>
                  <a:schemeClr val="bg2">
                    <a:lumMod val="75000"/>
                  </a:schemeClr>
                </a:solidFill>
                <a:latin typeface="Calibri" panose="020F0502020204030204" pitchFamily="34" charset="0"/>
              </a:rPr>
              <a:t>);</a:t>
            </a:r>
            <a:endParaRPr lang="en-US" dirty="0">
              <a:solidFill>
                <a:schemeClr val="bg2">
                  <a:lumMod val="75000"/>
                </a:schemeClr>
              </a:solidFill>
              <a:latin typeface="Calibri" panose="020F0502020204030204" pitchFamily="34" charset="0"/>
            </a:endParaRPr>
          </a:p>
          <a:p>
            <a:pPr marL="285750" indent="-285750" algn="just">
              <a:spcAft>
                <a:spcPts val="600"/>
              </a:spcAft>
              <a:buFont typeface="Arial" panose="020B0604020202020204" pitchFamily="34" charset="0"/>
              <a:buChar char="•"/>
            </a:pPr>
            <a:r>
              <a:rPr lang="en-US" sz="1800" dirty="0">
                <a:solidFill>
                  <a:schemeClr val="bg2">
                    <a:lumMod val="75000"/>
                  </a:schemeClr>
                </a:solidFill>
                <a:latin typeface="Calibri" panose="020F0502020204030204" pitchFamily="34" charset="0"/>
              </a:rPr>
              <a:t>Matching of the MEDITS TM species list with </a:t>
            </a:r>
            <a:r>
              <a:rPr lang="en-US" sz="1800" dirty="0" err="1">
                <a:solidFill>
                  <a:schemeClr val="bg2">
                    <a:lumMod val="75000"/>
                  </a:schemeClr>
                </a:solidFill>
                <a:latin typeface="Calibri" panose="020F0502020204030204" pitchFamily="34" charset="0"/>
              </a:rPr>
              <a:t>WoRMS</a:t>
            </a:r>
            <a:r>
              <a:rPr lang="en-US" sz="1800" dirty="0">
                <a:solidFill>
                  <a:schemeClr val="bg2">
                    <a:lumMod val="75000"/>
                  </a:schemeClr>
                </a:solidFill>
                <a:latin typeface="Calibri" panose="020F0502020204030204" pitchFamily="34" charset="0"/>
              </a:rPr>
              <a:t> and ASFIS.</a:t>
            </a:r>
          </a:p>
          <a:p>
            <a:pPr algn="just"/>
            <a:endParaRPr lang="en-US" sz="1800" dirty="0">
              <a:solidFill>
                <a:schemeClr val="bg2">
                  <a:lumMod val="75000"/>
                </a:schemeClr>
              </a:solidFill>
              <a:latin typeface="Calibri" panose="020F0502020204030204" pitchFamily="34" charset="0"/>
            </a:endParaRPr>
          </a:p>
          <a:p>
            <a:pPr algn="just"/>
            <a:r>
              <a:rPr lang="en-US" sz="1800" u="sng" dirty="0">
                <a:solidFill>
                  <a:schemeClr val="bg2">
                    <a:lumMod val="75000"/>
                  </a:schemeClr>
                </a:solidFill>
                <a:latin typeface="Calibri" panose="020F0502020204030204" pitchFamily="34" charset="0"/>
              </a:rPr>
              <a:t>Actions:</a:t>
            </a:r>
            <a:r>
              <a:rPr lang="en-US" sz="1800" dirty="0">
                <a:solidFill>
                  <a:schemeClr val="bg2">
                    <a:lumMod val="75000"/>
                  </a:schemeClr>
                </a:solidFill>
                <a:latin typeface="Calibri" panose="020F0502020204030204" pitchFamily="34" charset="0"/>
              </a:rPr>
              <a:t> the outcomes of the meeting has been circulated within the MEDITS group for review and agreement. </a:t>
            </a:r>
          </a:p>
        </p:txBody>
      </p:sp>
      <p:sp>
        <p:nvSpPr>
          <p:cNvPr id="43" name="Rectangle 42">
            <a:extLst>
              <a:ext uri="{FF2B5EF4-FFF2-40B4-BE49-F238E27FC236}">
                <a16:creationId xmlns:a16="http://schemas.microsoft.com/office/drawing/2014/main" id="{F67E19A8-BE14-4366-8151-8C8535B05911}"/>
              </a:ext>
            </a:extLst>
          </p:cNvPr>
          <p:cNvSpPr/>
          <p:nvPr/>
        </p:nvSpPr>
        <p:spPr>
          <a:xfrm>
            <a:off x="0" y="0"/>
            <a:ext cx="9144000" cy="400110"/>
          </a:xfrm>
          <a:prstGeom prst="rect">
            <a:avLst/>
          </a:prstGeom>
          <a:solidFill>
            <a:schemeClr val="bg2">
              <a:lumMod val="75000"/>
            </a:schemeClr>
          </a:solidFill>
          <a:ln w="6350">
            <a:noFill/>
          </a:ln>
        </p:spPr>
        <p:txBody>
          <a:bodyPr wrap="square">
            <a:spAutoFit/>
          </a:bodyPr>
          <a:lstStyle/>
          <a:p>
            <a:pPr lvl="0" algn="ctr">
              <a:buClr>
                <a:srgbClr val="000000"/>
              </a:buClr>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Harmonization </a:t>
            </a:r>
            <a:r>
              <a:rPr lang="en-US" sz="2000" b="1" kern="0" dirty="0">
                <a:solidFill>
                  <a:srgbClr val="FFFFFF"/>
                </a:solidFill>
                <a:latin typeface="Calibri Light" pitchFamily="34" charset="0"/>
                <a:cs typeface="Calibri Light" pitchFamily="34" charset="0"/>
                <a:sym typeface="Arial"/>
              </a:rPr>
              <a:t>among RDBFIS and MEDITS</a:t>
            </a:r>
            <a:endPar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endParaRPr>
          </a:p>
        </p:txBody>
      </p:sp>
    </p:spTree>
    <p:extLst>
      <p:ext uri="{BB962C8B-B14F-4D97-AF65-F5344CB8AC3E}">
        <p14:creationId xmlns:p14="http://schemas.microsoft.com/office/powerpoint/2010/main" val="2963775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6C73609C-E89F-45B0-B681-30BF75532A35}"/>
              </a:ext>
            </a:extLst>
          </p:cNvPr>
          <p:cNvSpPr txBox="1"/>
          <p:nvPr/>
        </p:nvSpPr>
        <p:spPr>
          <a:xfrm>
            <a:off x="469504" y="533400"/>
            <a:ext cx="8217296" cy="5909310"/>
          </a:xfrm>
          <a:prstGeom prst="rect">
            <a:avLst/>
          </a:prstGeom>
          <a:noFill/>
          <a:ln w="6350">
            <a:noFill/>
          </a:ln>
        </p:spPr>
        <p:txBody>
          <a:bodyPr wrap="square">
            <a:spAutoFit/>
          </a:bodyPr>
          <a:lstStyle/>
          <a:p>
            <a:pPr algn="just"/>
            <a:r>
              <a:rPr lang="en-US" dirty="0">
                <a:solidFill>
                  <a:schemeClr val="bg2">
                    <a:lumMod val="75000"/>
                  </a:schemeClr>
                </a:solidFill>
                <a:latin typeface="Calibri" panose="020F0502020204030204" pitchFamily="34" charset="0"/>
              </a:rPr>
              <a:t>RDBFIS supports advanced data extraction through filtering and query-building functionalities, enabling users to retrieve subsets of data based on specific criteria, without the need to download complete datasets. This facilitates efficient access, extraction, and sharing of data by the Med&amp;BS RCG, NCs and other authorized users. In contrast, while the JRC system allows data downloads, it does not currently support filtering or query capabilities.</a:t>
            </a:r>
          </a:p>
          <a:p>
            <a:pPr algn="just"/>
            <a:endParaRPr lang="en-US" dirty="0">
              <a:solidFill>
                <a:schemeClr val="bg2">
                  <a:lumMod val="75000"/>
                </a:schemeClr>
              </a:solidFill>
              <a:latin typeface="Calibri" panose="020F0502020204030204" pitchFamily="34" charset="0"/>
            </a:endParaRPr>
          </a:p>
          <a:p>
            <a:pPr algn="just"/>
            <a:r>
              <a:rPr lang="en-US" dirty="0">
                <a:solidFill>
                  <a:schemeClr val="bg2">
                    <a:lumMod val="75000"/>
                  </a:schemeClr>
                </a:solidFill>
                <a:latin typeface="Calibri" panose="020F0502020204030204" pitchFamily="34" charset="0"/>
              </a:rPr>
              <a:t>This functionality within RDBFIS significantly enhances efficiency in handling large datasets, improves usability for scientific analysis and modelling workflows, and increases flexibility for MS and research groups. Given that these datasets are frequently used in collaborative research contexts, including the formation of consortia and the preparation of project proposals, ensuring consistency across platforms is of critical importance.</a:t>
            </a:r>
          </a:p>
          <a:p>
            <a:pPr algn="just"/>
            <a:endParaRPr lang="en-US" dirty="0">
              <a:solidFill>
                <a:schemeClr val="bg2">
                  <a:lumMod val="75000"/>
                </a:schemeClr>
              </a:solidFill>
              <a:latin typeface="Calibri" panose="020F0502020204030204" pitchFamily="34" charset="0"/>
            </a:endParaRPr>
          </a:p>
          <a:p>
            <a:pPr algn="just"/>
            <a:r>
              <a:rPr lang="en-US" dirty="0">
                <a:solidFill>
                  <a:schemeClr val="bg2">
                    <a:lumMod val="75000"/>
                  </a:schemeClr>
                </a:solidFill>
                <a:latin typeface="Calibri" panose="020F0502020204030204" pitchFamily="34" charset="0"/>
              </a:rPr>
              <a:t>Beyond analytical applications, maintaining identical datasets is equally important for supporting downstream outputs such as reports, scientific publications, management plans, stock assessment models and spatial analyses (e.g. mapping activities).</a:t>
            </a:r>
          </a:p>
          <a:p>
            <a:pPr algn="just"/>
            <a:endParaRPr lang="en-US" dirty="0">
              <a:solidFill>
                <a:schemeClr val="bg2">
                  <a:lumMod val="75000"/>
                </a:schemeClr>
              </a:solidFill>
              <a:latin typeface="Calibri" panose="020F0502020204030204" pitchFamily="34" charset="0"/>
            </a:endParaRPr>
          </a:p>
          <a:p>
            <a:pPr algn="just"/>
            <a:r>
              <a:rPr lang="en-US" b="1" i="1" dirty="0">
                <a:solidFill>
                  <a:schemeClr val="bg2">
                    <a:lumMod val="75000"/>
                  </a:schemeClr>
                </a:solidFill>
                <a:latin typeface="Calibri Light" panose="020F0302020204030204" pitchFamily="34" charset="0"/>
                <a:ea typeface="Calibri Light" panose="020F0302020204030204" pitchFamily="34" charset="0"/>
                <a:cs typeface="Calibri Light" panose="020F0302020204030204" pitchFamily="34" charset="0"/>
              </a:rPr>
              <a:t>In conclusion, it is essential to guarantee that, regardless of the platform used (RDBFIS or JRC), the datasets retrieved are fully consistent and identical.</a:t>
            </a:r>
          </a:p>
          <a:p>
            <a:pPr algn="just"/>
            <a:endParaRPr lang="en-US" dirty="0">
              <a:solidFill>
                <a:schemeClr val="bg2">
                  <a:lumMod val="75000"/>
                </a:schemeClr>
              </a:solidFill>
              <a:latin typeface="Calibri" panose="020F0502020204030204" pitchFamily="34" charset="0"/>
            </a:endParaRPr>
          </a:p>
        </p:txBody>
      </p:sp>
      <p:sp>
        <p:nvSpPr>
          <p:cNvPr id="43" name="Rectangle 42">
            <a:extLst>
              <a:ext uri="{FF2B5EF4-FFF2-40B4-BE49-F238E27FC236}">
                <a16:creationId xmlns:a16="http://schemas.microsoft.com/office/drawing/2014/main" id="{F67E19A8-BE14-4366-8151-8C8535B05911}"/>
              </a:ext>
            </a:extLst>
          </p:cNvPr>
          <p:cNvSpPr/>
          <p:nvPr/>
        </p:nvSpPr>
        <p:spPr>
          <a:xfrm>
            <a:off x="0" y="0"/>
            <a:ext cx="9144000" cy="400110"/>
          </a:xfrm>
          <a:prstGeom prst="rect">
            <a:avLst/>
          </a:prstGeom>
          <a:solidFill>
            <a:schemeClr val="bg2">
              <a:lumMod val="75000"/>
            </a:schemeClr>
          </a:solidFill>
          <a:ln w="6350">
            <a:noFill/>
          </a:ln>
        </p:spPr>
        <p:txBody>
          <a:bodyPr wrap="square">
            <a:spAutoFit/>
          </a:bodyPr>
          <a:lstStyle/>
          <a:p>
            <a:pPr lvl="0" algn="ctr">
              <a:buClr>
                <a:srgbClr val="000000"/>
              </a:buClr>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Identical data sets between RDBFIS and JRC</a:t>
            </a:r>
          </a:p>
        </p:txBody>
      </p:sp>
    </p:spTree>
    <p:extLst>
      <p:ext uri="{BB962C8B-B14F-4D97-AF65-F5344CB8AC3E}">
        <p14:creationId xmlns:p14="http://schemas.microsoft.com/office/powerpoint/2010/main" val="151835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6C73609C-E89F-45B0-B681-30BF75532A35}"/>
              </a:ext>
            </a:extLst>
          </p:cNvPr>
          <p:cNvSpPr txBox="1"/>
          <p:nvPr/>
        </p:nvSpPr>
        <p:spPr>
          <a:xfrm>
            <a:off x="539552" y="908720"/>
            <a:ext cx="8064896" cy="4708981"/>
          </a:xfrm>
          <a:prstGeom prst="rect">
            <a:avLst/>
          </a:prstGeom>
          <a:noFill/>
          <a:ln w="6350">
            <a:noFill/>
          </a:ln>
        </p:spPr>
        <p:txBody>
          <a:bodyPr wrap="square">
            <a:spAutoFit/>
          </a:bodyPr>
          <a:lstStyle/>
          <a:p>
            <a:pPr algn="just"/>
            <a:r>
              <a:rPr lang="en-US" sz="20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AIM: Populate the RDBFIS with data</a:t>
            </a:r>
          </a:p>
          <a:p>
            <a:pPr algn="just"/>
            <a:br>
              <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br>
            <a:r>
              <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The population of the RDBFIS with data began in December 2023. Following a data call, the JRC provided to the consortium the requested time series (2002–2022) covering aggregated and MEDITS datasets. Other data calls relate to the submission of historical detailed biological data, as well as MEDIAS acoustic processing data, pelagic trawl and CTD raw data.</a:t>
            </a:r>
          </a:p>
          <a:p>
            <a:pPr algn="just"/>
            <a:endPar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Member States were invited to upload their data into the RDBFIS, performing syntax and validation checks prior to submission. During this process, several MS modified their datasets. </a:t>
            </a:r>
          </a:p>
          <a:p>
            <a:pPr algn="just"/>
            <a:endPar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Further considerations include scenarios in which a MS may request the resubmission of data (e.g. Croatia, Italy, Greece), as well as the import of MEDITS datasets for the period 1994–2001.</a:t>
            </a:r>
          </a:p>
        </p:txBody>
      </p:sp>
      <p:sp>
        <p:nvSpPr>
          <p:cNvPr id="43" name="Rectangle 42">
            <a:extLst>
              <a:ext uri="{FF2B5EF4-FFF2-40B4-BE49-F238E27FC236}">
                <a16:creationId xmlns:a16="http://schemas.microsoft.com/office/drawing/2014/main" id="{F67E19A8-BE14-4366-8151-8C8535B05911}"/>
              </a:ext>
            </a:extLst>
          </p:cNvPr>
          <p:cNvSpPr/>
          <p:nvPr/>
        </p:nvSpPr>
        <p:spPr>
          <a:xfrm>
            <a:off x="0" y="0"/>
            <a:ext cx="9144000" cy="400110"/>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RDBFIS datacalls</a:t>
            </a:r>
          </a:p>
        </p:txBody>
      </p:sp>
    </p:spTree>
    <p:extLst>
      <p:ext uri="{BB962C8B-B14F-4D97-AF65-F5344CB8AC3E}">
        <p14:creationId xmlns:p14="http://schemas.microsoft.com/office/powerpoint/2010/main" val="432856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F67E19A8-BE14-4366-8151-8C8535B05911}"/>
              </a:ext>
            </a:extLst>
          </p:cNvPr>
          <p:cNvSpPr/>
          <p:nvPr/>
        </p:nvSpPr>
        <p:spPr>
          <a:xfrm>
            <a:off x="0" y="0"/>
            <a:ext cx="9144000" cy="707886"/>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Data call for acoustics, pelagic trawl and CTD data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collected from 2024 surveys in the Med&amp;BS</a:t>
            </a:r>
          </a:p>
        </p:txBody>
      </p:sp>
      <p:pic>
        <p:nvPicPr>
          <p:cNvPr id="3" name="Picture 2">
            <a:extLst>
              <a:ext uri="{FF2B5EF4-FFF2-40B4-BE49-F238E27FC236}">
                <a16:creationId xmlns:a16="http://schemas.microsoft.com/office/drawing/2014/main" id="{2BBF6A2B-EA4F-469D-B250-79BF02C2A60D}"/>
              </a:ext>
            </a:extLst>
          </p:cNvPr>
          <p:cNvPicPr>
            <a:picLocks noChangeAspect="1"/>
          </p:cNvPicPr>
          <p:nvPr/>
        </p:nvPicPr>
        <p:blipFill>
          <a:blip r:embed="rId2"/>
          <a:stretch>
            <a:fillRect/>
          </a:stretch>
        </p:blipFill>
        <p:spPr>
          <a:xfrm>
            <a:off x="3909016" y="836712"/>
            <a:ext cx="5006384" cy="5825370"/>
          </a:xfrm>
          <a:prstGeom prst="rect">
            <a:avLst/>
          </a:prstGeom>
        </p:spPr>
      </p:pic>
      <p:sp>
        <p:nvSpPr>
          <p:cNvPr id="7" name="TextBox 6">
            <a:extLst>
              <a:ext uri="{FF2B5EF4-FFF2-40B4-BE49-F238E27FC236}">
                <a16:creationId xmlns:a16="http://schemas.microsoft.com/office/drawing/2014/main" id="{6F8D5471-CF14-4FD1-AADD-A784607CDD31}"/>
              </a:ext>
            </a:extLst>
          </p:cNvPr>
          <p:cNvSpPr txBox="1"/>
          <p:nvPr/>
        </p:nvSpPr>
        <p:spPr>
          <a:xfrm>
            <a:off x="457200" y="1143000"/>
            <a:ext cx="3429000" cy="5078313"/>
          </a:xfrm>
          <a:prstGeom prst="rect">
            <a:avLst/>
          </a:prstGeom>
          <a:noFill/>
        </p:spPr>
        <p:txBody>
          <a:bodyPr wrap="square">
            <a:spAutoFit/>
          </a:bodyPr>
          <a:lstStyle/>
          <a:p>
            <a:pPr algn="just"/>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Aim: to populate the system with relevant datasets collected during 2024 MEDIAS survey (deadline </a:t>
            </a:r>
            <a:r>
              <a:rPr lang="en-US"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17/3/2026)</a:t>
            </a:r>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a:t>
            </a:r>
          </a:p>
          <a:p>
            <a:pPr algn="just"/>
            <a:endPar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The RDBFIS consortium was available during the whole period of the data call arranged bilateral meetings, to facilitate the process, demonstrated the different tools in place and solved any issues that </a:t>
            </a:r>
            <a:r>
              <a:rPr lang="en-US" dirty="0" err="1">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arised</a:t>
            </a:r>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a:t>
            </a:r>
          </a:p>
          <a:p>
            <a:pPr algn="just"/>
            <a:endPar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Discussion during the MEDIAS Annual Meeting (end of April 2026) on identifying the most appropriate time of the year to launch the data call …</a:t>
            </a:r>
          </a:p>
        </p:txBody>
      </p:sp>
    </p:spTree>
    <p:extLst>
      <p:ext uri="{BB962C8B-B14F-4D97-AF65-F5344CB8AC3E}">
        <p14:creationId xmlns:p14="http://schemas.microsoft.com/office/powerpoint/2010/main" val="2939508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F67E19A8-BE14-4366-8151-8C8535B05911}"/>
              </a:ext>
            </a:extLst>
          </p:cNvPr>
          <p:cNvSpPr/>
          <p:nvPr/>
        </p:nvSpPr>
        <p:spPr>
          <a:xfrm>
            <a:off x="0" y="0"/>
            <a:ext cx="9144000" cy="400110"/>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Data call for </a:t>
            </a:r>
            <a:r>
              <a:rPr lang="en-US" sz="2000" b="1" dirty="0">
                <a:solidFill>
                  <a:srgbClr val="FFFFFF"/>
                </a:solidFill>
                <a:latin typeface="Calibri Light" pitchFamily="34" charset="0"/>
                <a:cs typeface="Calibri Light" pitchFamily="34" charset="0"/>
              </a:rPr>
              <a:t>sampling (CS) and landings (CL) </a:t>
            </a: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data</a:t>
            </a:r>
          </a:p>
        </p:txBody>
      </p:sp>
      <p:sp>
        <p:nvSpPr>
          <p:cNvPr id="7" name="TextBox 6">
            <a:extLst>
              <a:ext uri="{FF2B5EF4-FFF2-40B4-BE49-F238E27FC236}">
                <a16:creationId xmlns:a16="http://schemas.microsoft.com/office/drawing/2014/main" id="{6F8D5471-CF14-4FD1-AADD-A784607CDD31}"/>
              </a:ext>
            </a:extLst>
          </p:cNvPr>
          <p:cNvSpPr txBox="1"/>
          <p:nvPr/>
        </p:nvSpPr>
        <p:spPr>
          <a:xfrm>
            <a:off x="395536" y="1844824"/>
            <a:ext cx="3389838" cy="4524315"/>
          </a:xfrm>
          <a:prstGeom prst="rect">
            <a:avLst/>
          </a:prstGeom>
          <a:noFill/>
        </p:spPr>
        <p:txBody>
          <a:bodyPr wrap="square">
            <a:spAutoFit/>
          </a:bodyPr>
          <a:lstStyle/>
          <a:p>
            <a:pPr algn="just"/>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Aim: to populate the RDBFIS with sampling (detailed biological data) and aggregated landings data collected under the Data Collection Framework (DCF) during the 2025 implementation period. </a:t>
            </a:r>
          </a:p>
          <a:p>
            <a:pPr algn="just"/>
            <a:endPar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Discussion on identifying the most appropriate time of the year to launch the data call </a:t>
            </a:r>
          </a:p>
          <a:p>
            <a:pPr algn="just"/>
            <a:endPar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suggest</a:t>
            </a:r>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 30 calendar days before the official Med&amp;BS and FDI datacalls </a:t>
            </a:r>
          </a:p>
          <a:p>
            <a:pPr algn="just"/>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 </a:t>
            </a:r>
            <a:endParaRPr lang="el-GR"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7B54B0EA-34A0-4F17-8E56-5E1A58F26D04}"/>
              </a:ext>
            </a:extLst>
          </p:cNvPr>
          <p:cNvPicPr>
            <a:picLocks noChangeAspect="1"/>
          </p:cNvPicPr>
          <p:nvPr/>
        </p:nvPicPr>
        <p:blipFill>
          <a:blip r:embed="rId2"/>
          <a:stretch>
            <a:fillRect/>
          </a:stretch>
        </p:blipFill>
        <p:spPr>
          <a:xfrm>
            <a:off x="4167214" y="1196752"/>
            <a:ext cx="4437234" cy="4750324"/>
          </a:xfrm>
          <a:prstGeom prst="rect">
            <a:avLst/>
          </a:prstGeom>
          <a:ln w="3175">
            <a:solidFill>
              <a:schemeClr val="bg2"/>
            </a:solidFill>
          </a:ln>
        </p:spPr>
      </p:pic>
    </p:spTree>
    <p:extLst>
      <p:ext uri="{BB962C8B-B14F-4D97-AF65-F5344CB8AC3E}">
        <p14:creationId xmlns:p14="http://schemas.microsoft.com/office/powerpoint/2010/main" val="4031378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F67E19A8-BE14-4366-8151-8C8535B05911}"/>
              </a:ext>
            </a:extLst>
          </p:cNvPr>
          <p:cNvSpPr/>
          <p:nvPr/>
        </p:nvSpPr>
        <p:spPr>
          <a:xfrm>
            <a:off x="0" y="0"/>
            <a:ext cx="9144000" cy="400110"/>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dirty="0">
                <a:solidFill>
                  <a:srgbClr val="FFFFFF"/>
                </a:solidFill>
                <a:latin typeface="Calibri Light" pitchFamily="34" charset="0"/>
                <a:cs typeface="Calibri Light" pitchFamily="34" charset="0"/>
              </a:rPr>
              <a:t>M</a:t>
            </a:r>
            <a:r>
              <a:rPr kumimoji="0" lang="en-US" sz="2000" b="1" i="0" u="none" strike="noStrike" kern="0" cap="none" spc="0" normalizeH="0" baseline="0" noProof="0" dirty="0" err="1">
                <a:ln>
                  <a:noFill/>
                </a:ln>
                <a:solidFill>
                  <a:srgbClr val="FFFFFF"/>
                </a:solidFill>
                <a:effectLst/>
                <a:uLnTx/>
                <a:uFillTx/>
                <a:latin typeface="Calibri Light" pitchFamily="34" charset="0"/>
                <a:cs typeface="Calibri Light" pitchFamily="34" charset="0"/>
                <a:sym typeface="Arial"/>
              </a:rPr>
              <a:t>ed&amp;BS</a:t>
            </a: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 Data call</a:t>
            </a:r>
          </a:p>
        </p:txBody>
      </p:sp>
      <p:pic>
        <p:nvPicPr>
          <p:cNvPr id="3" name="Picture 2">
            <a:extLst>
              <a:ext uri="{FF2B5EF4-FFF2-40B4-BE49-F238E27FC236}">
                <a16:creationId xmlns:a16="http://schemas.microsoft.com/office/drawing/2014/main" id="{3E34363E-AAA3-4062-A6D1-B622AEABD6B2}"/>
              </a:ext>
            </a:extLst>
          </p:cNvPr>
          <p:cNvPicPr>
            <a:picLocks noChangeAspect="1"/>
          </p:cNvPicPr>
          <p:nvPr/>
        </p:nvPicPr>
        <p:blipFill>
          <a:blip r:embed="rId2"/>
          <a:stretch>
            <a:fillRect/>
          </a:stretch>
        </p:blipFill>
        <p:spPr>
          <a:xfrm>
            <a:off x="3494893" y="620688"/>
            <a:ext cx="5397587" cy="5661141"/>
          </a:xfrm>
          <a:prstGeom prst="rect">
            <a:avLst/>
          </a:prstGeom>
        </p:spPr>
      </p:pic>
      <p:sp>
        <p:nvSpPr>
          <p:cNvPr id="7" name="TextBox 6">
            <a:extLst>
              <a:ext uri="{FF2B5EF4-FFF2-40B4-BE49-F238E27FC236}">
                <a16:creationId xmlns:a16="http://schemas.microsoft.com/office/drawing/2014/main" id="{6F8D5471-CF14-4FD1-AADD-A784607CDD31}"/>
              </a:ext>
            </a:extLst>
          </p:cNvPr>
          <p:cNvSpPr txBox="1"/>
          <p:nvPr/>
        </p:nvSpPr>
        <p:spPr>
          <a:xfrm>
            <a:off x="105055" y="914400"/>
            <a:ext cx="3389838" cy="4801314"/>
          </a:xfrm>
          <a:prstGeom prst="rect">
            <a:avLst/>
          </a:prstGeom>
          <a:noFill/>
        </p:spPr>
        <p:txBody>
          <a:bodyPr wrap="square">
            <a:spAutoFit/>
          </a:bodyPr>
          <a:lstStyle/>
          <a:p>
            <a:pPr algn="just"/>
            <a:r>
              <a:rPr lang="en-US"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DG MARE official datacall</a:t>
            </a:r>
          </a:p>
          <a:p>
            <a:pPr algn="just"/>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Usually, the deadline for data submission is set for the last week of June, while the operational deadline is in mid-August.</a:t>
            </a:r>
          </a:p>
          <a:p>
            <a:pPr algn="just"/>
            <a:endPar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RDBFIS</a:t>
            </a:r>
          </a:p>
          <a:p>
            <a:pPr algn="just"/>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The aim is to populate RDBFIS annually with biological and MEDITS data.</a:t>
            </a:r>
          </a:p>
          <a:p>
            <a:pPr algn="just"/>
            <a:endPar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suggest:</a:t>
            </a:r>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 To populate RDBFIS with data, could we follow the timeline set by DG MARE for launching the data call and establishing both the submission deadline and the operational deadline? </a:t>
            </a:r>
            <a:endParaRPr lang="el-GR"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57657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F67E19A8-BE14-4366-8151-8C8535B05911}"/>
              </a:ext>
            </a:extLst>
          </p:cNvPr>
          <p:cNvSpPr/>
          <p:nvPr/>
        </p:nvSpPr>
        <p:spPr>
          <a:xfrm>
            <a:off x="0" y="0"/>
            <a:ext cx="9144000" cy="400110"/>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FDI Data call</a:t>
            </a:r>
          </a:p>
        </p:txBody>
      </p:sp>
      <p:pic>
        <p:nvPicPr>
          <p:cNvPr id="4" name="Picture 3">
            <a:extLst>
              <a:ext uri="{FF2B5EF4-FFF2-40B4-BE49-F238E27FC236}">
                <a16:creationId xmlns:a16="http://schemas.microsoft.com/office/drawing/2014/main" id="{030DB777-53B3-49E1-8D29-C7F68184417A}"/>
              </a:ext>
            </a:extLst>
          </p:cNvPr>
          <p:cNvPicPr>
            <a:picLocks noChangeAspect="1"/>
          </p:cNvPicPr>
          <p:nvPr/>
        </p:nvPicPr>
        <p:blipFill>
          <a:blip r:embed="rId2"/>
          <a:stretch>
            <a:fillRect/>
          </a:stretch>
        </p:blipFill>
        <p:spPr>
          <a:xfrm>
            <a:off x="2394248" y="3616983"/>
            <a:ext cx="4920952" cy="2931495"/>
          </a:xfrm>
          <a:prstGeom prst="rect">
            <a:avLst/>
          </a:prstGeom>
        </p:spPr>
      </p:pic>
      <p:sp>
        <p:nvSpPr>
          <p:cNvPr id="8" name="TextBox 7">
            <a:extLst>
              <a:ext uri="{FF2B5EF4-FFF2-40B4-BE49-F238E27FC236}">
                <a16:creationId xmlns:a16="http://schemas.microsoft.com/office/drawing/2014/main" id="{9F510B3A-624E-4B40-9AEC-8CC78EA0D91E}"/>
              </a:ext>
            </a:extLst>
          </p:cNvPr>
          <p:cNvSpPr txBox="1"/>
          <p:nvPr/>
        </p:nvSpPr>
        <p:spPr>
          <a:xfrm>
            <a:off x="899592" y="476672"/>
            <a:ext cx="7488832" cy="3139321"/>
          </a:xfrm>
          <a:prstGeom prst="rect">
            <a:avLst/>
          </a:prstGeom>
          <a:noFill/>
        </p:spPr>
        <p:txBody>
          <a:bodyPr wrap="square">
            <a:spAutoFit/>
          </a:bodyPr>
          <a:lstStyle/>
          <a:p>
            <a:pPr algn="just"/>
            <a:r>
              <a:rPr lang="en-US"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DG MARE official datacall</a:t>
            </a:r>
          </a:p>
          <a:p>
            <a:pPr algn="just"/>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Usually, the deadline for data submission is set for the last week of June, while the operational deadline is in mid-August.</a:t>
            </a:r>
          </a:p>
          <a:p>
            <a:pPr algn="just"/>
            <a:endPar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RDBFIS</a:t>
            </a:r>
          </a:p>
          <a:p>
            <a:pPr algn="just"/>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The aim is to populate RDBFIS annually with catch, effort, landings by rectangle, effort by rectangle and capacity data.</a:t>
            </a:r>
          </a:p>
          <a:p>
            <a:pPr algn="just"/>
            <a:endPar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suggest:</a:t>
            </a:r>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 To populate RDBFIS with data, could we follow the timeline set by DG MARE for launching the data call and establishing both the submission deadline and the operational deadline? </a:t>
            </a:r>
            <a:endParaRPr lang="el-GR"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75049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F67E19A8-BE14-4366-8151-8C8535B05911}"/>
              </a:ext>
            </a:extLst>
          </p:cNvPr>
          <p:cNvSpPr/>
          <p:nvPr/>
        </p:nvSpPr>
        <p:spPr>
          <a:xfrm>
            <a:off x="0" y="0"/>
            <a:ext cx="9144000" cy="400110"/>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b="1" dirty="0">
                <a:solidFill>
                  <a:srgbClr val="FFFFFF"/>
                </a:solidFill>
                <a:latin typeface="Calibri Light" pitchFamily="34" charset="0"/>
                <a:cs typeface="Calibri Light" pitchFamily="34" charset="0"/>
              </a:rPr>
              <a:t>AER</a:t>
            </a: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 Data call</a:t>
            </a:r>
          </a:p>
        </p:txBody>
      </p:sp>
      <p:pic>
        <p:nvPicPr>
          <p:cNvPr id="3" name="Picture 2">
            <a:extLst>
              <a:ext uri="{FF2B5EF4-FFF2-40B4-BE49-F238E27FC236}">
                <a16:creationId xmlns:a16="http://schemas.microsoft.com/office/drawing/2014/main" id="{0FF1AC77-89D9-4C49-8347-B9979785BA42}"/>
              </a:ext>
            </a:extLst>
          </p:cNvPr>
          <p:cNvPicPr>
            <a:picLocks noChangeAspect="1"/>
          </p:cNvPicPr>
          <p:nvPr/>
        </p:nvPicPr>
        <p:blipFill>
          <a:blip r:embed="rId2"/>
          <a:stretch>
            <a:fillRect/>
          </a:stretch>
        </p:blipFill>
        <p:spPr>
          <a:xfrm>
            <a:off x="1524000" y="3459678"/>
            <a:ext cx="6515818" cy="2104199"/>
          </a:xfrm>
          <a:prstGeom prst="rect">
            <a:avLst/>
          </a:prstGeom>
        </p:spPr>
      </p:pic>
      <p:sp>
        <p:nvSpPr>
          <p:cNvPr id="8" name="TextBox 7">
            <a:extLst>
              <a:ext uri="{FF2B5EF4-FFF2-40B4-BE49-F238E27FC236}">
                <a16:creationId xmlns:a16="http://schemas.microsoft.com/office/drawing/2014/main" id="{5E397CB0-E709-4F9A-804B-575F95390926}"/>
              </a:ext>
            </a:extLst>
          </p:cNvPr>
          <p:cNvSpPr txBox="1"/>
          <p:nvPr/>
        </p:nvSpPr>
        <p:spPr>
          <a:xfrm>
            <a:off x="899592" y="677014"/>
            <a:ext cx="7488832" cy="2585323"/>
          </a:xfrm>
          <a:prstGeom prst="rect">
            <a:avLst/>
          </a:prstGeom>
          <a:noFill/>
        </p:spPr>
        <p:txBody>
          <a:bodyPr wrap="square">
            <a:spAutoFit/>
          </a:bodyPr>
          <a:lstStyle/>
          <a:p>
            <a:pPr algn="just"/>
            <a:r>
              <a:rPr lang="en-US"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DG MARE official datacall</a:t>
            </a:r>
          </a:p>
          <a:p>
            <a:pPr algn="just"/>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Usually, the deadline for data submission is set for the last week of February</a:t>
            </a:r>
          </a:p>
          <a:p>
            <a:pPr algn="just"/>
            <a:endPar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RDBFIS</a:t>
            </a:r>
          </a:p>
          <a:p>
            <a:pPr algn="just"/>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The aim is to populate RDBFIS annually with AER data</a:t>
            </a:r>
          </a:p>
          <a:p>
            <a:pPr algn="just"/>
            <a:endPar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suggest:</a:t>
            </a:r>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 To populate RDBFIS with data, could we follow the timeline set by DG MARE for launching the data call and establishing both the submission deadline and the operational deadline? </a:t>
            </a:r>
            <a:endParaRPr lang="el-GR"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04972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F67E19A8-BE14-4366-8151-8C8535B05911}"/>
              </a:ext>
            </a:extLst>
          </p:cNvPr>
          <p:cNvSpPr/>
          <p:nvPr/>
        </p:nvSpPr>
        <p:spPr>
          <a:xfrm>
            <a:off x="0" y="0"/>
            <a:ext cx="9144000" cy="400110"/>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GFCM/DCRF Data call</a:t>
            </a:r>
          </a:p>
        </p:txBody>
      </p:sp>
      <p:pic>
        <p:nvPicPr>
          <p:cNvPr id="4" name="Picture 3">
            <a:extLst>
              <a:ext uri="{FF2B5EF4-FFF2-40B4-BE49-F238E27FC236}">
                <a16:creationId xmlns:a16="http://schemas.microsoft.com/office/drawing/2014/main" id="{6AAC6FE5-6A39-4469-8D0E-305C37B1F9AF}"/>
              </a:ext>
            </a:extLst>
          </p:cNvPr>
          <p:cNvPicPr>
            <a:picLocks noChangeAspect="1"/>
          </p:cNvPicPr>
          <p:nvPr/>
        </p:nvPicPr>
        <p:blipFill>
          <a:blip r:embed="rId2"/>
          <a:stretch>
            <a:fillRect/>
          </a:stretch>
        </p:blipFill>
        <p:spPr>
          <a:xfrm>
            <a:off x="1905000" y="3048000"/>
            <a:ext cx="5757690" cy="3641777"/>
          </a:xfrm>
          <a:prstGeom prst="rect">
            <a:avLst/>
          </a:prstGeom>
        </p:spPr>
      </p:pic>
      <p:sp>
        <p:nvSpPr>
          <p:cNvPr id="8" name="TextBox 7">
            <a:extLst>
              <a:ext uri="{FF2B5EF4-FFF2-40B4-BE49-F238E27FC236}">
                <a16:creationId xmlns:a16="http://schemas.microsoft.com/office/drawing/2014/main" id="{2B52F805-FF21-4A0A-B9A6-E63D8F005EB6}"/>
              </a:ext>
            </a:extLst>
          </p:cNvPr>
          <p:cNvSpPr txBox="1"/>
          <p:nvPr/>
        </p:nvSpPr>
        <p:spPr>
          <a:xfrm>
            <a:off x="899592" y="677014"/>
            <a:ext cx="7488832" cy="2308324"/>
          </a:xfrm>
          <a:prstGeom prst="rect">
            <a:avLst/>
          </a:prstGeom>
          <a:noFill/>
        </p:spPr>
        <p:txBody>
          <a:bodyPr wrap="square">
            <a:spAutoFit/>
          </a:bodyPr>
          <a:lstStyle/>
          <a:p>
            <a:pPr algn="just"/>
            <a:r>
              <a:rPr lang="en-US"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GFCM official datacall</a:t>
            </a:r>
          </a:p>
          <a:p>
            <a:pPr algn="just"/>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Data requests from the GFCM occur almost continuously throughout the year.</a:t>
            </a:r>
          </a:p>
          <a:p>
            <a:pPr algn="just"/>
            <a:endPar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RDBFIS</a:t>
            </a:r>
          </a:p>
          <a:p>
            <a:pPr algn="just"/>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The aim is to populate RDBFIS annually with GFCM/DCRF data</a:t>
            </a:r>
          </a:p>
          <a:p>
            <a:pPr algn="just"/>
            <a:endPar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suggest:</a:t>
            </a:r>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 To populate RDBFIS with data, could we follow the timeline set by GFCM for launching the data call and establishing the submission deadline? </a:t>
            </a:r>
            <a:endParaRPr lang="el-GR"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035295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E0B0159-239F-450C-BB2A-460EDDEF14B0}"/>
              </a:ext>
            </a:extLst>
          </p:cNvPr>
          <p:cNvSpPr/>
          <p:nvPr/>
        </p:nvSpPr>
        <p:spPr>
          <a:xfrm>
            <a:off x="-11082" y="0"/>
            <a:ext cx="9155081" cy="707886"/>
          </a:xfrm>
          <a:prstGeom prst="rect">
            <a:avLst/>
          </a:prstGeom>
          <a:solidFill>
            <a:schemeClr val="accent1">
              <a:lumMod val="50000"/>
            </a:schemeClr>
          </a:solidFill>
        </p:spPr>
        <p:txBody>
          <a:bodyPr wrap="square">
            <a:spAutoFit/>
          </a:bodyPr>
          <a:lstStyle/>
          <a:p>
            <a:pPr algn="ct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Data Quality Assurance and Validation, raising procedures</a:t>
            </a:r>
          </a:p>
          <a:p>
            <a:pPr algn="ctr"/>
            <a:r>
              <a:rPr lang="en-US" sz="2000" dirty="0">
                <a:solidFill>
                  <a:schemeClr val="bg1"/>
                </a:solidFill>
                <a:latin typeface="Calibri" panose="020F0502020204030204" pitchFamily="34" charset="0"/>
                <a:ea typeface="Calibri" panose="020F0502020204030204" pitchFamily="34" charset="0"/>
                <a:cs typeface="Calibri" panose="020F0502020204030204" pitchFamily="34" charset="0"/>
              </a:rPr>
              <a:t>stat4RDBFIS R package development</a:t>
            </a:r>
          </a:p>
        </p:txBody>
      </p:sp>
      <p:sp>
        <p:nvSpPr>
          <p:cNvPr id="11" name="TextBox 10"/>
          <p:cNvSpPr txBox="1"/>
          <p:nvPr/>
        </p:nvSpPr>
        <p:spPr>
          <a:xfrm>
            <a:off x="611560" y="2117268"/>
            <a:ext cx="7920880" cy="3760004"/>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lIns="91440" tIns="45720" rIns="91440" bIns="45720" rtlCol="0" anchor="t">
            <a:spAutoFit/>
          </a:bodyPr>
          <a:lstStyle/>
          <a:p>
            <a:pPr>
              <a:spcAft>
                <a:spcPts val="600"/>
              </a:spcAft>
            </a:pPr>
            <a:r>
              <a:rPr lang="en-US" sz="22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RDBFIS III actions and achievements</a:t>
            </a:r>
          </a:p>
          <a:p>
            <a:pPr marL="365760" indent="-365760">
              <a:spcAft>
                <a:spcPts val="400"/>
              </a:spcAft>
              <a:buFont typeface="Arial" pitchFamily="34" charset="0"/>
              <a:buChar char="•"/>
            </a:pPr>
            <a:r>
              <a:rPr lang="en-US" sz="20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bilateral meetings</a:t>
            </a:r>
            <a:r>
              <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 with experts from the Med&amp;BS clarified MS specific procedures</a:t>
            </a:r>
          </a:p>
          <a:p>
            <a:pPr marL="365760" indent="-365760">
              <a:spcAft>
                <a:spcPts val="400"/>
              </a:spcAft>
              <a:buFont typeface="Arial" pitchFamily="34" charset="0"/>
              <a:buChar char="•"/>
            </a:pPr>
            <a:r>
              <a:rPr lang="en-US" sz="20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10+ core team technical meetings </a:t>
            </a:r>
            <a:r>
              <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supported the implementation </a:t>
            </a:r>
            <a:r>
              <a:rPr lang="en-US" sz="20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 </a:t>
            </a:r>
            <a:endPar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365760" indent="-365760">
              <a:spcAft>
                <a:spcPts val="400"/>
              </a:spcAft>
              <a:buFont typeface="Arial" pitchFamily="34" charset="0"/>
              <a:buChar char="•"/>
            </a:pPr>
            <a:r>
              <a:rPr lang="en-US" sz="20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Implementation phase - developed modules:</a:t>
            </a:r>
          </a:p>
          <a:p>
            <a:pPr>
              <a:spcAft>
                <a:spcPts val="400"/>
              </a:spcAft>
            </a:pPr>
            <a:endParaRPr lang="en-US" sz="8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742950" indent="-285750">
              <a:buFont typeface="Wingdings" panose="05000000000000000000" pitchFamily="2" charset="2"/>
              <a:buChar char="ü"/>
            </a:pPr>
            <a:r>
              <a:rPr lang="en-US" sz="18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Consistency and quality checks of RCG data</a:t>
            </a:r>
          </a:p>
          <a:p>
            <a:pPr marL="742950" indent="-285750">
              <a:buFont typeface="Wingdings" panose="05000000000000000000" pitchFamily="2" charset="2"/>
              <a:buChar char="ü"/>
            </a:pPr>
            <a:r>
              <a:rPr lang="en-US" sz="18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Landings and Discards LFDs </a:t>
            </a:r>
          </a:p>
          <a:p>
            <a:pPr marL="742950" indent="-285750">
              <a:buFont typeface="Wingdings" panose="05000000000000000000" pitchFamily="2" charset="2"/>
              <a:buChar char="ü"/>
            </a:pPr>
            <a:r>
              <a:rPr lang="en-US" sz="18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Discard ratio estimation </a:t>
            </a:r>
          </a:p>
          <a:p>
            <a:pPr marL="742950" indent="-285750">
              <a:buFont typeface="Wingdings" panose="05000000000000000000" pitchFamily="2" charset="2"/>
              <a:buChar char="ü"/>
            </a:pPr>
            <a:r>
              <a:rPr lang="en-US" sz="18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Maturity, sex ratio, and Age-Length Key (harmonized procedures)</a:t>
            </a:r>
          </a:p>
          <a:p>
            <a:pPr marL="457200"/>
            <a:endParaRPr lang="en-US" sz="18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358775" indent="-342900">
              <a:spcAft>
                <a:spcPts val="1200"/>
              </a:spcAft>
              <a:buFont typeface="Arial" panose="020B0604020202020204" pitchFamily="34" charset="0"/>
              <a:buChar char="•"/>
            </a:pPr>
            <a:r>
              <a:rPr lang="en-US" sz="2000" b="1"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R package integration within the RDBFIS</a:t>
            </a:r>
          </a:p>
        </p:txBody>
      </p:sp>
      <p:sp>
        <p:nvSpPr>
          <p:cNvPr id="5" name="TextBox 4">
            <a:extLst>
              <a:ext uri="{FF2B5EF4-FFF2-40B4-BE49-F238E27FC236}">
                <a16:creationId xmlns:a16="http://schemas.microsoft.com/office/drawing/2014/main" id="{1F4351C5-8F3B-43F4-83E3-7D36FE426F01}"/>
              </a:ext>
            </a:extLst>
          </p:cNvPr>
          <p:cNvSpPr txBox="1"/>
          <p:nvPr/>
        </p:nvSpPr>
        <p:spPr>
          <a:xfrm>
            <a:off x="539552" y="836712"/>
            <a:ext cx="7848872" cy="1015663"/>
          </a:xfrm>
          <a:prstGeom prst="rect">
            <a:avLst/>
          </a:prstGeom>
          <a:noFill/>
        </p:spPr>
        <p:txBody>
          <a:bodyPr wrap="square">
            <a:spAutoFit/>
          </a:bodyPr>
          <a:lstStyle/>
          <a:p>
            <a:r>
              <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The package incorporates information from bilateral meetings conducted during the implementation of RDBFIS I and RDBFIS II, along with insights from the statistical workshop for raising procedures.</a:t>
            </a:r>
            <a:endParaRPr lang="el-GR"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45484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6C73609C-E89F-45B0-B681-30BF75532A35}"/>
              </a:ext>
            </a:extLst>
          </p:cNvPr>
          <p:cNvSpPr txBox="1"/>
          <p:nvPr/>
        </p:nvSpPr>
        <p:spPr>
          <a:xfrm>
            <a:off x="539552" y="620688"/>
            <a:ext cx="8064896" cy="5324535"/>
          </a:xfrm>
          <a:prstGeom prst="rect">
            <a:avLst/>
          </a:prstGeom>
          <a:noFill/>
          <a:ln w="6350">
            <a:noFill/>
          </a:ln>
        </p:spPr>
        <p:txBody>
          <a:bodyPr wrap="square">
            <a:spAutoFit/>
          </a:bodyPr>
          <a:lstStyle/>
          <a:p>
            <a:pPr algn="just"/>
            <a:r>
              <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A constructive collaboration between the DIASPARA and RDBFIS consortia has been initiated, with the aim of starting technical discussions on potential pathways for future integration.</a:t>
            </a:r>
          </a:p>
          <a:p>
            <a:pPr algn="just"/>
            <a:endPar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DIASPARA is exploring suitable long-term hosting solutions for the database, including RDBFIS and RDBES. In this context, information exchange, bilateral discussions, and joint reflection are encouraged. Cooperation should aim at sharing knowledge, aligning perspectives, and planning for future continuity.</a:t>
            </a:r>
          </a:p>
          <a:p>
            <a:pPr algn="just"/>
            <a:endPar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The general approach is that diadromous data collected under the Med&amp;BS framework will be hosted within RDBFIS, supporting functionalities such as data syntax checks, consistency checks, data uploading, and the generation of data calls.</a:t>
            </a:r>
          </a:p>
          <a:p>
            <a:pPr algn="just"/>
            <a:endPar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The DIASPARA consortium has provided detailed information on the diadromous database, and meetings are planned to take place during 2026 to further discuss the integration process.</a:t>
            </a:r>
            <a:endParaRPr lang="en-US" sz="18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43" name="Rectangle 42">
            <a:extLst>
              <a:ext uri="{FF2B5EF4-FFF2-40B4-BE49-F238E27FC236}">
                <a16:creationId xmlns:a16="http://schemas.microsoft.com/office/drawing/2014/main" id="{F67E19A8-BE14-4366-8151-8C8535B05911}"/>
              </a:ext>
            </a:extLst>
          </p:cNvPr>
          <p:cNvSpPr/>
          <p:nvPr/>
        </p:nvSpPr>
        <p:spPr>
          <a:xfrm>
            <a:off x="0" y="0"/>
            <a:ext cx="9144000" cy="400110"/>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Establishing collaboration with other consortia and ICES</a:t>
            </a:r>
          </a:p>
        </p:txBody>
      </p:sp>
    </p:spTree>
    <p:extLst>
      <p:ext uri="{BB962C8B-B14F-4D97-AF65-F5344CB8AC3E}">
        <p14:creationId xmlns:p14="http://schemas.microsoft.com/office/powerpoint/2010/main" val="3064617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6C73609C-E89F-45B0-B681-30BF75532A35}"/>
              </a:ext>
            </a:extLst>
          </p:cNvPr>
          <p:cNvSpPr txBox="1"/>
          <p:nvPr/>
        </p:nvSpPr>
        <p:spPr>
          <a:xfrm>
            <a:off x="533400" y="1371600"/>
            <a:ext cx="8064896" cy="1538883"/>
          </a:xfrm>
          <a:prstGeom prst="rect">
            <a:avLst/>
          </a:prstGeom>
          <a:noFill/>
          <a:ln w="6350">
            <a:noFill/>
          </a:ln>
        </p:spPr>
        <p:txBody>
          <a:bodyPr wrap="square">
            <a:spAutoFit/>
          </a:bodyPr>
          <a:lstStyle/>
          <a:p>
            <a:pPr marL="342900" indent="-342900" algn="just">
              <a:buFont typeface="Arial" panose="020B0604020202020204" pitchFamily="34" charset="0"/>
              <a:buChar char="•"/>
            </a:pPr>
            <a:r>
              <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PETS</a:t>
            </a:r>
          </a:p>
          <a:p>
            <a:pPr marL="342900" indent="-342900" algn="just">
              <a:buFont typeface="Arial" panose="020B0604020202020204" pitchFamily="34" charset="0"/>
              <a:buChar char="•"/>
            </a:pPr>
            <a:r>
              <a:rPr lang="en-US" sz="20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Alien species</a:t>
            </a:r>
          </a:p>
          <a:p>
            <a:pPr marL="285750" indent="-285750" algn="just">
              <a:buFont typeface="Arial" panose="020B0604020202020204" pitchFamily="34" charset="0"/>
              <a:buChar char="•"/>
            </a:pPr>
            <a:r>
              <a:rPr lang="en-US" sz="18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Recreational fisheries (?)</a:t>
            </a:r>
          </a:p>
          <a:p>
            <a:pPr marL="285750" indent="-285750" algn="just">
              <a:buFont typeface="Arial" panose="020B0604020202020204" pitchFamily="34" charset="0"/>
              <a:buChar char="•"/>
            </a:pPr>
            <a:r>
              <a:rPr lang="en-US"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A</a:t>
            </a:r>
            <a:r>
              <a:rPr lang="en-US" sz="18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daptation of the core </a:t>
            </a:r>
            <a:r>
              <a:rPr lang="en-US" sz="1800" dirty="0" err="1">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EchoR</a:t>
            </a:r>
            <a:r>
              <a:rPr lang="en-US" sz="18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rPr>
              <a:t> package functions to the RDBFIS format </a:t>
            </a:r>
          </a:p>
          <a:p>
            <a:pPr algn="just"/>
            <a:endParaRPr lang="en-US" sz="1800" dirty="0">
              <a:solidFill>
                <a:schemeClr val="bg2">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43" name="Rectangle 42">
            <a:extLst>
              <a:ext uri="{FF2B5EF4-FFF2-40B4-BE49-F238E27FC236}">
                <a16:creationId xmlns:a16="http://schemas.microsoft.com/office/drawing/2014/main" id="{F67E19A8-BE14-4366-8151-8C8535B05911}"/>
              </a:ext>
            </a:extLst>
          </p:cNvPr>
          <p:cNvSpPr/>
          <p:nvPr/>
        </p:nvSpPr>
        <p:spPr>
          <a:xfrm>
            <a:off x="0" y="0"/>
            <a:ext cx="9144000" cy="400110"/>
          </a:xfrm>
          <a:prstGeom prst="rect">
            <a:avLst/>
          </a:prstGeom>
          <a:solidFill>
            <a:schemeClr val="bg2">
              <a:lumMod val="75000"/>
            </a:schemeClr>
          </a:solidFill>
          <a:ln w="6350">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FFFFFF"/>
                </a:solidFill>
                <a:effectLst/>
                <a:uLnTx/>
                <a:uFillTx/>
                <a:latin typeface="Calibri Light" pitchFamily="34" charset="0"/>
                <a:cs typeface="Calibri Light" pitchFamily="34" charset="0"/>
                <a:sym typeface="Arial"/>
              </a:rPr>
              <a:t>new components for integration</a:t>
            </a:r>
          </a:p>
        </p:txBody>
      </p:sp>
    </p:spTree>
    <p:extLst>
      <p:ext uri="{BB962C8B-B14F-4D97-AF65-F5344CB8AC3E}">
        <p14:creationId xmlns:p14="http://schemas.microsoft.com/office/powerpoint/2010/main" val="1352326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71474" y="920095"/>
            <a:ext cx="8001056" cy="650499"/>
          </a:xfrm>
          <a:prstGeom prst="rect">
            <a:avLst/>
          </a:prstGeom>
        </p:spPr>
        <p:txBody>
          <a:bodyPr wrap="square">
            <a:spAutoFit/>
          </a:bodyPr>
          <a:lstStyle/>
          <a:p>
            <a:pPr algn="ctr">
              <a:lnSpc>
                <a:spcPct val="105000"/>
              </a:lnSpc>
            </a:pPr>
            <a:r>
              <a:rPr lang="en-US" sz="36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sym typeface="Calibri"/>
              </a:rPr>
              <a:t>Thank you for your attention </a:t>
            </a:r>
          </a:p>
        </p:txBody>
      </p:sp>
      <p:sp>
        <p:nvSpPr>
          <p:cNvPr id="4" name="Rectangle 3"/>
          <p:cNvSpPr/>
          <p:nvPr/>
        </p:nvSpPr>
        <p:spPr>
          <a:xfrm>
            <a:off x="0" y="-24"/>
            <a:ext cx="9144000" cy="400110"/>
          </a:xfrm>
          <a:prstGeom prst="rect">
            <a:avLst/>
          </a:prstGeom>
          <a:solidFill>
            <a:schemeClr val="bg2">
              <a:lumMod val="75000"/>
            </a:schemeClr>
          </a:solidFill>
          <a:ln w="6350">
            <a:noFill/>
          </a:ln>
        </p:spPr>
        <p:txBody>
          <a:bodyPr wrap="square">
            <a:spAutoFit/>
          </a:bodyPr>
          <a:lstStyle/>
          <a:p>
            <a:pPr algn="ctr"/>
            <a:r>
              <a:rPr lang="en-US" sz="2000" b="1" dirty="0" err="1">
                <a:solidFill>
                  <a:schemeClr val="bg1"/>
                </a:solidFill>
                <a:latin typeface="Calibri Light" pitchFamily="34" charset="0"/>
                <a:cs typeface="Calibri Light" pitchFamily="34" charset="0"/>
              </a:rPr>
              <a:t>Med&amp;BS</a:t>
            </a:r>
            <a:r>
              <a:rPr lang="en-US" sz="2000" b="1" dirty="0">
                <a:solidFill>
                  <a:schemeClr val="bg1"/>
                </a:solidFill>
                <a:latin typeface="Calibri Light" pitchFamily="34" charset="0"/>
                <a:cs typeface="Calibri Light" pitchFamily="34" charset="0"/>
              </a:rPr>
              <a:t> RDBFIS-III: Comments &amp; Discussions </a:t>
            </a:r>
            <a:endParaRPr lang="en-GB" sz="2000" b="1" dirty="0">
              <a:solidFill>
                <a:schemeClr val="bg1"/>
              </a:solidFill>
              <a:latin typeface="Calibri Light" pitchFamily="34" charset="0"/>
              <a:cs typeface="Calibri Light" pitchFamily="34" charset="0"/>
            </a:endParaRPr>
          </a:p>
        </p:txBody>
      </p:sp>
      <p:pic>
        <p:nvPicPr>
          <p:cNvPr id="6" name="Picture 5">
            <a:extLst>
              <a:ext uri="{FF2B5EF4-FFF2-40B4-BE49-F238E27FC236}">
                <a16:creationId xmlns:a16="http://schemas.microsoft.com/office/drawing/2014/main" id="{33B4098E-2682-585C-25A1-A93AC8EA069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69724" y="1905000"/>
            <a:ext cx="4804556" cy="4648200"/>
          </a:xfrm>
          <a:prstGeom prst="rect">
            <a:avLst/>
          </a:prstGeom>
          <a:noFill/>
        </p:spPr>
      </p:pic>
    </p:spTree>
    <p:extLst>
      <p:ext uri="{BB962C8B-B14F-4D97-AF65-F5344CB8AC3E}">
        <p14:creationId xmlns:p14="http://schemas.microsoft.com/office/powerpoint/2010/main" val="4047158956"/>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0DC4123ED56FC439ECC7FB0707F01E2" ma:contentTypeVersion="4" ma:contentTypeDescription="Create a new document." ma:contentTypeScope="" ma:versionID="becfe9ee911982a1bfd82b662fd7073d">
  <xsd:schema xmlns:xsd="http://www.w3.org/2001/XMLSchema" xmlns:xs="http://www.w3.org/2001/XMLSchema" xmlns:p="http://schemas.microsoft.com/office/2006/metadata/properties" xmlns:ns2="e3df9749-23e7-48f4-8166-c91eef933ef2" targetNamespace="http://schemas.microsoft.com/office/2006/metadata/properties" ma:root="true" ma:fieldsID="7e0e3d25092fd0e5f123df64e8385ca9" ns2:_="">
    <xsd:import namespace="e3df9749-23e7-48f4-8166-c91eef933ef2"/>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df9749-23e7-48f4-8166-c91eef933e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716F94D-AD5B-4990-8586-4A5A9C866686}">
  <ds:schemaRefs>
    <ds:schemaRef ds:uri="http://schemas.microsoft.com/office/infopath/2007/PartnerControls"/>
    <ds:schemaRef ds:uri="http://www.w3.org/XML/1998/namespace"/>
    <ds:schemaRef ds:uri="http://schemas.openxmlformats.org/package/2006/metadata/core-properties"/>
    <ds:schemaRef ds:uri="http://purl.org/dc/terms/"/>
    <ds:schemaRef ds:uri="http://schemas.microsoft.com/office/2006/documentManagement/types"/>
    <ds:schemaRef ds:uri="e3df9749-23e7-48f4-8166-c91eef933ef2"/>
    <ds:schemaRef ds:uri="http://purl.org/dc/elements/1.1/"/>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55276F98-E905-43A0-9DE6-1C0CC94D2A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df9749-23e7-48f4-8166-c91eef933e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FE2D049-B0BE-4020-B4B6-3C7A52EF49F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2956</TotalTime>
  <Words>2145</Words>
  <Application>Microsoft Office PowerPoint</Application>
  <PresentationFormat>On-screen Show (4:3)</PresentationFormat>
  <Paragraphs>226</Paragraphs>
  <Slides>20</Slides>
  <Notes>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Arial</vt:lpstr>
      <vt:lpstr>Calibri</vt:lpstr>
      <vt:lpstr>Calibri Light</vt:lpstr>
      <vt:lpstr>Courier New</vt:lpstr>
      <vt:lpstr>Symbol</vt:lpstr>
      <vt:lpstr>Wingdings</vt:lpstr>
      <vt:lpstr>1_Office Theme</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irida maina</dc:creator>
  <cp:lastModifiedBy>Stefanos Kavadas</cp:lastModifiedBy>
  <cp:revision>325</cp:revision>
  <dcterms:created xsi:type="dcterms:W3CDTF">2025-04-22T15:56:01Z</dcterms:created>
  <dcterms:modified xsi:type="dcterms:W3CDTF">2026-04-18T14:53:53Z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0x01010060DC4123ED56FC439ECC7FB0707F01E2</vt:lpwstr>
  </property>
</Properties>
</file>