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6"/>
  </p:notesMasterIdLst>
  <p:sldIdLst>
    <p:sldId id="258" r:id="rId5"/>
    <p:sldId id="588" r:id="rId6"/>
    <p:sldId id="564" r:id="rId7"/>
    <p:sldId id="554" r:id="rId8"/>
    <p:sldId id="589" r:id="rId9"/>
    <p:sldId id="590" r:id="rId10"/>
    <p:sldId id="591" r:id="rId11"/>
    <p:sldId id="592" r:id="rId12"/>
    <p:sldId id="517" r:id="rId13"/>
    <p:sldId id="587" r:id="rId14"/>
    <p:sldId id="257" r:id="rId1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F3399"/>
    <a:srgbClr val="009900"/>
    <a:srgbClr val="FFFF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CDA79A-D00D-40AD-9729-6EDB1091C2EC}">
  <a:tblStyle styleId="{FACDA79A-D00D-40AD-9729-6EDB1091C2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Στυλ με θέμα 1 - Έμφαση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Φωτεινό στυλ 1 - Έμφαση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Φωτεινό στυλ 3 - Έμφαση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0352" autoAdjust="0"/>
  </p:normalViewPr>
  <p:slideViewPr>
    <p:cSldViewPr>
      <p:cViewPr varScale="1">
        <p:scale>
          <a:sx n="100" d="100"/>
          <a:sy n="100" d="100"/>
        </p:scale>
        <p:origin x="1323" y="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a397a42b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gaa397a42b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4798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4798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8750" indent="0" algn="just">
              <a:buNone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65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8033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752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5619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l-GR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812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204004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a397a42b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aa397a42b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44FE7-E0CB-477A-9181-79AFBD3227AD}" type="slidenum">
              <a:rPr lang="el-GR" smtClean="0">
                <a:solidFill>
                  <a:prstClr val="black"/>
                </a:solidFill>
              </a:rPr>
              <a:pPr/>
              <a:t>11</a:t>
            </a:fld>
            <a:endParaRPr lang="el-G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2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1" y="1600203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3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6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6" y="2174876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3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40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../RDBFIS/db_structure/LARGE%20PELAGIC/lp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 descr="https://ec.europa.eu/info/sites/info/themes/europa/images/svg/logo/logo--en.svg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5"/>
          <p:cNvGrpSpPr/>
          <p:nvPr/>
        </p:nvGrpSpPr>
        <p:grpSpPr>
          <a:xfrm>
            <a:off x="714348" y="963771"/>
            <a:ext cx="7643866" cy="5129524"/>
            <a:chOff x="892934" y="2045320"/>
            <a:chExt cx="7500990" cy="4007974"/>
          </a:xfrm>
        </p:grpSpPr>
        <p:sp>
          <p:nvSpPr>
            <p:cNvPr id="142" name="Google Shape;142;p15"/>
            <p:cNvSpPr/>
            <p:nvPr/>
          </p:nvSpPr>
          <p:spPr>
            <a:xfrm>
              <a:off x="892934" y="2045320"/>
              <a:ext cx="7500990" cy="1025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800" b="1" cap="small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Symbol"/>
                </a:rPr>
                <a:t>CINEA/EMFAF/2021/3.1.2/03/SC04/SI2.881222</a:t>
              </a:r>
            </a:p>
            <a:p>
              <a:pPr algn="ctr">
                <a:lnSpc>
                  <a:spcPct val="105000"/>
                </a:lnSpc>
              </a:pPr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</a:rPr>
                <a:t>Specific Contract 2021/3.1.2/03/SC04</a:t>
              </a:r>
            </a:p>
            <a:p>
              <a:pPr algn="ctr"/>
              <a:r>
                <a:rPr 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Symbol"/>
                </a:rPr>
                <a:t>Hosting, maintenance and further development of the Regional Database for the Mediterranean and Black Seas (RDBFIS II)</a:t>
              </a:r>
            </a:p>
            <a:p>
              <a:pPr algn="ctr"/>
              <a:r>
                <a:rPr 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Symbol"/>
                </a:rPr>
                <a:t>(RDBFIS-II, 01/04/2023 – 31/03/2025)</a:t>
              </a:r>
            </a:p>
            <a:p>
              <a:pPr algn="ctr"/>
              <a:endPara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itchFamily="34" charset="0"/>
                <a:ea typeface="Calibri"/>
                <a:cs typeface="Calibri Light" pitchFamily="34" charset="0"/>
                <a:sym typeface="Symbol"/>
              </a:endParaRPr>
            </a:p>
            <a:p>
              <a:pPr marL="177800" indent="-177800" algn="ctr"/>
              <a:endParaRPr lang="en-US" sz="300" b="1" dirty="0">
                <a:solidFill>
                  <a:srgbClr val="00206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Symbol"/>
              </a:endParaRPr>
            </a:p>
            <a:p>
              <a:pPr marL="177800" indent="-177800" algn="ctr"/>
              <a:endParaRPr lang="en-US" b="1" i="1" dirty="0">
                <a:solidFill>
                  <a:srgbClr val="00206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Symbol"/>
              </a:endParaRPr>
            </a:p>
            <a:p>
              <a:pPr algn="ctr"/>
              <a:endParaRPr lang="en-US" b="1" dirty="0">
                <a:solidFill>
                  <a:srgbClr val="00206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endParaRPr>
            </a:p>
            <a:p>
              <a:pPr algn="ctr"/>
              <a:endParaRPr lang="en-US" b="1" dirty="0">
                <a:solidFill>
                  <a:srgbClr val="00206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"/>
              </a:endParaRPr>
            </a:p>
            <a:p>
              <a:pPr algn="ctr"/>
              <a:endParaRPr lang="en-US" b="1" dirty="0">
                <a:solidFill>
                  <a:srgbClr val="00206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"/>
              </a:endParaRPr>
            </a:p>
            <a:p>
              <a:pPr lvl="0" algn="ctr">
                <a:lnSpc>
                  <a:spcPct val="105000"/>
                </a:lnSpc>
              </a:pPr>
              <a:endParaRPr lang="en-US" i="1" dirty="0">
                <a:solidFill>
                  <a:schemeClr val="bg2">
                    <a:lumMod val="50000"/>
                  </a:schemeClr>
                </a:solidFill>
                <a:latin typeface="Calibri Light" pitchFamily="34" charset="0"/>
                <a:ea typeface="Calibri"/>
                <a:cs typeface="Calibri Light" pitchFamily="34" charset="0"/>
                <a:sym typeface="Calibri"/>
              </a:endParaRPr>
            </a:p>
            <a:p>
              <a:pPr lvl="0" algn="ctr">
                <a:lnSpc>
                  <a:spcPct val="105000"/>
                </a:lnSpc>
              </a:pPr>
              <a:endParaRPr lang="en-US" sz="2400" b="1" cap="small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892934" y="4775815"/>
              <a:ext cx="7500990" cy="1277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endParaRPr lang="en-US" sz="2600" b="1" dirty="0">
                <a:solidFill>
                  <a:schemeClr val="bg2">
                    <a:lumMod val="50000"/>
                  </a:schemeClr>
                </a:solidFill>
                <a:latin typeface="Calibri Light" pitchFamily="34" charset="0"/>
                <a:ea typeface="Calibri"/>
                <a:cs typeface="Calibri Light" pitchFamily="34" charset="0"/>
                <a:sym typeface="Calibri"/>
              </a:endParaRPr>
            </a:p>
            <a:p>
              <a:pPr algn="ctr"/>
              <a:r>
                <a:rPr lang="en-US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RCG LP </a:t>
              </a:r>
            </a:p>
            <a:p>
              <a:pPr algn="ctr"/>
              <a:r>
                <a:rPr lang="en-US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Larnaca</a:t>
              </a:r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, Cyprus 2</a:t>
              </a:r>
              <a:r>
                <a:rPr lang="en-US" sz="2800" b="1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nd</a:t>
              </a:r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 - 4</a:t>
              </a:r>
              <a:r>
                <a:rPr lang="en-US" sz="2800" b="1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th</a:t>
              </a:r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 of June 2025 </a:t>
              </a:r>
              <a:b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</a:b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itchFamily="34" charset="0"/>
                <a:ea typeface="Calibri"/>
                <a:cs typeface="Calibri Light" pitchFamily="34" charset="0"/>
                <a:sym typeface="Calibri"/>
              </a:endParaRPr>
            </a:p>
            <a:p>
              <a:pPr algn="ctr"/>
              <a:endPara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itchFamily="34" charset="0"/>
                <a:ea typeface="Calibri"/>
                <a:cs typeface="Calibri Light" pitchFamily="34" charset="0"/>
                <a:sym typeface="Calibri"/>
              </a:endParaRPr>
            </a:p>
            <a:p>
              <a:pPr algn="r"/>
              <a:r>
                <a: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itchFamily="34" charset="0"/>
                  <a:ea typeface="Calibri"/>
                  <a:cs typeface="Calibri Light" pitchFamily="34" charset="0"/>
                  <a:sym typeface="Calibri"/>
                </a:rPr>
                <a:t>Stefanos Kavadas, Irida Maina</a:t>
              </a:r>
            </a:p>
          </p:txBody>
        </p:sp>
      </p:grpSp>
      <p:pic>
        <p:nvPicPr>
          <p:cNvPr id="11" name="Imagen 1" descr="logo_ec_17_colors_300dpi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137" y="214290"/>
            <a:ext cx="1360805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5A4773-4DAC-4FF5-9915-D2044C99A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492628"/>
            <a:ext cx="6748253" cy="2160508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 Final Report (draft)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0556B-6FC4-4899-8380-44C9106A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476672"/>
            <a:ext cx="4436695" cy="628531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728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 progress work -&gt; populate the system with data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 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D9EAD-F0F4-4899-8B52-FFE7C4CC4B14}"/>
              </a:ext>
            </a:extLst>
          </p:cNvPr>
          <p:cNvSpPr txBox="1"/>
          <p:nvPr/>
        </p:nvSpPr>
        <p:spPr>
          <a:xfrm>
            <a:off x="755576" y="737735"/>
            <a:ext cx="590465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Aggregated data</a:t>
            </a:r>
          </a:p>
          <a:p>
            <a:pPr marL="538163" indent="-1809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Med&amp;BS</a:t>
            </a:r>
          </a:p>
          <a:p>
            <a:pPr marL="538163" indent="-1809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FDI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(Tables A, B, G, H, I, J)</a:t>
            </a:r>
          </a:p>
          <a:p>
            <a:pPr marL="538163" indent="-1809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AER</a:t>
            </a:r>
          </a:p>
          <a:p>
            <a:pPr marL="538163" indent="-1809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GFCM/DCRF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Survey data</a:t>
            </a:r>
          </a:p>
          <a:p>
            <a:pPr marL="538163" indent="-1651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MEDITS 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(TA, TB, TC)</a:t>
            </a:r>
          </a:p>
          <a:p>
            <a:pPr marL="538163" indent="-1651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MEDIAS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(acoustics, pelagic trawl, CTDs)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Detailed biological &amp; landings data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10AF5A-C5C4-413C-BDE1-4F6918112BCC}"/>
              </a:ext>
            </a:extLst>
          </p:cNvPr>
          <p:cNvGrpSpPr/>
          <p:nvPr/>
        </p:nvGrpSpPr>
        <p:grpSpPr>
          <a:xfrm>
            <a:off x="755576" y="4810253"/>
            <a:ext cx="7560840" cy="1715091"/>
            <a:chOff x="755576" y="5013176"/>
            <a:chExt cx="7560840" cy="171509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BDDDA1-3ABD-4292-A7C4-D5912815DBF5}"/>
                </a:ext>
              </a:extLst>
            </p:cNvPr>
            <p:cNvSpPr txBox="1"/>
            <p:nvPr/>
          </p:nvSpPr>
          <p:spPr>
            <a:xfrm>
              <a:off x="2627784" y="5469797"/>
              <a:ext cx="56886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Step 1. Syntax check (validation scheme)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26FEA7-B4F9-460A-AE8E-FE964E6E574B}"/>
                </a:ext>
              </a:extLst>
            </p:cNvPr>
            <p:cNvSpPr txBox="1"/>
            <p:nvPr/>
          </p:nvSpPr>
          <p:spPr>
            <a:xfrm>
              <a:off x="2627784" y="6224211"/>
              <a:ext cx="56886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Step 3. Upload (update RDBFIS)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194CC4F-FCD2-4965-8860-A837EDEC11CB}"/>
                </a:ext>
              </a:extLst>
            </p:cNvPr>
            <p:cNvGrpSpPr/>
            <p:nvPr/>
          </p:nvGrpSpPr>
          <p:grpSpPr>
            <a:xfrm>
              <a:off x="755576" y="5792163"/>
              <a:ext cx="1008112" cy="580781"/>
              <a:chOff x="755576" y="1984123"/>
              <a:chExt cx="1008112" cy="58078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7EF3FB-8053-4A3E-924E-6C7D463495E0}"/>
                  </a:ext>
                </a:extLst>
              </p:cNvPr>
              <p:cNvSpPr txBox="1"/>
              <p:nvPr/>
            </p:nvSpPr>
            <p:spPr>
              <a:xfrm>
                <a:off x="755576" y="2044518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csv</a:t>
                </a:r>
              </a:p>
            </p:txBody>
          </p:sp>
          <p:sp>
            <p:nvSpPr>
              <p:cNvPr id="9" name="Rectangle: Folded Corner 8">
                <a:extLst>
                  <a:ext uri="{FF2B5EF4-FFF2-40B4-BE49-F238E27FC236}">
                    <a16:creationId xmlns:a16="http://schemas.microsoft.com/office/drawing/2014/main" id="{9715C114-AEF3-4ADE-BE5B-187FCE480295}"/>
                  </a:ext>
                </a:extLst>
              </p:cNvPr>
              <p:cNvSpPr/>
              <p:nvPr/>
            </p:nvSpPr>
            <p:spPr>
              <a:xfrm>
                <a:off x="755576" y="1984123"/>
                <a:ext cx="1008112" cy="580781"/>
              </a:xfrm>
              <a:prstGeom prst="foldedCorner">
                <a:avLst/>
              </a:prstGeom>
              <a:noFill/>
              <a:ln w="635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E036EB88-D8DA-4359-9B42-3298F9758F68}"/>
                </a:ext>
              </a:extLst>
            </p:cNvPr>
            <p:cNvSpPr/>
            <p:nvPr/>
          </p:nvSpPr>
          <p:spPr>
            <a:xfrm>
              <a:off x="1907704" y="5977390"/>
              <a:ext cx="432048" cy="175992"/>
            </a:xfrm>
            <a:prstGeom prst="rightArrow">
              <a:avLst/>
            </a:prstGeom>
            <a:noFill/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A9B7DCA-EE04-4F7C-95BD-B36575407884}"/>
                </a:ext>
              </a:extLst>
            </p:cNvPr>
            <p:cNvSpPr/>
            <p:nvPr/>
          </p:nvSpPr>
          <p:spPr>
            <a:xfrm>
              <a:off x="2483768" y="5432123"/>
              <a:ext cx="5544616" cy="1296144"/>
            </a:xfrm>
            <a:prstGeom prst="round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101E8C-E5F3-43F1-A884-CC2C8D2BC092}"/>
                </a:ext>
              </a:extLst>
            </p:cNvPr>
            <p:cNvSpPr txBox="1"/>
            <p:nvPr/>
          </p:nvSpPr>
          <p:spPr>
            <a:xfrm>
              <a:off x="2843808" y="5013176"/>
              <a:ext cx="47525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straight-forward process to upload data</a:t>
              </a:r>
              <a:endParaRPr lang="el-GR" sz="20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2170A6-72E8-4BD7-92F6-2FEB9DB81D3A}"/>
                </a:ext>
              </a:extLst>
            </p:cNvPr>
            <p:cNvSpPr txBox="1"/>
            <p:nvPr/>
          </p:nvSpPr>
          <p:spPr>
            <a:xfrm>
              <a:off x="2627784" y="5837202"/>
              <a:ext cx="53285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Step 2. Consistency check (quality control routines)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77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 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progress work -&gt;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 surveys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378C3B-4F7F-4FE4-921A-216721825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71657"/>
            <a:ext cx="1302565" cy="5706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854E4A-A463-4A81-9EB8-24ACAD3D5054}"/>
              </a:ext>
            </a:extLst>
          </p:cNvPr>
          <p:cNvSpPr txBox="1"/>
          <p:nvPr/>
        </p:nvSpPr>
        <p:spPr>
          <a:xfrm>
            <a:off x="378136" y="1847721"/>
            <a:ext cx="48965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MEDIAS database</a:t>
            </a:r>
            <a:r>
              <a:rPr lang="el-GR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structure</a:t>
            </a:r>
          </a:p>
          <a:p>
            <a:r>
              <a:rPr lang="en-US" sz="2000" i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Acoustics, Pelagic trawl, CTDs</a:t>
            </a:r>
          </a:p>
          <a:p>
            <a:endParaRPr lang="en-US" sz="12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Integration with RDBFIS</a:t>
            </a:r>
          </a:p>
          <a:p>
            <a:endParaRPr lang="en-US" sz="12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Validation scheme</a:t>
            </a:r>
          </a:p>
          <a:p>
            <a:endParaRPr lang="en-US" sz="12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4. Consistency check (</a:t>
            </a:r>
            <a:r>
              <a:rPr lang="en-US" sz="2000" b="1" i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endParaRPr lang="en-US" sz="12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5. Processing (SQL)</a:t>
            </a:r>
          </a:p>
          <a:p>
            <a:r>
              <a:rPr lang="en-US" sz="2000" i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Abundance, Biomass, Abundance-Biomass</a:t>
            </a:r>
          </a:p>
          <a:p>
            <a:endParaRPr lang="en-US" sz="12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6.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Eggs &amp; Larvae database structure</a:t>
            </a:r>
          </a:p>
          <a:p>
            <a:endParaRPr lang="en-US" sz="12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7. The MEDIAS data call is in progress, </a:t>
            </a:r>
          </a:p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Four workshops have been conducted</a:t>
            </a:r>
            <a:b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20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3C3E1-6659-41D7-97AF-FF92E596F9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08104" y="1229271"/>
            <a:ext cx="796695" cy="587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581F83-CA4F-49AD-8113-CA0EE39CAE3D}"/>
              </a:ext>
            </a:extLst>
          </p:cNvPr>
          <p:cNvSpPr txBox="1"/>
          <p:nvPr/>
        </p:nvSpPr>
        <p:spPr>
          <a:xfrm>
            <a:off x="5076058" y="2055619"/>
            <a:ext cx="35283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 &amp; updated versions</a:t>
            </a:r>
          </a:p>
          <a:p>
            <a:endParaRPr lang="en-US" sz="10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RoME</a:t>
            </a:r>
          </a:p>
          <a:p>
            <a:r>
              <a:rPr lang="en-US" sz="22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</a:t>
            </a:r>
            <a:r>
              <a:rPr lang="en-US" sz="2200" b="1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RoMEBS</a:t>
            </a:r>
            <a:endParaRPr lang="en-US" sz="22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</a:t>
            </a:r>
            <a:r>
              <a:rPr lang="en-US" sz="2200" b="1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BioIndex</a:t>
            </a:r>
            <a:r>
              <a:rPr lang="en-US" sz="22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4AA21-9B92-466D-B9D0-D18840087A47}"/>
              </a:ext>
            </a:extLst>
          </p:cNvPr>
          <p:cNvSpPr txBox="1"/>
          <p:nvPr/>
        </p:nvSpPr>
        <p:spPr>
          <a:xfrm>
            <a:off x="2051720" y="638401"/>
            <a:ext cx="5544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497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MEDITS &amp; MEDIAS integration within RDBFIS </a:t>
            </a:r>
            <a:endParaRPr lang="el-GR" sz="2400" b="1" dirty="0">
              <a:solidFill>
                <a:srgbClr val="1E497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488A70-2BA7-4063-ADE0-73D499664580}"/>
              </a:ext>
            </a:extLst>
          </p:cNvPr>
          <p:cNvCxnSpPr/>
          <p:nvPr/>
        </p:nvCxnSpPr>
        <p:spPr>
          <a:xfrm>
            <a:off x="4860032" y="1271657"/>
            <a:ext cx="0" cy="49656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C16385-DAC7-4846-8B1A-44EA8B730C32}"/>
              </a:ext>
            </a:extLst>
          </p:cNvPr>
          <p:cNvSpPr txBox="1"/>
          <p:nvPr/>
        </p:nvSpPr>
        <p:spPr>
          <a:xfrm>
            <a:off x="5004051" y="4175209"/>
            <a:ext cx="37444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the framework of the projects </a:t>
            </a:r>
            <a:r>
              <a:rPr lang="en-US" sz="1600" b="1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Qualitrain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RDBFIS, improvements were made on the R packages supporting the </a:t>
            </a:r>
            <a:r>
              <a:rPr lang="en-US" sz="1600" u="sng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quality and processing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  <a:p>
            <a:pPr algn="just"/>
            <a:endParaRPr lang="en-US" sz="16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Within RDBFIS, the packages have been updated, replacing the older versions.</a:t>
            </a:r>
          </a:p>
        </p:txBody>
      </p:sp>
    </p:spTree>
    <p:extLst>
      <p:ext uri="{BB962C8B-B14F-4D97-AF65-F5344CB8AC3E}">
        <p14:creationId xmlns:p14="http://schemas.microsoft.com/office/powerpoint/2010/main" val="204057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chemeClr val="bg1"/>
                </a:solidFill>
                <a:latin typeface="Calibri Light" pitchFamily="34" charset="0"/>
                <a:cs typeface="Calibri Light" pitchFamily="34" charset="0"/>
              </a:rPr>
              <a:t> overview</a:t>
            </a:r>
            <a:endParaRPr kumimoji="0" lang="en-GB" sz="2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D1512444-598A-429B-8F2B-3562F4269895}"/>
              </a:ext>
            </a:extLst>
          </p:cNvPr>
          <p:cNvSpPr/>
          <p:nvPr/>
        </p:nvSpPr>
        <p:spPr>
          <a:xfrm>
            <a:off x="865087" y="1124744"/>
            <a:ext cx="3130849" cy="5184576"/>
          </a:xfrm>
          <a:prstGeom prst="can">
            <a:avLst/>
          </a:prstGeom>
          <a:solidFill>
            <a:schemeClr val="bg2"/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l-GR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76F8BFE1-A548-4887-A565-574F961AC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281529"/>
            <a:ext cx="2664296" cy="473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l-GR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Med&amp;BS RDB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l-GR" b="1" dirty="0">
              <a:solidFill>
                <a:schemeClr val="accent1">
                  <a:lumMod val="20000"/>
                  <a:lumOff val="80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Med&amp;BS, FDI &amp;</a:t>
            </a: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GFCM/DCRF datacalls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Detailed bio data</a:t>
            </a:r>
            <a:endParaRPr kumimoji="0" lang="en-US" altLang="el-GR" sz="200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MEDITS, </a:t>
            </a: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MEDIAS, </a:t>
            </a: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Eggs&amp;Larvae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Large Pelagic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EU Fleet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Stomach content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PETS, a</a:t>
            </a: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lien species, r</a:t>
            </a: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ecreational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Coding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l-GR" sz="200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Environmental</a:t>
            </a:r>
          </a:p>
          <a:p>
            <a:pPr marL="180975" marR="0" lvl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l-GR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Spatial data</a:t>
            </a:r>
            <a:endParaRPr kumimoji="0" lang="en-US" altLang="el-GR" sz="200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9967EF-F798-4B26-B57F-A2BA83182A05}"/>
              </a:ext>
            </a:extLst>
          </p:cNvPr>
          <p:cNvSpPr/>
          <p:nvPr/>
        </p:nvSpPr>
        <p:spPr>
          <a:xfrm>
            <a:off x="539552" y="986953"/>
            <a:ext cx="7992888" cy="5538391"/>
          </a:xfrm>
          <a:prstGeom prst="rect">
            <a:avLst/>
          </a:prstGeom>
          <a:noFill/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28F84C-F814-42B8-A5C6-43E398CA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25" y="759118"/>
            <a:ext cx="1333647" cy="4191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EE56E1C-97FD-491C-AABC-902D6A7CDBC9}"/>
              </a:ext>
            </a:extLst>
          </p:cNvPr>
          <p:cNvSpPr txBox="1"/>
          <p:nvPr/>
        </p:nvSpPr>
        <p:spPr>
          <a:xfrm>
            <a:off x="4788024" y="1435417"/>
            <a:ext cx="3168352" cy="45858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Components</a:t>
            </a:r>
          </a:p>
          <a:p>
            <a:endParaRPr lang="en-US" sz="8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UI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Validation schemes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RDBqc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RDBprocessing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RoME, </a:t>
            </a: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RoMEBS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BioIndex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EU fleet analysis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MCDA for SSF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FDI spatial checks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Mapping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Stomach content &amp; Eggs&amp;Larvae data entry forms</a:t>
            </a:r>
          </a:p>
        </p:txBody>
      </p:sp>
    </p:spTree>
    <p:extLst>
      <p:ext uri="{BB962C8B-B14F-4D97-AF65-F5344CB8AC3E}">
        <p14:creationId xmlns:p14="http://schemas.microsoft.com/office/powerpoint/2010/main" val="241131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 and Large Pelagic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D9EAD-F0F4-4899-8B52-FFE7C4CC4B14}"/>
              </a:ext>
            </a:extLst>
          </p:cNvPr>
          <p:cNvSpPr txBox="1"/>
          <p:nvPr/>
        </p:nvSpPr>
        <p:spPr>
          <a:xfrm>
            <a:off x="755576" y="737735"/>
            <a:ext cx="5904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Common RDB format &amp; test  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6D0886-FF42-40B7-A580-AD9E439D2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5" y="1628800"/>
            <a:ext cx="3312368" cy="2759539"/>
          </a:xfrm>
          <a:prstGeom prst="rect">
            <a:avLst/>
          </a:prstGeom>
          <a:ln w="3175">
            <a:solidFill>
              <a:schemeClr val="accent1"/>
            </a:solidFill>
          </a:ln>
        </p:spPr>
      </p:pic>
      <p:pic>
        <p:nvPicPr>
          <p:cNvPr id="18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E0FEB48F-E8F6-4AFC-8926-1F489BE4228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283968" y="1628800"/>
            <a:ext cx="3824456" cy="2759539"/>
          </a:xfrm>
          <a:prstGeom prst="rect">
            <a:avLst/>
          </a:prstGeom>
          <a:noFill/>
          <a:ln w="3175">
            <a:solidFill>
              <a:schemeClr val="accent1"/>
            </a:solidFill>
            <a:prstDash/>
          </a:ln>
        </p:spPr>
      </p:pic>
    </p:spTree>
    <p:extLst>
      <p:ext uri="{BB962C8B-B14F-4D97-AF65-F5344CB8AC3E}">
        <p14:creationId xmlns:p14="http://schemas.microsoft.com/office/powerpoint/2010/main" val="66738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 and Large Pelagic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pic>
        <p:nvPicPr>
          <p:cNvPr id="5" name="Picture 4">
            <a:hlinkClick r:id="rId3" action="ppaction://hlinkfile"/>
            <a:extLst>
              <a:ext uri="{FF2B5EF4-FFF2-40B4-BE49-F238E27FC236}">
                <a16:creationId xmlns:a16="http://schemas.microsoft.com/office/drawing/2014/main" id="{78A48657-65BF-4327-9318-F6C45F5F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756788"/>
            <a:ext cx="3178328" cy="554315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4C2C18-309C-4437-826B-D8B4B1508BF3}"/>
              </a:ext>
            </a:extLst>
          </p:cNvPr>
          <p:cNvSpPr txBox="1"/>
          <p:nvPr/>
        </p:nvSpPr>
        <p:spPr>
          <a:xfrm>
            <a:off x="611560" y="1556792"/>
            <a:ext cx="3024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LP database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Species 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Morphometry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Maturity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Stomach content, prey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Age, rings</a:t>
            </a: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endParaRPr lang="en-US" dirty="0">
              <a:solidFill>
                <a:schemeClr val="bg2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5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cs typeface="Calibri Light" pitchFamily="34" charset="0"/>
                <a:sym typeface="Arial"/>
              </a:rPr>
              <a:t>RDBFIS</a:t>
            </a: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</a:rPr>
              <a:t> and Large Pelagic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cs typeface="Calibri Light" pitchFamily="34" charset="0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C2C18-309C-4437-826B-D8B4B1508BF3}"/>
              </a:ext>
            </a:extLst>
          </p:cNvPr>
          <p:cNvSpPr txBox="1"/>
          <p:nvPr/>
        </p:nvSpPr>
        <p:spPr>
          <a:xfrm>
            <a:off x="323528" y="620688"/>
            <a:ext cx="2232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ICCAT datacall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1C6CB-009D-4F4A-8204-E56C184BCEA3}"/>
              </a:ext>
            </a:extLst>
          </p:cNvPr>
          <p:cNvSpPr txBox="1"/>
          <p:nvPr/>
        </p:nvSpPr>
        <p:spPr>
          <a:xfrm>
            <a:off x="467544" y="1184285"/>
            <a:ext cx="36004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ST01-T1FC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TASK 1 - FLEET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063B9-CBF7-4237-8560-B54E7F0FC757}"/>
              </a:ext>
            </a:extLst>
          </p:cNvPr>
          <p:cNvSpPr txBox="1"/>
          <p:nvPr/>
        </p:nvSpPr>
        <p:spPr>
          <a:xfrm>
            <a:off x="471074" y="1924451"/>
            <a:ext cx="359686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ST02-T1NC</a:t>
            </a:r>
          </a:p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TASK 1- NOMINAL CATCHES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07191-3339-46F0-BCE8-CE9780D94EB7}"/>
              </a:ext>
            </a:extLst>
          </p:cNvPr>
          <p:cNvSpPr txBox="1"/>
          <p:nvPr/>
        </p:nvSpPr>
        <p:spPr>
          <a:xfrm>
            <a:off x="482269" y="2674565"/>
            <a:ext cx="358567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/>
              <a:t>ST03-T2CE_ALB</a:t>
            </a:r>
          </a:p>
          <a:p>
            <a:r>
              <a:rPr lang="en-US" dirty="0"/>
              <a:t>TASK 2 - CATCH AND EFFORT </a:t>
            </a:r>
            <a:endParaRPr lang="el-G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7B186-0617-4662-BD1B-DCB29F3DA5BE}"/>
              </a:ext>
            </a:extLst>
          </p:cNvPr>
          <p:cNvSpPr txBox="1"/>
          <p:nvPr/>
        </p:nvSpPr>
        <p:spPr>
          <a:xfrm>
            <a:off x="485924" y="3437288"/>
            <a:ext cx="358201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80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/>
              <a:t>ST03-T2CE_BFT</a:t>
            </a:r>
          </a:p>
          <a:p>
            <a:r>
              <a:rPr lang="en-US" dirty="0"/>
              <a:t>TASK 2 - CATCH AND EFFORT 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5ADCA-EB0D-499B-837C-FFDCBE9E4574}"/>
              </a:ext>
            </a:extLst>
          </p:cNvPr>
          <p:cNvSpPr txBox="1"/>
          <p:nvPr/>
        </p:nvSpPr>
        <p:spPr>
          <a:xfrm>
            <a:off x="485924" y="4205897"/>
            <a:ext cx="358201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800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dirty="0"/>
              <a:t>ST03-T2CE_SWO</a:t>
            </a:r>
          </a:p>
          <a:p>
            <a:r>
              <a:rPr lang="en-US" dirty="0"/>
              <a:t>TASK 2 - CATCH AND EFFORT </a:t>
            </a:r>
            <a:endParaRPr lang="el-G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31183-CC93-4435-B9DD-C060154107B5}"/>
              </a:ext>
            </a:extLst>
          </p:cNvPr>
          <p:cNvSpPr txBox="1"/>
          <p:nvPr/>
        </p:nvSpPr>
        <p:spPr>
          <a:xfrm>
            <a:off x="4211960" y="1924451"/>
            <a:ext cx="457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ST04-T2SZ_ALB</a:t>
            </a:r>
          </a:p>
          <a:p>
            <a:r>
              <a:rPr lang="en-US" b="0" dirty="0"/>
              <a:t>TASK 2 - SIZE SAMPLING (tunas and sharks) </a:t>
            </a:r>
            <a:endParaRPr lang="el-GR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9D965-814E-44CA-A0B8-7098BB6D5D31}"/>
              </a:ext>
            </a:extLst>
          </p:cNvPr>
          <p:cNvSpPr txBox="1"/>
          <p:nvPr/>
        </p:nvSpPr>
        <p:spPr>
          <a:xfrm>
            <a:off x="4211960" y="2674565"/>
            <a:ext cx="457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ST04-T2SZ_BFT</a:t>
            </a:r>
          </a:p>
          <a:p>
            <a:r>
              <a:rPr lang="en-US" b="0" dirty="0"/>
              <a:t>TASK 2 - SIZE SAMPLING (tunas and sharks) </a:t>
            </a:r>
            <a:endParaRPr lang="el-GR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D7E88-65B3-4D07-8D76-72D804DA0896}"/>
              </a:ext>
            </a:extLst>
          </p:cNvPr>
          <p:cNvSpPr txBox="1"/>
          <p:nvPr/>
        </p:nvSpPr>
        <p:spPr>
          <a:xfrm>
            <a:off x="4211960" y="3437288"/>
            <a:ext cx="457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ST04-T2SZ_SWO</a:t>
            </a:r>
          </a:p>
          <a:p>
            <a:r>
              <a:rPr lang="en-US" b="0" dirty="0"/>
              <a:t>TASK 2 - SIZE SAMPLING (tunas and sharks) </a:t>
            </a:r>
            <a:endParaRPr lang="el-GR" b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5DAD2-D780-4E88-945F-BEA3DB6B38A8}"/>
              </a:ext>
            </a:extLst>
          </p:cNvPr>
          <p:cNvSpPr txBox="1"/>
          <p:nvPr/>
        </p:nvSpPr>
        <p:spPr>
          <a:xfrm>
            <a:off x="4211960" y="4200367"/>
            <a:ext cx="457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bg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ST09-DomObPrg</a:t>
            </a:r>
          </a:p>
          <a:p>
            <a:r>
              <a:rPr lang="en-US" b="0" dirty="0"/>
              <a:t>Task 3 - Domestic Observer's </a:t>
            </a:r>
            <a:r>
              <a:rPr lang="en-US" b="0" dirty="0" err="1"/>
              <a:t>Programme</a:t>
            </a:r>
            <a:r>
              <a:rPr lang="en-US" b="0" dirty="0"/>
              <a:t> </a:t>
            </a:r>
            <a:endParaRPr lang="el-GR" b="0" dirty="0"/>
          </a:p>
        </p:txBody>
      </p:sp>
    </p:spTree>
    <p:extLst>
      <p:ext uri="{BB962C8B-B14F-4D97-AF65-F5344CB8AC3E}">
        <p14:creationId xmlns:p14="http://schemas.microsoft.com/office/powerpoint/2010/main" val="330851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57FBB04-EC7B-4C95-9291-F2D632A839B0}"/>
              </a:ext>
            </a:extLst>
          </p:cNvPr>
          <p:cNvGrpSpPr/>
          <p:nvPr/>
        </p:nvGrpSpPr>
        <p:grpSpPr>
          <a:xfrm>
            <a:off x="2987824" y="223692"/>
            <a:ext cx="3240360" cy="669925"/>
            <a:chOff x="2667398" y="223692"/>
            <a:chExt cx="3240360" cy="669925"/>
          </a:xfrm>
        </p:grpSpPr>
        <p:pic>
          <p:nvPicPr>
            <p:cNvPr id="8" name="Picture 7" descr="v1.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7598" y="437158"/>
              <a:ext cx="1440160" cy="456459"/>
            </a:xfrm>
            <a:prstGeom prst="rect">
              <a:avLst/>
            </a:prstGeom>
          </p:spPr>
        </p:pic>
        <p:pic>
          <p:nvPicPr>
            <p:cNvPr id="9" name="Imagen 1" descr="logo_ec_17_colors_300dpi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398" y="223692"/>
              <a:ext cx="1360805" cy="669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7DC07-D403-463B-B625-DD0C69F58948}"/>
              </a:ext>
            </a:extLst>
          </p:cNvPr>
          <p:cNvSpPr/>
          <p:nvPr/>
        </p:nvSpPr>
        <p:spPr>
          <a:xfrm>
            <a:off x="1757938" y="1124744"/>
            <a:ext cx="558423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Symbol"/>
              </a:rPr>
              <a:t>EASME/EMFF/2020/OP/0021</a:t>
            </a:r>
          </a:p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Specific Contract CINEA/EMFAF/2024/3.1/01/SC08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Symbol"/>
              </a:rPr>
              <a:t>Establishment of the Regional Database for the Mediterranean and Black Seas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"/>
              </a:rPr>
              <a:t>(RDBFIS-III,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"/>
              </a:rPr>
              <a:t>01/04/2025 – 21/05/2026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Calibri"/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E90152-5229-44BF-81D0-CB26EDA60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756" y="2924944"/>
            <a:ext cx="5688632" cy="1821262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F16D9A-4AF7-435F-9CDD-A63BFF94285E}"/>
              </a:ext>
            </a:extLst>
          </p:cNvPr>
          <p:cNvSpPr txBox="1"/>
          <p:nvPr/>
        </p:nvSpPr>
        <p:spPr>
          <a:xfrm>
            <a:off x="2699792" y="5085184"/>
            <a:ext cx="45762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Project Coordinator: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Dr. Irida Maina (HCMR)</a:t>
            </a:r>
          </a:p>
          <a:p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Scientific Coordinator: Stefanos Kavadas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 descr="https://ec.europa.eu/info/sites/info/themes/europa/images/svg/logo/logo--en.svg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4"/>
            <a:ext cx="9144000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noFill/>
          </a:ln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GB" sz="2000" b="1" kern="0" dirty="0" err="1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  <a:sym typeface="Arial"/>
              </a:rPr>
              <a:t>Med&amp;BS</a:t>
            </a:r>
            <a:r>
              <a:rPr lang="en-GB" sz="2000" b="1" kern="0" dirty="0">
                <a:solidFill>
                  <a:srgbClr val="FFFFFF"/>
                </a:solidFill>
                <a:latin typeface="Calibri Light" pitchFamily="34" charset="0"/>
                <a:cs typeface="Calibri Light" pitchFamily="34" charset="0"/>
                <a:sym typeface="Arial"/>
              </a:rPr>
              <a:t> RDBFIS-III</a:t>
            </a:r>
          </a:p>
        </p:txBody>
      </p:sp>
      <p:sp>
        <p:nvSpPr>
          <p:cNvPr id="2" name="Rectangle 1"/>
          <p:cNvSpPr/>
          <p:nvPr/>
        </p:nvSpPr>
        <p:spPr>
          <a:xfrm>
            <a:off x="5943600" y="653111"/>
            <a:ext cx="171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 typeface="Arial"/>
              <a:buNone/>
            </a:pPr>
            <a:r>
              <a:rPr lang="en-US" b="1" kern="0" dirty="0">
                <a:solidFill>
                  <a:srgbClr val="000000"/>
                </a:solidFill>
                <a:latin typeface="Calibri Light" charset="-95"/>
                <a:ea typeface="Calibri" charset="-95"/>
                <a:cs typeface="Calibri Light" charset="-95"/>
                <a:sym typeface="Arial"/>
              </a:rPr>
              <a:t>Project structure</a:t>
            </a:r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08961"/>
            <a:ext cx="4838700" cy="537337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60830" y="5877272"/>
            <a:ext cx="4123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Sub-Task 0.1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Project management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Sub-Task 0.2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Meetings with CINEA/DG MARE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Sub-Task 0.3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Reporting activities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883" y="1219200"/>
            <a:ext cx="3751076" cy="4001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Aim</a:t>
            </a:r>
            <a:endParaRPr lang="el-GR" b="1" dirty="0">
              <a:solidFill>
                <a:srgbClr val="000000"/>
              </a:solidFill>
              <a:latin typeface="Calibri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/>
                <a:cs typeface="Calibri Light"/>
              </a:rPr>
              <a:t>Continue the hosting, maintenance, fine-tuning and further development of RDBFIS; </a:t>
            </a:r>
            <a:endParaRPr lang="el-GR" sz="1600" dirty="0">
              <a:solidFill>
                <a:srgbClr val="000000"/>
              </a:solidFill>
              <a:latin typeface="Calibri" pitchFamily="34" charset="0"/>
              <a:ea typeface="Calibri"/>
              <a:cs typeface="Calibri Light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/>
                <a:cs typeface="Calibri Light"/>
              </a:rPr>
              <a:t>Finalize the population of RDBFIS with data (from existing data calls) and agree with the relevant actors on an all-encompassing data call for the future; </a:t>
            </a:r>
            <a:endParaRPr lang="el-GR" sz="1600" dirty="0">
              <a:solidFill>
                <a:srgbClr val="000000"/>
              </a:solidFill>
              <a:latin typeface="Calibri" pitchFamily="34" charset="0"/>
              <a:ea typeface="Calibri"/>
              <a:cs typeface="Calibri Light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/>
                <a:cs typeface="Calibri Light"/>
              </a:rPr>
              <a:t>Work towards using RDBFIS for submission to the main data calls and reporting obligations; </a:t>
            </a:r>
            <a:endParaRPr lang="el-GR" sz="1600" dirty="0">
              <a:solidFill>
                <a:srgbClr val="000000"/>
              </a:solidFill>
              <a:latin typeface="Calibri" pitchFamily="34" charset="0"/>
              <a:ea typeface="Calibri"/>
              <a:cs typeface="Calibri Light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/>
                <a:cs typeface="Calibri Light"/>
              </a:rPr>
              <a:t>Provide support to the users of RDBFIS and to ensure the migration to the permanent host once a decision is taken. </a:t>
            </a:r>
            <a:endParaRPr lang="el-GR" sz="1600" dirty="0">
              <a:solidFill>
                <a:srgbClr val="000000"/>
              </a:solidFill>
              <a:latin typeface="Calibri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970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78" y="63089"/>
            <a:ext cx="9112910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TASK 4: Fine-tuning and further development of RDBFIS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E8DE83-B0E6-4148-9C28-2D10D9B53878}"/>
              </a:ext>
            </a:extLst>
          </p:cNvPr>
          <p:cNvGrpSpPr/>
          <p:nvPr/>
        </p:nvGrpSpPr>
        <p:grpSpPr>
          <a:xfrm>
            <a:off x="296944" y="801387"/>
            <a:ext cx="8667544" cy="5723957"/>
            <a:chOff x="230257" y="699182"/>
            <a:chExt cx="8667544" cy="5723957"/>
          </a:xfrm>
        </p:grpSpPr>
        <p:sp>
          <p:nvSpPr>
            <p:cNvPr id="5" name="Rectangle 4"/>
            <p:cNvSpPr/>
            <p:nvPr/>
          </p:nvSpPr>
          <p:spPr>
            <a:xfrm>
              <a:off x="230257" y="699182"/>
              <a:ext cx="2034480" cy="12311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1-Regional database maintenance and restructuring</a:t>
              </a:r>
            </a:p>
            <a:p>
              <a:r>
                <a:rPr lang="pt-BR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 Kavadas, I.Maina (HCMR)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1-13</a:t>
              </a:r>
              <a:endParaRPr lang="el-GR" sz="1400" dirty="0">
                <a:solidFill>
                  <a:prstClr val="blac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401334" y="699182"/>
              <a:ext cx="2170666" cy="12618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2- Update/revision of existing data quality tools</a:t>
              </a:r>
            </a:p>
            <a:p>
              <a:r>
                <a:rPr lang="it-IT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I.Bitetto, W. Zupa (COISPA)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2 - 5</a:t>
              </a:r>
              <a:endParaRPr lang="el-GR" sz="1400" dirty="0">
                <a:solidFill>
                  <a:prstClr val="blac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708039" y="699182"/>
              <a:ext cx="2024201" cy="14157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3-Development of data quality tools: MEDIAS</a:t>
              </a:r>
            </a:p>
            <a:p>
              <a:r>
                <a:rPr lang="it-IT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S.Kavadas, A.Kapelonis (HCMR), T. Hattab (Ifremer)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2- 8</a:t>
              </a:r>
              <a:endParaRPr lang="el-GR" sz="1400" dirty="0">
                <a:solidFill>
                  <a:prstClr val="blac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34200" y="729960"/>
              <a:ext cx="1916733" cy="14465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4-Further development &amp; adjustments of tools4MCDA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Maina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(HCMR),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S.Kavadas</a:t>
              </a:r>
              <a:endParaRPr lang="en-US" sz="1200" i="1" dirty="0">
                <a:solidFill>
                  <a:prstClr val="blac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r>
                <a:rPr lang="en-US" sz="12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8-1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01334" y="2554811"/>
              <a:ext cx="2198067" cy="190821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6- Improvement and further development of the existing validation scheme and consistency checks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Kavadas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, 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Maina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(HCMR), 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Chamodrakas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(UOA)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1 - 12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80706" y="2554811"/>
              <a:ext cx="2051534" cy="17235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7-Fleet analysis (yearly updates), improvement of spatial checks for FDI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Kavadas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, 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Chamodrakas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(UOA)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5 to 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934200" y="2554811"/>
              <a:ext cx="1963601" cy="12311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8-Integration of sampling optimization in RDBFIS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Bitetto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W.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Zupa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(COISPA)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1 to 12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0257" y="2554811"/>
              <a:ext cx="2016121" cy="17543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5-Improvement &amp; further development of the spatial visualization (mapping) component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Dokos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,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I.Maina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M:1 to 9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0257" y="4699590"/>
              <a:ext cx="2024132" cy="17235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9-Common raising procedures for the </a:t>
              </a:r>
              <a:r>
                <a:rPr lang="en-US" sz="1600" b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Med&amp;BS</a:t>
              </a:r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biological data</a:t>
              </a:r>
              <a:r>
                <a:rPr lang="en-US" sz="16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Pantazi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(HCMR), K.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Touloumis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(FRI)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1 to 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401334" y="4699590"/>
              <a:ext cx="2170666" cy="1169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10-stat4RDBFIS software Package development </a:t>
              </a: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V. Sgardeli (HCMR), I. Costantini (CNR)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4 to 12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680706" y="4699590"/>
              <a:ext cx="2051534" cy="11695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11-Development of the MAPAFISH-MED tool</a:t>
              </a:r>
              <a:endParaRPr lang="en-US" sz="1600" dirty="0">
                <a:solidFill>
                  <a:prstClr val="black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V.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Sgardeli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, D.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Damalas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2, 3, 12, 13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34200" y="4699590"/>
              <a:ext cx="1871732" cy="113877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12-Fine-tuning 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I. </a:t>
              </a:r>
              <a:r>
                <a:rPr lang="en-US" sz="1400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Chamodrakas</a:t>
              </a:r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</a:t>
              </a:r>
              <a:r>
                <a:rPr lang="en-US" sz="1400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UoA</a:t>
              </a:r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), 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Kavadas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, K. </a:t>
              </a:r>
              <a:r>
                <a:rPr lang="en-US" sz="1200" i="1" dirty="0" err="1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Kalkavouras</a:t>
              </a:r>
              <a:r>
                <a:rPr lang="en-US" sz="1200" i="1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(HCMR)  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M: 1 to 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316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2BCB1A3EAD7648835B4D52C97948FF" ma:contentTypeVersion="0" ma:contentTypeDescription="Create a new document." ma:contentTypeScope="" ma:versionID="efd01072a2aaace5b0cd61f8b4350a02">
  <xsd:schema xmlns:xsd="http://www.w3.org/2001/XMLSchema" xmlns:xs="http://www.w3.org/2001/XMLSchema" xmlns:p="http://schemas.microsoft.com/office/2006/metadata/properties" xmlns:ns2="4d5313c0-c1e6-4122-afa9-da1ccdba405d" xmlns:ns3="362c980f-4e38-4cca-bd06-5104ee5993c5" targetNamespace="http://schemas.microsoft.com/office/2006/metadata/properties" ma:root="true" ma:fieldsID="5816a5875ebd85047b71fa20beee95af" ns2:_="" ns3:_="">
    <xsd:import namespace="4d5313c0-c1e6-4122-afa9-da1ccdba405d"/>
    <xsd:import namespace="362c980f-4e38-4cca-bd06-5104ee5993c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TaxCatchAllLabel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13c0-c1e6-4122-afa9-da1ccdba405d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readOnly="false" ma:fieldId="{23f27201-bee3-471e-b2e7-b64fd8b7ca38}" ma:taxonomyMulti="true" ma:sspId="d535ea34-4ec8-4f57-b85b-d8a79460f02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b2cc2698-5fc4-4ff6-b1d3-64e75efa1efc}" ma:internalName="TaxCatchAll" ma:readOnly="false" ma:showField="CatchAllData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b2cc2698-5fc4-4ff6-b1d3-64e75efa1efc}" ma:internalName="TaxCatchAllLabel" ma:readOnly="false" ma:showField="CatchAllDataLabel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c980f-4e38-4cca-bd06-5104ee5993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5313c0-c1e6-4122-afa9-da1ccdba405d"/>
    <TaxCatchAllLabel xmlns="4d5313c0-c1e6-4122-afa9-da1ccdba405d"/>
    <TaxKeywordTaxHTField xmlns="4d5313c0-c1e6-4122-afa9-da1ccdba405d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49687C5C-8DA6-4ECA-8269-B40E12132E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0FA133-74A2-4352-BE37-7BDADE8B00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313c0-c1e6-4122-afa9-da1ccdba405d"/>
    <ds:schemaRef ds:uri="362c980f-4e38-4cca-bd06-5104ee5993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E03F0A-D01B-46E1-B341-2517BAA330B3}">
  <ds:schemaRefs>
    <ds:schemaRef ds:uri="http://schemas.microsoft.com/office/2006/metadata/properties"/>
    <ds:schemaRef ds:uri="http://schemas.microsoft.com/office/infopath/2007/PartnerControls"/>
    <ds:schemaRef ds:uri="4d5313c0-c1e6-4122-afa9-da1ccdba405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21218</TotalTime>
  <Words>936</Words>
  <Application>Microsoft Office PowerPoint</Application>
  <PresentationFormat>On-screen Show (4:3)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Wingdings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stefanos</dc:creator>
  <cp:lastModifiedBy>Stefanos Kavadas</cp:lastModifiedBy>
  <cp:revision>2589</cp:revision>
  <dcterms:modified xsi:type="dcterms:W3CDTF">2025-06-04T02:57:40Z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0x010100852BCB1A3EAD7648835B4D52C97948FF</vt:lpwstr>
  </property>
</Properties>
</file>