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0" r:id="rId5"/>
  </p:sldMasterIdLst>
  <p:notesMasterIdLst>
    <p:notesMasterId r:id="rId22"/>
  </p:notesMasterIdLst>
  <p:sldIdLst>
    <p:sldId id="257" r:id="rId6"/>
    <p:sldId id="258" r:id="rId7"/>
    <p:sldId id="609" r:id="rId8"/>
    <p:sldId id="664" r:id="rId9"/>
    <p:sldId id="582" r:id="rId10"/>
    <p:sldId id="654" r:id="rId11"/>
    <p:sldId id="666" r:id="rId12"/>
    <p:sldId id="588" r:id="rId13"/>
    <p:sldId id="593" r:id="rId14"/>
    <p:sldId id="606" r:id="rId15"/>
    <p:sldId id="607" r:id="rId16"/>
    <p:sldId id="608" r:id="rId17"/>
    <p:sldId id="286" r:id="rId18"/>
    <p:sldId id="665" r:id="rId19"/>
    <p:sldId id="568" r:id="rId20"/>
    <p:sldId id="56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96322" autoAdjust="0"/>
  </p:normalViewPr>
  <p:slideViewPr>
    <p:cSldViewPr>
      <p:cViewPr varScale="1">
        <p:scale>
          <a:sx n="107" d="100"/>
          <a:sy n="107" d="100"/>
        </p:scale>
        <p:origin x="1384" y="13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CDF764-5E72-4AAF-9039-FA6BF9CBFC5F}" type="datetimeFigureOut">
              <a:rPr lang="en-US" smtClean="0"/>
              <a:t>5/5/2026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5E8FD5-C534-4262-9F18-48F10B6C4C8E}" type="slidenum">
              <a:rPr lang="en-US" smtClean="0"/>
              <a:t>‹#›</a:t>
            </a:fld>
            <a:endParaRPr lang="en-US"/>
          </a:p>
        </p:txBody>
      </p:sp>
    </p:spTree>
    <p:extLst>
      <p:ext uri="{BB962C8B-B14F-4D97-AF65-F5344CB8AC3E}">
        <p14:creationId xmlns:p14="http://schemas.microsoft.com/office/powerpoint/2010/main" val="2386875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aa397a42ba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aa397a42ba_0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1" dirty="0">
                <a:solidFill>
                  <a:schemeClr val="bg2">
                    <a:lumMod val="75000"/>
                  </a:schemeClr>
                </a:solidFill>
                <a:latin typeface="Calibri" pitchFamily="34" charset="0"/>
                <a:ea typeface="Calibri" pitchFamily="34" charset="0"/>
                <a:cs typeface="Calibri" pitchFamily="34" charset="0"/>
              </a:rPr>
              <a:t>Actions already performed</a:t>
            </a:r>
          </a:p>
          <a:p>
            <a:endParaRPr lang="en-US" sz="2000" dirty="0">
              <a:solidFill>
                <a:schemeClr val="bg2">
                  <a:lumMod val="75000"/>
                </a:schemeClr>
              </a:solidFill>
              <a:latin typeface="Calibri" pitchFamily="34" charset="0"/>
              <a:ea typeface="Calibri" pitchFamily="34" charset="0"/>
              <a:cs typeface="Calibri" pitchFamily="34" charset="0"/>
            </a:endParaRPr>
          </a:p>
          <a:p>
            <a:pPr marL="285750" indent="-285750">
              <a:buFont typeface="Wingdings" pitchFamily="2" charset="2"/>
              <a:buChar char="v"/>
            </a:pPr>
            <a:r>
              <a:rPr lang="en-US" sz="2000" b="1" dirty="0">
                <a:solidFill>
                  <a:schemeClr val="bg2">
                    <a:lumMod val="75000"/>
                  </a:schemeClr>
                </a:solidFill>
                <a:latin typeface="Calibri" pitchFamily="34" charset="0"/>
                <a:ea typeface="Calibri" pitchFamily="34" charset="0"/>
                <a:cs typeface="Calibri" pitchFamily="34" charset="0"/>
              </a:rPr>
              <a:t>Participation in meetings</a:t>
            </a:r>
            <a:r>
              <a:rPr lang="en-US" sz="2000" dirty="0">
                <a:solidFill>
                  <a:schemeClr val="bg2">
                    <a:lumMod val="75000"/>
                  </a:schemeClr>
                </a:solidFill>
                <a:latin typeface="Calibri" pitchFamily="34" charset="0"/>
                <a:ea typeface="Calibri" pitchFamily="34" charset="0"/>
                <a:cs typeface="Calibri" pitchFamily="34" charset="0"/>
              </a:rPr>
              <a:t>:</a:t>
            </a:r>
          </a:p>
          <a:p>
            <a:pPr marL="742950" lvl="6"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MEDIAS SC </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MEDITS SC </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RCG ECON </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RCG LP </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SC RDB</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MED&amp;BS RCG</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DCF Liaison Meeting</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NC DCF meetings</a:t>
            </a:r>
          </a:p>
          <a:p>
            <a:pPr marL="0" lvl="7"/>
            <a:endParaRPr lang="en-US" sz="2000" b="1" dirty="0">
              <a:solidFill>
                <a:schemeClr val="bg2">
                  <a:lumMod val="75000"/>
                </a:schemeClr>
              </a:solidFill>
              <a:latin typeface="Calibri" pitchFamily="34" charset="0"/>
              <a:ea typeface="Calibri" pitchFamily="34" charset="0"/>
              <a:cs typeface="Calibri" pitchFamily="34" charset="0"/>
            </a:endParaRPr>
          </a:p>
          <a:p>
            <a:pPr marL="285750" lvl="7" indent="-285750">
              <a:buFont typeface="Wingdings" pitchFamily="2" charset="2"/>
              <a:buChar char="v"/>
            </a:pPr>
            <a:r>
              <a:rPr lang="en-US" sz="2000" dirty="0">
                <a:solidFill>
                  <a:schemeClr val="bg2">
                    <a:lumMod val="75000"/>
                  </a:schemeClr>
                </a:solidFill>
                <a:latin typeface="Calibri" pitchFamily="34" charset="0"/>
                <a:ea typeface="Calibri" pitchFamily="34" charset="0"/>
                <a:cs typeface="Calibri" pitchFamily="34" charset="0"/>
              </a:rPr>
              <a:t>A series of </a:t>
            </a:r>
            <a:r>
              <a:rPr lang="en-US" sz="2000" b="1" dirty="0">
                <a:solidFill>
                  <a:schemeClr val="bg2">
                    <a:lumMod val="75000"/>
                  </a:schemeClr>
                </a:solidFill>
                <a:latin typeface="Calibri" pitchFamily="34" charset="0"/>
                <a:ea typeface="Calibri" pitchFamily="34" charset="0"/>
                <a:cs typeface="Calibri" pitchFamily="34" charset="0"/>
              </a:rPr>
              <a:t>dedicated workshops and meetings </a:t>
            </a:r>
            <a:r>
              <a:rPr lang="en-US" sz="2000" dirty="0">
                <a:solidFill>
                  <a:schemeClr val="bg2">
                    <a:lumMod val="75000"/>
                  </a:schemeClr>
                </a:solidFill>
                <a:latin typeface="Calibri" pitchFamily="34" charset="0"/>
                <a:ea typeface="Calibri" pitchFamily="34" charset="0"/>
                <a:cs typeface="Calibri" pitchFamily="34" charset="0"/>
              </a:rPr>
              <a:t>focusing on fine-tuning and further development have been organised to facilitate the implementation of the project activities. </a:t>
            </a:r>
          </a:p>
          <a:p>
            <a:endParaRPr lang="el-GR" dirty="0"/>
          </a:p>
        </p:txBody>
      </p:sp>
      <p:sp>
        <p:nvSpPr>
          <p:cNvPr id="4" name="Slide Number Placeholder 3"/>
          <p:cNvSpPr>
            <a:spLocks noGrp="1"/>
          </p:cNvSpPr>
          <p:nvPr>
            <p:ph type="sldNum" sz="quarter" idx="5"/>
          </p:nvPr>
        </p:nvSpPr>
        <p:spPr/>
        <p:txBody>
          <a:bodyPr/>
          <a:lstStyle/>
          <a:p>
            <a:fld id="{955E8FD5-C534-4262-9F18-48F10B6C4C8E}" type="slidenum">
              <a:rPr lang="en-US" smtClean="0"/>
              <a:t>3</a:t>
            </a:fld>
            <a:endParaRPr lang="en-US"/>
          </a:p>
        </p:txBody>
      </p:sp>
    </p:spTree>
    <p:extLst>
      <p:ext uri="{BB962C8B-B14F-4D97-AF65-F5344CB8AC3E}">
        <p14:creationId xmlns:p14="http://schemas.microsoft.com/office/powerpoint/2010/main" val="1901169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l-GR"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368033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just" defTabSz="914400" rtl="0" eaLnBrk="1" fontAlgn="base" latinLnBrk="0" hangingPunct="1">
              <a:lnSpc>
                <a:spcPct val="100000"/>
              </a:lnSpc>
              <a:spcBef>
                <a:spcPct val="0"/>
              </a:spcBef>
              <a:spcAft>
                <a:spcPct val="0"/>
              </a:spcAft>
              <a:buClrTx/>
              <a:buSzTx/>
              <a:buFont typeface="Arial"/>
              <a:buNone/>
              <a:tabLst/>
              <a:defRPr/>
            </a:pPr>
            <a:r>
              <a:rPr kumimoji="0" lang="en-US" sz="1100" b="1"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A data call </a:t>
            </a:r>
            <a:r>
              <a:rPr kumimoji="0" lang="en-US" sz="11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was drafted to the relevant Member States of the Med&amp;BS region. The requested datasets covers the periods of the DCR &amp; DCF programs</a:t>
            </a:r>
          </a:p>
          <a:p>
            <a:pPr marL="0" marR="0" lvl="0" indent="0" algn="just" defTabSz="914400" rtl="0" eaLnBrk="1" fontAlgn="base" latinLnBrk="0" hangingPunct="1">
              <a:lnSpc>
                <a:spcPct val="100000"/>
              </a:lnSpc>
              <a:spcBef>
                <a:spcPct val="0"/>
              </a:spcBef>
              <a:spcAft>
                <a:spcPct val="0"/>
              </a:spcAft>
              <a:buClrTx/>
              <a:buSzTx/>
              <a:buFont typeface="Arial"/>
              <a:buNone/>
              <a:tabLst/>
              <a:defRPr/>
            </a:pPr>
            <a:endParaRPr kumimoji="0" lang="en-US" sz="8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endParaRPr>
          </a:p>
          <a:p>
            <a:pPr marL="4635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i="1" u="none" strike="noStrike" kern="0" cap="none" spc="0" normalizeH="0" baseline="0" noProof="0" dirty="0">
                <a:ln>
                  <a:noFill/>
                </a:ln>
                <a:solidFill>
                  <a:srgbClr val="1E497C"/>
                </a:solidFill>
                <a:effectLst/>
                <a:uLnTx/>
                <a:uFillTx/>
                <a:latin typeface="Calibri Light" charset="-95"/>
                <a:ea typeface="Calibri" charset="-95"/>
                <a:cs typeface="Calibri Light" charset="-95"/>
                <a:sym typeface="Arial"/>
              </a:rPr>
              <a:t>2002-2022 for Med&amp;BS datacall, </a:t>
            </a:r>
          </a:p>
          <a:p>
            <a:pPr marL="4635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i="1" u="none" strike="noStrike" kern="0" cap="none" spc="0" normalizeH="0" baseline="0" noProof="0" dirty="0">
                <a:ln>
                  <a:noFill/>
                </a:ln>
                <a:solidFill>
                  <a:srgbClr val="1E497C"/>
                </a:solidFill>
                <a:effectLst/>
                <a:uLnTx/>
                <a:uFillTx/>
                <a:latin typeface="Calibri Light" charset="-95"/>
                <a:ea typeface="Calibri" charset="-95"/>
                <a:cs typeface="Calibri Light" charset="-95"/>
                <a:sym typeface="Arial"/>
              </a:rPr>
              <a:t>2013-2022 for FDI datacall, </a:t>
            </a:r>
          </a:p>
          <a:p>
            <a:pPr marL="4635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i="1" u="none" strike="noStrike" kern="0" cap="none" spc="0" normalizeH="0" baseline="0" noProof="0" dirty="0">
                <a:ln>
                  <a:noFill/>
                </a:ln>
                <a:solidFill>
                  <a:srgbClr val="1E497C"/>
                </a:solidFill>
                <a:effectLst/>
                <a:uLnTx/>
                <a:uFillTx/>
                <a:latin typeface="Calibri Light" charset="-95"/>
                <a:ea typeface="Calibri" charset="-95"/>
                <a:cs typeface="Calibri Light" charset="-95"/>
                <a:sym typeface="Arial"/>
              </a:rPr>
              <a:t>2017-2022 for GFCM/DCRF datacall, </a:t>
            </a:r>
          </a:p>
          <a:p>
            <a:pPr marL="4635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i="1" u="none" strike="noStrike" kern="0" cap="none" spc="0" normalizeH="0" baseline="0" noProof="0" dirty="0">
                <a:ln>
                  <a:noFill/>
                </a:ln>
                <a:solidFill>
                  <a:srgbClr val="1E497C"/>
                </a:solidFill>
                <a:effectLst/>
                <a:uLnTx/>
                <a:uFillTx/>
                <a:latin typeface="Calibri Light" charset="-95"/>
                <a:ea typeface="Calibri" charset="-95"/>
                <a:cs typeface="Calibri Light" charset="-95"/>
                <a:sym typeface="Arial"/>
              </a:rPr>
              <a:t>Med&amp;BS RCG data (DCR &amp; DCF: fishing intensity, landings).</a:t>
            </a:r>
          </a:p>
          <a:p>
            <a:pPr marL="4635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i="1" u="none" strike="noStrike" kern="0" cap="none" spc="0" normalizeH="0" baseline="0" noProof="0" dirty="0">
                <a:ln>
                  <a:noFill/>
                </a:ln>
                <a:solidFill>
                  <a:srgbClr val="1E497C"/>
                </a:solidFill>
                <a:effectLst/>
                <a:uLnTx/>
                <a:uFillTx/>
                <a:latin typeface="Calibri Light" charset="-95"/>
                <a:ea typeface="Calibri" charset="-95"/>
                <a:cs typeface="Calibri Light" charset="-95"/>
                <a:sym typeface="Arial"/>
              </a:rPr>
              <a:t>Detailed biological data</a:t>
            </a:r>
          </a:p>
          <a:p>
            <a:pPr marL="4635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i="1" u="none" strike="noStrike" kern="0" cap="none" spc="0" normalizeH="0" baseline="0" noProof="0" dirty="0">
                <a:ln>
                  <a:noFill/>
                </a:ln>
                <a:solidFill>
                  <a:srgbClr val="1E497C"/>
                </a:solidFill>
                <a:effectLst/>
                <a:uLnTx/>
                <a:uFillTx/>
                <a:latin typeface="Calibri Light" charset="-95"/>
                <a:ea typeface="Calibri" charset="-95"/>
                <a:cs typeface="Calibri Light" charset="-95"/>
                <a:sym typeface="Arial"/>
              </a:rPr>
              <a:t>MEDITS data</a:t>
            </a:r>
          </a:p>
          <a:p>
            <a:pPr marL="463550" marR="0" lvl="0" indent="-285750" algn="just"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000" i="1" dirty="0">
                <a:solidFill>
                  <a:srgbClr val="1E497C"/>
                </a:solidFill>
                <a:latin typeface="Calibri Light" charset="-95"/>
                <a:ea typeface="Calibri" charset="-95"/>
                <a:cs typeface="Calibri Light" charset="-95"/>
              </a:rPr>
              <a:t>AER data</a:t>
            </a:r>
            <a:endParaRPr kumimoji="0" lang="en-US" sz="1000" i="1" u="none" strike="noStrike" kern="0" cap="none" spc="0" normalizeH="0" baseline="0" noProof="0" dirty="0">
              <a:ln>
                <a:noFill/>
              </a:ln>
              <a:solidFill>
                <a:srgbClr val="1E497C"/>
              </a:solidFill>
              <a:effectLst/>
              <a:uLnTx/>
              <a:uFillTx/>
              <a:latin typeface="Calibri Light" charset="-95"/>
              <a:ea typeface="Calibri" charset="-95"/>
              <a:cs typeface="Calibri Light" charset="-95"/>
              <a:sym typeface="Arial"/>
            </a:endParaRPr>
          </a:p>
          <a:p>
            <a:pPr marL="0" marR="0" lvl="0" indent="0" algn="just" defTabSz="914400" rtl="0" eaLnBrk="1" fontAlgn="base" latinLnBrk="0" hangingPunct="1">
              <a:lnSpc>
                <a:spcPct val="100000"/>
              </a:lnSpc>
              <a:spcBef>
                <a:spcPct val="0"/>
              </a:spcBef>
              <a:spcAft>
                <a:spcPct val="0"/>
              </a:spcAft>
              <a:buClrTx/>
              <a:buSzTx/>
              <a:buFont typeface="Arial"/>
              <a:buNone/>
              <a:tabLst/>
              <a:defRPr/>
            </a:pPr>
            <a:r>
              <a:rPr kumimoji="0" lang="en-US" sz="10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 </a:t>
            </a:r>
          </a:p>
          <a:p>
            <a:pPr marL="0" marR="0" lvl="0" indent="0" algn="just" defTabSz="914400" rtl="0" eaLnBrk="1" fontAlgn="base" latinLnBrk="0" hangingPunct="1">
              <a:lnSpc>
                <a:spcPct val="100000"/>
              </a:lnSpc>
              <a:spcBef>
                <a:spcPct val="0"/>
              </a:spcBef>
              <a:spcAft>
                <a:spcPct val="0"/>
              </a:spcAft>
              <a:buClrTx/>
              <a:buSzTx/>
              <a:buFont typeface="Arial"/>
              <a:buNone/>
              <a:tabLst/>
              <a:defRPr/>
            </a:pPr>
            <a:r>
              <a:rPr kumimoji="0" lang="en-US" sz="11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The </a:t>
            </a:r>
            <a:r>
              <a:rPr kumimoji="0" lang="en-US" sz="1100" b="1"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JRC</a:t>
            </a:r>
            <a:r>
              <a:rPr kumimoji="0" lang="en-US" sz="11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 and </a:t>
            </a:r>
            <a:r>
              <a:rPr kumimoji="0" lang="en-US" sz="1100" b="1"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GFCM</a:t>
            </a:r>
            <a:r>
              <a:rPr kumimoji="0" lang="en-US" sz="11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 provided the </a:t>
            </a:r>
            <a:r>
              <a:rPr lang="en-US" sz="1100" i="1" dirty="0">
                <a:solidFill>
                  <a:schemeClr val="accent1">
                    <a:lumMod val="50000"/>
                  </a:schemeClr>
                </a:solidFill>
                <a:latin typeface="Calibri Light" charset="-95"/>
                <a:ea typeface="Calibri" charset="-95"/>
                <a:cs typeface="Calibri Light" charset="-95"/>
              </a:rPr>
              <a:t>requested datasets;</a:t>
            </a:r>
          </a:p>
          <a:p>
            <a:pPr marL="0" marR="0" lvl="0" indent="0" algn="just" defTabSz="914400" rtl="0" eaLnBrk="1" fontAlgn="base" latinLnBrk="0" hangingPunct="1">
              <a:lnSpc>
                <a:spcPct val="100000"/>
              </a:lnSpc>
              <a:spcBef>
                <a:spcPct val="0"/>
              </a:spcBef>
              <a:spcAft>
                <a:spcPct val="0"/>
              </a:spcAft>
              <a:buClrTx/>
              <a:buSzTx/>
              <a:buFont typeface="Arial"/>
              <a:buNone/>
              <a:tabLst/>
              <a:defRPr/>
            </a:pPr>
            <a:endParaRPr kumimoji="0" lang="en-US" sz="8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endParaRPr>
          </a:p>
          <a:p>
            <a:pPr marL="0" marR="0" lvl="0" indent="0" algn="just" defTabSz="914400" rtl="0" eaLnBrk="1" fontAlgn="base" latinLnBrk="0" hangingPunct="1">
              <a:lnSpc>
                <a:spcPct val="100000"/>
              </a:lnSpc>
              <a:spcBef>
                <a:spcPct val="0"/>
              </a:spcBef>
              <a:spcAft>
                <a:spcPct val="0"/>
              </a:spcAft>
              <a:buClrTx/>
              <a:buSzTx/>
              <a:buFont typeface="Arial"/>
              <a:buNone/>
              <a:tabLst/>
              <a:defRPr/>
            </a:pPr>
            <a:r>
              <a:rPr kumimoji="0" lang="en-US" sz="11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The Member States are invited to use the </a:t>
            </a:r>
            <a:r>
              <a:rPr lang="en-US" sz="1100" i="1" dirty="0">
                <a:solidFill>
                  <a:schemeClr val="accent1">
                    <a:lumMod val="50000"/>
                  </a:schemeClr>
                </a:solidFill>
                <a:latin typeface="Calibri Light" charset="-95"/>
                <a:ea typeface="Calibri" charset="-95"/>
                <a:cs typeface="Calibri Light" charset="-95"/>
              </a:rPr>
              <a:t>RDBFIS</a:t>
            </a:r>
            <a:r>
              <a:rPr kumimoji="0" lang="en-US" sz="11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 to execute syntax and data quality control procedures and store the clean data into the system (</a:t>
            </a:r>
            <a:r>
              <a:rPr kumimoji="0" lang="en-US" sz="1100" b="0" i="1" u="sng"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through a strict set of validation rules solid based on the datacall ANNEXES</a:t>
            </a:r>
            <a:r>
              <a:rPr kumimoji="0" lang="en-US" sz="1100" b="0" i="1" u="none"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 A dedicated RDBFIS team support this process through bilateral contacts and working jointly with the Member States. </a:t>
            </a:r>
            <a:r>
              <a:rPr lang="en-US" sz="1100" b="1" i="1" dirty="0">
                <a:solidFill>
                  <a:schemeClr val="accent1">
                    <a:lumMod val="50000"/>
                  </a:schemeClr>
                </a:solidFill>
                <a:latin typeface="Calibri Light" charset="-95"/>
                <a:ea typeface="Calibri" charset="-95"/>
                <a:cs typeface="Calibri Light" charset="-95"/>
              </a:rPr>
              <a:t>T</a:t>
            </a:r>
            <a:r>
              <a:rPr kumimoji="0" lang="en-US" sz="1100" b="1" i="1" strike="noStrike" kern="0" cap="none" spc="0" normalizeH="0" baseline="0" noProof="0" dirty="0">
                <a:ln>
                  <a:noFill/>
                </a:ln>
                <a:solidFill>
                  <a:schemeClr val="accent1">
                    <a:lumMod val="50000"/>
                  </a:schemeClr>
                </a:solidFill>
                <a:effectLst/>
                <a:uLnTx/>
                <a:uFillTx/>
                <a:latin typeface="Calibri Light" charset="-95"/>
                <a:ea typeface="Calibri" charset="-95"/>
                <a:cs typeface="Calibri Light" charset="-95"/>
                <a:sym typeface="Arial"/>
              </a:rPr>
              <a:t>he process is progressing satisfactorily, the RDBFIS core team supports all MSs’ requirements.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l-GR"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742851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a:buNone/>
            </a:pPr>
            <a:endParaRPr lang="el-G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a:buNone/>
            </a:pPr>
            <a:endParaRPr lang="el-GR" dirty="0"/>
          </a:p>
        </p:txBody>
      </p:sp>
    </p:spTree>
    <p:extLst>
      <p:ext uri="{BB962C8B-B14F-4D97-AF65-F5344CB8AC3E}">
        <p14:creationId xmlns:p14="http://schemas.microsoft.com/office/powerpoint/2010/main" val="1077482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sz="1100" b="1" i="1" dirty="0">
                <a:solidFill>
                  <a:srgbClr val="002060"/>
                </a:solidFill>
                <a:latin typeface="Calibri Light" pitchFamily="34" charset="0"/>
                <a:ea typeface="Calibri Light" pitchFamily="34" charset="0"/>
                <a:cs typeface="Calibri Light" pitchFamily="34" charset="0"/>
                <a:sym typeface="Symbol"/>
              </a:rPr>
              <a:t>fleet analysis tool: potential links with the landings/discards/values – FDI table A</a:t>
            </a:r>
            <a:endParaRPr lang="el-GR" dirty="0"/>
          </a:p>
        </p:txBody>
      </p:sp>
    </p:spTree>
    <p:extLst>
      <p:ext uri="{BB962C8B-B14F-4D97-AF65-F5344CB8AC3E}">
        <p14:creationId xmlns:p14="http://schemas.microsoft.com/office/powerpoint/2010/main" val="101676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54"/>
            <a:ext cx="7772400" cy="14700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00" tIns="45700" rIns="91400"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115189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2" y="273050"/>
            <a:ext cx="3008313" cy="1162050"/>
          </a:xfrm>
          <a:prstGeom prst="rect">
            <a:avLst/>
          </a:prstGeom>
          <a:noFill/>
          <a:ln>
            <a:noFill/>
          </a:ln>
        </p:spPr>
        <p:txBody>
          <a:bodyPr spcFirstLastPara="1" wrap="square" lIns="91400" tIns="45700" rIns="91400"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79"/>
            <a:ext cx="5111750" cy="5853113"/>
          </a:xfrm>
          <a:prstGeom prst="rect">
            <a:avLst/>
          </a:prstGeom>
          <a:noFill/>
          <a:ln>
            <a:noFill/>
          </a:ln>
        </p:spPr>
        <p:txBody>
          <a:bodyPr spcFirstLastPara="1" wrap="square" lIns="91400" tIns="45700" rIns="91400"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2" y="1435103"/>
            <a:ext cx="3008313" cy="4691063"/>
          </a:xfrm>
          <a:prstGeom prst="rect">
            <a:avLst/>
          </a:prstGeom>
          <a:noFill/>
          <a:ln>
            <a:noFill/>
          </a:ln>
        </p:spPr>
        <p:txBody>
          <a:bodyPr spcFirstLastPara="1" wrap="square" lIns="91400" tIns="45700" rIns="91400"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650601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1"/>
            <a:ext cx="5486400" cy="566738"/>
          </a:xfrm>
          <a:prstGeom prst="rect">
            <a:avLst/>
          </a:prstGeom>
          <a:noFill/>
          <a:ln>
            <a:noFill/>
          </a:ln>
        </p:spPr>
        <p:txBody>
          <a:bodyPr spcFirstLastPara="1" wrap="square" lIns="91400" tIns="45700" rIns="91400"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6"/>
            <a:ext cx="5486400" cy="4114800"/>
          </a:xfrm>
          <a:prstGeom prst="rect">
            <a:avLst/>
          </a:prstGeom>
          <a:noFill/>
          <a:ln>
            <a:noFill/>
          </a:ln>
        </p:spPr>
        <p:txBody>
          <a:bodyPr spcFirstLastPara="1" wrap="square" lIns="91400" tIns="45700" rIns="91400"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00" tIns="45700" rIns="91400"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993043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32" y="-251618"/>
            <a:ext cx="4525963" cy="8229600"/>
          </a:xfrm>
          <a:prstGeom prst="rect">
            <a:avLst/>
          </a:prstGeom>
          <a:noFill/>
          <a:ln>
            <a:noFill/>
          </a:ln>
        </p:spPr>
        <p:txBody>
          <a:bodyPr spcFirstLastPara="1" wrap="square" lIns="91400" tIns="45700" rIns="91400"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569005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51" y="2171700"/>
            <a:ext cx="5851525" cy="20574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53" y="190501"/>
            <a:ext cx="5851525" cy="6019800"/>
          </a:xfrm>
          <a:prstGeom prst="rect">
            <a:avLst/>
          </a:prstGeom>
          <a:noFill/>
          <a:ln>
            <a:noFill/>
          </a:ln>
        </p:spPr>
        <p:txBody>
          <a:bodyPr spcFirstLastPara="1" wrap="square" lIns="91400" tIns="45700" rIns="91400"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634626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3"/>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val="3714940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144296D5-671A-F85F-2BB3-169E395D6404}"/>
              </a:ext>
            </a:extLst>
          </p:cNvPr>
          <p:cNvSpPr/>
          <p:nvPr userDrawn="1"/>
        </p:nvSpPr>
        <p:spPr>
          <a:xfrm>
            <a:off x="189542" y="5913579"/>
            <a:ext cx="8707856" cy="886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91"/>
            <a:endParaRPr lang="gl-ES" sz="1050">
              <a:solidFill>
                <a:prstClr val="white"/>
              </a:solidFill>
            </a:endParaRPr>
          </a:p>
        </p:txBody>
      </p:sp>
      <p:sp>
        <p:nvSpPr>
          <p:cNvPr id="8" name="Rectangle 7"/>
          <p:cNvSpPr>
            <a:spLocks noChangeAspect="1"/>
          </p:cNvSpPr>
          <p:nvPr/>
        </p:nvSpPr>
        <p:spPr>
          <a:xfrm>
            <a:off x="335919" y="5495721"/>
            <a:ext cx="8475953" cy="90508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hasCustomPrompt="1"/>
          </p:nvPr>
        </p:nvSpPr>
        <p:spPr>
          <a:xfrm>
            <a:off x="467972" y="3191721"/>
            <a:ext cx="8208169" cy="1389804"/>
          </a:xfrm>
        </p:spPr>
        <p:txBody>
          <a:bodyPr anchor="b">
            <a:normAutofit/>
          </a:bodyPr>
          <a:lstStyle>
            <a:lvl1pPr algn="l">
              <a:defRPr sz="2701" b="0" cap="all">
                <a:solidFill>
                  <a:schemeClr val="accent5"/>
                </a:solidFill>
              </a:defRPr>
            </a:lvl1pPr>
          </a:lstStyle>
          <a:p>
            <a:r>
              <a:rPr lang="en-US" dirty="0"/>
              <a:t>Click to edit section title</a:t>
            </a:r>
          </a:p>
        </p:txBody>
      </p:sp>
      <p:sp>
        <p:nvSpPr>
          <p:cNvPr id="3" name="Text Placeholder 2"/>
          <p:cNvSpPr>
            <a:spLocks noGrp="1"/>
          </p:cNvSpPr>
          <p:nvPr>
            <p:ph type="body" idx="1"/>
          </p:nvPr>
        </p:nvSpPr>
        <p:spPr>
          <a:xfrm>
            <a:off x="467972" y="4693530"/>
            <a:ext cx="8208169" cy="619157"/>
          </a:xfrm>
        </p:spPr>
        <p:txBody>
          <a:bodyPr anchor="t">
            <a:normAutofit/>
          </a:bodyPr>
          <a:lstStyle>
            <a:lvl1pPr marL="0" indent="0" algn="l">
              <a:buNone/>
              <a:defRPr sz="1350" cap="all">
                <a:solidFill>
                  <a:schemeClr val="accent2"/>
                </a:solidFill>
              </a:defRPr>
            </a:lvl1pPr>
            <a:lvl2pPr marL="342991" indent="0">
              <a:buNone/>
              <a:defRPr sz="1350">
                <a:solidFill>
                  <a:schemeClr val="tx1">
                    <a:tint val="75000"/>
                  </a:schemeClr>
                </a:solidFill>
              </a:defRPr>
            </a:lvl2pPr>
            <a:lvl3pPr marL="685983" indent="0">
              <a:buNone/>
              <a:defRPr sz="1200">
                <a:solidFill>
                  <a:schemeClr val="tx1">
                    <a:tint val="75000"/>
                  </a:schemeClr>
                </a:solidFill>
              </a:defRPr>
            </a:lvl3pPr>
            <a:lvl4pPr marL="1028974" indent="0">
              <a:buNone/>
              <a:defRPr sz="1050">
                <a:solidFill>
                  <a:schemeClr val="tx1">
                    <a:tint val="75000"/>
                  </a:schemeClr>
                </a:solidFill>
              </a:defRPr>
            </a:lvl4pPr>
            <a:lvl5pPr marL="1371966" indent="0">
              <a:buNone/>
              <a:defRPr sz="1050">
                <a:solidFill>
                  <a:schemeClr val="tx1">
                    <a:tint val="75000"/>
                  </a:schemeClr>
                </a:solidFill>
              </a:defRPr>
            </a:lvl5pPr>
            <a:lvl6pPr marL="1714957" indent="0">
              <a:buNone/>
              <a:defRPr sz="1050">
                <a:solidFill>
                  <a:schemeClr val="tx1">
                    <a:tint val="75000"/>
                  </a:schemeClr>
                </a:solidFill>
              </a:defRPr>
            </a:lvl6pPr>
            <a:lvl7pPr marL="2057949" indent="0">
              <a:buNone/>
              <a:defRPr sz="1050">
                <a:solidFill>
                  <a:schemeClr val="tx1">
                    <a:tint val="75000"/>
                  </a:schemeClr>
                </a:solidFill>
              </a:defRPr>
            </a:lvl7pPr>
            <a:lvl8pPr marL="2400940" indent="0">
              <a:buNone/>
              <a:defRPr sz="1050">
                <a:solidFill>
                  <a:schemeClr val="tx1">
                    <a:tint val="75000"/>
                  </a:schemeClr>
                </a:solidFill>
              </a:defRPr>
            </a:lvl8pPr>
            <a:lvl9pPr marL="2743932" indent="0">
              <a:buNone/>
              <a:defRPr sz="1050">
                <a:solidFill>
                  <a:schemeClr val="tx1">
                    <a:tint val="75000"/>
                  </a:schemeClr>
                </a:solidFill>
              </a:defRPr>
            </a:lvl9pPr>
          </a:lstStyle>
          <a:p>
            <a:pPr lvl="0"/>
            <a:r>
              <a:rPr lang="en-US" dirty="0"/>
              <a:t>Edit Master text styles</a:t>
            </a:r>
          </a:p>
        </p:txBody>
      </p:sp>
      <p:grpSp>
        <p:nvGrpSpPr>
          <p:cNvPr id="4" name="Grupo 3">
            <a:extLst>
              <a:ext uri="{FF2B5EF4-FFF2-40B4-BE49-F238E27FC236}">
                <a16:creationId xmlns:a16="http://schemas.microsoft.com/office/drawing/2014/main" id="{3B92DF82-E3A5-4724-AA79-878AC26BFF52}"/>
              </a:ext>
            </a:extLst>
          </p:cNvPr>
          <p:cNvGrpSpPr/>
          <p:nvPr userDrawn="1"/>
        </p:nvGrpSpPr>
        <p:grpSpPr>
          <a:xfrm>
            <a:off x="477406" y="5679700"/>
            <a:ext cx="8196152" cy="537122"/>
            <a:chOff x="636485" y="2625537"/>
            <a:chExt cx="10928203" cy="537122"/>
          </a:xfrm>
        </p:grpSpPr>
        <p:pic>
          <p:nvPicPr>
            <p:cNvPr id="22" name="Picture 1">
              <a:extLst>
                <a:ext uri="{FF2B5EF4-FFF2-40B4-BE49-F238E27FC236}">
                  <a16:creationId xmlns:a16="http://schemas.microsoft.com/office/drawing/2014/main" id="{4A1957FF-2357-4C7F-AFB7-746A4267CA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6485" y="2625538"/>
              <a:ext cx="1681085" cy="537121"/>
            </a:xfrm>
            <a:prstGeom prst="rect">
              <a:avLst/>
            </a:prstGeom>
          </p:spPr>
        </p:pic>
        <p:pic>
          <p:nvPicPr>
            <p:cNvPr id="23" name="Picture 1">
              <a:extLst>
                <a:ext uri="{FF2B5EF4-FFF2-40B4-BE49-F238E27FC236}">
                  <a16:creationId xmlns:a16="http://schemas.microsoft.com/office/drawing/2014/main" id="{7E31F0DF-A26E-4EE2-BC05-D0B639B31C9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85908" y="2625537"/>
              <a:ext cx="1681086" cy="537122"/>
            </a:xfrm>
            <a:prstGeom prst="rect">
              <a:avLst/>
            </a:prstGeom>
          </p:spPr>
        </p:pic>
        <p:pic>
          <p:nvPicPr>
            <p:cNvPr id="24" name="Picture 1">
              <a:extLst>
                <a:ext uri="{FF2B5EF4-FFF2-40B4-BE49-F238E27FC236}">
                  <a16:creationId xmlns:a16="http://schemas.microsoft.com/office/drawing/2014/main" id="{529C7E29-2992-4647-808A-F87E07AAADA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335332" y="2625538"/>
              <a:ext cx="1681083" cy="537120"/>
            </a:xfrm>
            <a:prstGeom prst="rect">
              <a:avLst/>
            </a:prstGeom>
          </p:spPr>
        </p:pic>
        <p:pic>
          <p:nvPicPr>
            <p:cNvPr id="25" name="Picture 1">
              <a:extLst>
                <a:ext uri="{FF2B5EF4-FFF2-40B4-BE49-F238E27FC236}">
                  <a16:creationId xmlns:a16="http://schemas.microsoft.com/office/drawing/2014/main" id="{12CBAE9A-F841-4760-8854-89B44BB7ADF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184753" y="2625538"/>
              <a:ext cx="1681085" cy="537121"/>
            </a:xfrm>
            <a:prstGeom prst="rect">
              <a:avLst/>
            </a:prstGeom>
          </p:spPr>
        </p:pic>
        <p:pic>
          <p:nvPicPr>
            <p:cNvPr id="26" name="Picture 1">
              <a:extLst>
                <a:ext uri="{FF2B5EF4-FFF2-40B4-BE49-F238E27FC236}">
                  <a16:creationId xmlns:a16="http://schemas.microsoft.com/office/drawing/2014/main" id="{1B5B2363-9A54-4DD0-AD13-A2DFD94FD6C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034176" y="2625538"/>
              <a:ext cx="1681085" cy="537121"/>
            </a:xfrm>
            <a:prstGeom prst="rect">
              <a:avLst/>
            </a:prstGeom>
          </p:spPr>
        </p:pic>
        <p:pic>
          <p:nvPicPr>
            <p:cNvPr id="27" name="Picture 1">
              <a:extLst>
                <a:ext uri="{FF2B5EF4-FFF2-40B4-BE49-F238E27FC236}">
                  <a16:creationId xmlns:a16="http://schemas.microsoft.com/office/drawing/2014/main" id="{4871DA72-B951-45ED-99C1-806B3CD7C23A}"/>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883600" y="2625537"/>
              <a:ext cx="1681088" cy="537122"/>
            </a:xfrm>
            <a:prstGeom prst="rect">
              <a:avLst/>
            </a:prstGeom>
          </p:spPr>
        </p:pic>
      </p:grpSp>
    </p:spTree>
    <p:extLst>
      <p:ext uri="{BB962C8B-B14F-4D97-AF65-F5344CB8AC3E}">
        <p14:creationId xmlns:p14="http://schemas.microsoft.com/office/powerpoint/2010/main" val="1473652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3"/>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189791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317808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2" y="273050"/>
            <a:ext cx="3008313" cy="1162050"/>
          </a:xfrm>
          <a:prstGeom prst="rect">
            <a:avLst/>
          </a:prstGeom>
          <a:noFill/>
          <a:ln>
            <a:noFill/>
          </a:ln>
        </p:spPr>
        <p:txBody>
          <a:bodyPr spcFirstLastPara="1" wrap="square" lIns="91400" tIns="45700" rIns="91400"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77"/>
            <a:ext cx="5111750" cy="5853113"/>
          </a:xfrm>
          <a:prstGeom prst="rect">
            <a:avLst/>
          </a:prstGeom>
          <a:noFill/>
          <a:ln>
            <a:noFill/>
          </a:ln>
        </p:spPr>
        <p:txBody>
          <a:bodyPr spcFirstLastPara="1" wrap="square" lIns="91400" tIns="45700" rIns="91400"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2" y="1435103"/>
            <a:ext cx="3008313" cy="4691063"/>
          </a:xfrm>
          <a:prstGeom prst="rect">
            <a:avLst/>
          </a:prstGeom>
          <a:noFill/>
          <a:ln>
            <a:noFill/>
          </a:ln>
        </p:spPr>
        <p:txBody>
          <a:bodyPr spcFirstLastPara="1" wrap="square" lIns="91400" tIns="45700" rIns="91400"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0010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1"/>
            <a:ext cx="5486400" cy="566738"/>
          </a:xfrm>
          <a:prstGeom prst="rect">
            <a:avLst/>
          </a:prstGeom>
          <a:noFill/>
          <a:ln>
            <a:noFill/>
          </a:ln>
        </p:spPr>
        <p:txBody>
          <a:bodyPr spcFirstLastPara="1" wrap="square" lIns="91400" tIns="45700" rIns="91400"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6"/>
            <a:ext cx="5486400" cy="4114800"/>
          </a:xfrm>
          <a:prstGeom prst="rect">
            <a:avLst/>
          </a:prstGeom>
          <a:noFill/>
          <a:ln>
            <a:noFill/>
          </a:ln>
        </p:spPr>
        <p:txBody>
          <a:bodyPr spcFirstLastPara="1" wrap="square" lIns="91400" tIns="45700" rIns="91400"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00" tIns="45700" rIns="91400"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30425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31" y="-251618"/>
            <a:ext cx="4525963" cy="8229600"/>
          </a:xfrm>
          <a:prstGeom prst="rect">
            <a:avLst/>
          </a:prstGeom>
          <a:noFill/>
          <a:ln>
            <a:noFill/>
          </a:ln>
        </p:spPr>
        <p:txBody>
          <a:bodyPr spcFirstLastPara="1" wrap="square" lIns="91400" tIns="45700" rIns="91400"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872718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50" y="2171700"/>
            <a:ext cx="5851525" cy="20574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52" y="190501"/>
            <a:ext cx="5851525" cy="6019800"/>
          </a:xfrm>
          <a:prstGeom prst="rect">
            <a:avLst/>
          </a:prstGeom>
          <a:noFill/>
          <a:ln>
            <a:noFill/>
          </a:ln>
        </p:spPr>
        <p:txBody>
          <a:bodyPr spcFirstLastPara="1" wrap="square" lIns="91400" tIns="45700" rIns="91400"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149631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6"/>
            <a:ext cx="8229600" cy="4525963"/>
          </a:xfrm>
          <a:prstGeom prst="rect">
            <a:avLst/>
          </a:prstGeom>
          <a:noFill/>
          <a:ln>
            <a:noFill/>
          </a:ln>
        </p:spPr>
        <p:txBody>
          <a:bodyPr spcFirstLastPara="1" wrap="square" lIns="91400" tIns="45700" rIns="91400"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9" name="Google Shape;9;p1"/>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0" name="Google Shape;10;p1"/>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3839692906"/>
      </p:ext>
    </p:extLst>
  </p:cSld>
  <p:clrMap bg1="lt1" tx1="dk1" bg2="dk2" tx2="lt2" accent1="accent1" accent2="accent2" accent3="accent3" accent4="accent4" accent5="accent5" accent6="accent6" hlink="hlink" folHlink="folHlink"/>
  <p:sldLayoutIdLst>
    <p:sldLayoutId id="2147483661" r:id="rId1"/>
    <p:sldLayoutId id="2147483666" r:id="rId2"/>
    <p:sldLayoutId id="2147483667" r:id="rId3"/>
    <p:sldLayoutId id="2147483668" r:id="rId4"/>
    <p:sldLayoutId id="2147483669" r:id="rId5"/>
    <p:sldLayoutId id="2147483689" r:id="rId6"/>
    <p:sldLayoutId id="2147483690"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6"/>
            <a:ext cx="8229600" cy="4525963"/>
          </a:xfrm>
          <a:prstGeom prst="rect">
            <a:avLst/>
          </a:prstGeom>
          <a:noFill/>
          <a:ln>
            <a:noFill/>
          </a:ln>
        </p:spPr>
        <p:txBody>
          <a:bodyPr spcFirstLastPara="1" wrap="square" lIns="91400" tIns="45700" rIns="91400"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9" name="Google Shape;9;p1"/>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0" name="Google Shape;10;p1"/>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00817606"/>
      </p:ext>
    </p:extLst>
  </p:cSld>
  <p:clrMap bg1="lt1" tx1="dk1" bg2="dk2" tx2="lt2" accent1="accent1" accent2="accent2" accent3="accent3" accent4="accent4" accent5="accent5" accent6="accent6" hlink="hlink" folHlink="folHlink"/>
  <p:sldLayoutIdLst>
    <p:sldLayoutId id="2147483681" r:id="rId1"/>
    <p:sldLayoutId id="2147483684" r:id="rId2"/>
    <p:sldLayoutId id="2147483685" r:id="rId3"/>
    <p:sldLayoutId id="2147483686" r:id="rId4"/>
    <p:sldLayoutId id="2147483687" r:id="rId5"/>
    <p:sldLayoutId id="2147483688"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MEDIAS/MEDIAS2026/dbStructure/MEDIAS-CTD.html"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hyperlink" Target="https://doi.org/10.1016/j.ecolmodel.2026.111541"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5" descr="https://ec.europa.eu/info/sites/info/themes/europa/images/svg/logo/logo--en.svg"/>
          <p:cNvSpPr/>
          <p:nvPr/>
        </p:nvSpPr>
        <p:spPr>
          <a:xfrm>
            <a:off x="155575" y="-144462"/>
            <a:ext cx="304800" cy="304800"/>
          </a:xfrm>
          <a:prstGeom prst="rect">
            <a:avLst/>
          </a:prstGeom>
          <a:noFill/>
          <a:ln>
            <a:noFill/>
          </a:ln>
        </p:spPr>
        <p:txBody>
          <a:bodyPr spcFirstLastPara="1" wrap="square" lIns="91400" tIns="45700" rIns="91400" bIns="45700" anchor="t" anchorCtr="0">
            <a:noAutofit/>
          </a:bodyPr>
          <a:lstStyle/>
          <a:p>
            <a:pPr>
              <a:buClr>
                <a:srgbClr val="000000"/>
              </a:buClr>
              <a:buFont typeface="Arial"/>
              <a:buNone/>
            </a:pPr>
            <a:endParaRPr kern="0">
              <a:solidFill>
                <a:srgbClr val="000000"/>
              </a:solidFill>
              <a:latin typeface="Calibri"/>
              <a:ea typeface="Calibri"/>
              <a:cs typeface="Calibri"/>
              <a:sym typeface="Calibri"/>
            </a:endParaRPr>
          </a:p>
        </p:txBody>
      </p:sp>
      <p:sp>
        <p:nvSpPr>
          <p:cNvPr id="7" name="Rectangle 6"/>
          <p:cNvSpPr/>
          <p:nvPr/>
        </p:nvSpPr>
        <p:spPr>
          <a:xfrm>
            <a:off x="1345383" y="1041261"/>
            <a:ext cx="6731817" cy="4955203"/>
          </a:xfrm>
          <a:prstGeom prst="rect">
            <a:avLst/>
          </a:prstGeom>
        </p:spPr>
        <p:txBody>
          <a:bodyPr wrap="square">
            <a:spAutoFit/>
          </a:bodyPr>
          <a:lstStyle/>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Symbol"/>
              </a:rPr>
              <a:t>Establishment of the Regional Database </a:t>
            </a:r>
          </a:p>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Symbol"/>
              </a:rPr>
              <a:t>for the Mediterranean and Black Seas</a:t>
            </a:r>
          </a:p>
          <a:p>
            <a:pPr algn="ctr">
              <a:buClr>
                <a:srgbClr val="000000"/>
              </a:buClr>
            </a:pPr>
            <a:r>
              <a:rPr lang="en-US" sz="2400" b="1" kern="0" dirty="0">
                <a:solidFill>
                  <a:schemeClr val="accent1">
                    <a:lumMod val="75000"/>
                  </a:schemeClr>
                </a:solidFill>
                <a:latin typeface="Calibri" pitchFamily="34" charset="0"/>
                <a:ea typeface="Calibri" pitchFamily="34" charset="0"/>
                <a:cs typeface="Calibri" pitchFamily="34" charset="0"/>
                <a:sym typeface="Calibri"/>
              </a:rPr>
              <a:t>(RDBFIS-III)</a:t>
            </a:r>
          </a:p>
          <a:p>
            <a:pPr algn="ctr">
              <a:buClr>
                <a:srgbClr val="000000"/>
              </a:buClr>
              <a:buFont typeface="Arial"/>
              <a:buNone/>
            </a:pPr>
            <a:endParaRPr lang="en-US" sz="1000" b="1" kern="0" dirty="0">
              <a:solidFill>
                <a:schemeClr val="accent1">
                  <a:lumMod val="75000"/>
                </a:schemeClr>
              </a:solidFill>
              <a:latin typeface="Calibri" pitchFamily="34" charset="0"/>
              <a:ea typeface="Calibri" pitchFamily="34" charset="0"/>
              <a:cs typeface="Calibri" pitchFamily="34" charset="0"/>
              <a:sym typeface="Symbol"/>
            </a:endParaRPr>
          </a:p>
          <a:p>
            <a:pPr marL="177800" indent="-177800" algn="ctr">
              <a:buClr>
                <a:srgbClr val="000000"/>
              </a:buClr>
              <a:buFont typeface="Arial"/>
              <a:buNone/>
            </a:pPr>
            <a:r>
              <a:rPr lang="en-US" kern="0" dirty="0">
                <a:solidFill>
                  <a:schemeClr val="accent1">
                    <a:lumMod val="75000"/>
                  </a:schemeClr>
                </a:solidFill>
                <a:latin typeface="Calibri" pitchFamily="34" charset="0"/>
                <a:ea typeface="Calibri" pitchFamily="34" charset="0"/>
                <a:cs typeface="Calibri" pitchFamily="34" charset="0"/>
                <a:sym typeface="Symbol"/>
              </a:rPr>
              <a:t>Under framework contract – EASME/EMFF/2020/OP/0021</a:t>
            </a:r>
          </a:p>
          <a:p>
            <a:pPr algn="ctr">
              <a:buClr>
                <a:srgbClr val="000000"/>
              </a:buClr>
              <a:buFont typeface="Arial"/>
              <a:buNone/>
            </a:pPr>
            <a:r>
              <a:rPr lang="en-US" kern="0" dirty="0">
                <a:solidFill>
                  <a:schemeClr val="accent1">
                    <a:lumMod val="75000"/>
                  </a:schemeClr>
                </a:solidFill>
                <a:latin typeface="Calibri" pitchFamily="34" charset="0"/>
                <a:ea typeface="Calibri" pitchFamily="34" charset="0"/>
                <a:cs typeface="Calibri" pitchFamily="34" charset="0"/>
                <a:sym typeface="Arial"/>
              </a:rPr>
              <a:t>Specific Contract CINEA/EMFAF/2024/3.1/01/SC08</a:t>
            </a:r>
          </a:p>
          <a:p>
            <a:pPr algn="ctr">
              <a:buClr>
                <a:srgbClr val="000000"/>
              </a:buClr>
              <a:buFont typeface="Arial"/>
              <a:buNone/>
            </a:pPr>
            <a:endParaRPr lang="en-US" sz="1600" b="1" kern="0" dirty="0">
              <a:solidFill>
                <a:schemeClr val="accent1">
                  <a:lumMod val="75000"/>
                </a:schemeClr>
              </a:solidFill>
              <a:latin typeface="Calibri" pitchFamily="34" charset="0"/>
              <a:ea typeface="Calibri" pitchFamily="34" charset="0"/>
              <a:cs typeface="Calibri" pitchFamily="34" charset="0"/>
              <a:sym typeface="Calibri"/>
            </a:endParaRPr>
          </a:p>
          <a:p>
            <a:pPr algn="ctr">
              <a:buClr>
                <a:srgbClr val="000000"/>
              </a:buClr>
              <a:buFont typeface="Arial"/>
              <a:buNone/>
            </a:pPr>
            <a:endParaRPr lang="en-US" sz="1400" b="1" kern="0" dirty="0">
              <a:solidFill>
                <a:schemeClr val="accent1">
                  <a:lumMod val="75000"/>
                </a:schemeClr>
              </a:solidFill>
              <a:latin typeface="Calibri" pitchFamily="34" charset="0"/>
              <a:ea typeface="Calibri" pitchFamily="34" charset="0"/>
              <a:cs typeface="Calibri" pitchFamily="34" charset="0"/>
              <a:sym typeface="Calibri"/>
            </a:endParaRPr>
          </a:p>
          <a:p>
            <a:pPr algn="ctr">
              <a:buClr>
                <a:srgbClr val="000000"/>
              </a:buClr>
              <a:buFont typeface="Arial"/>
              <a:buNone/>
            </a:pPr>
            <a:endParaRPr lang="en-US" sz="2400" b="1" kern="0" dirty="0">
              <a:solidFill>
                <a:schemeClr val="accent1">
                  <a:lumMod val="75000"/>
                </a:schemeClr>
              </a:solidFill>
              <a:latin typeface="Calibri" pitchFamily="34" charset="0"/>
              <a:ea typeface="Calibri" pitchFamily="34" charset="0"/>
              <a:cs typeface="Calibri" pitchFamily="34" charset="0"/>
              <a:sym typeface="Calibri"/>
            </a:endParaRPr>
          </a:p>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Calibri"/>
              </a:rPr>
              <a:t>MEDITS COORDINATION GROUP</a:t>
            </a:r>
          </a:p>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Calibri"/>
              </a:rPr>
              <a:t>Málaga (Spain), 5th-7th May 2026</a:t>
            </a:r>
          </a:p>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Calibri"/>
              </a:rPr>
              <a:t>Málaga Oceanographic Centre (COMA)</a:t>
            </a:r>
          </a:p>
          <a:p>
            <a:pPr algn="ctr">
              <a:buClr>
                <a:srgbClr val="000000"/>
              </a:buClr>
              <a:buFont typeface="Arial"/>
              <a:buNone/>
            </a:pPr>
            <a:endParaRPr lang="en-US" sz="2400" b="1" i="1" kern="0" dirty="0">
              <a:solidFill>
                <a:schemeClr val="accent1">
                  <a:lumMod val="75000"/>
                </a:schemeClr>
              </a:solidFill>
              <a:latin typeface="Calibri" pitchFamily="34" charset="0"/>
              <a:ea typeface="Calibri" pitchFamily="34" charset="0"/>
              <a:cs typeface="Calibri" pitchFamily="34" charset="0"/>
              <a:sym typeface="Calibri"/>
            </a:endParaRPr>
          </a:p>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Calibri"/>
              </a:rPr>
              <a:t>RDBFIS OVERVIEW</a:t>
            </a:r>
          </a:p>
          <a:p>
            <a:pPr algn="ctr">
              <a:buClr>
                <a:srgbClr val="000000"/>
              </a:buClr>
              <a:buFont typeface="Arial"/>
              <a:buNone/>
            </a:pPr>
            <a:r>
              <a:rPr lang="en-US" kern="0" dirty="0">
                <a:solidFill>
                  <a:schemeClr val="accent1">
                    <a:lumMod val="75000"/>
                  </a:schemeClr>
                </a:solidFill>
                <a:latin typeface="Calibri" pitchFamily="34" charset="0"/>
                <a:ea typeface="Calibri" pitchFamily="34" charset="0"/>
                <a:cs typeface="Calibri" pitchFamily="34" charset="0"/>
                <a:sym typeface="Calibri"/>
              </a:rPr>
              <a:t>Stefanos Kavadas</a:t>
            </a:r>
            <a:endParaRPr lang="en-US" kern="0" dirty="0">
              <a:solidFill>
                <a:srgbClr val="002060"/>
              </a:solidFill>
              <a:latin typeface="Calibri" pitchFamily="34" charset="0"/>
              <a:ea typeface="Calibri" pitchFamily="34" charset="0"/>
              <a:cs typeface="Calibri" pitchFamily="34" charset="0"/>
              <a:sym typeface="Arial"/>
            </a:endParaRPr>
          </a:p>
        </p:txBody>
      </p:sp>
      <p:sp>
        <p:nvSpPr>
          <p:cNvPr id="10" name="Rectangle 9"/>
          <p:cNvSpPr/>
          <p:nvPr/>
        </p:nvSpPr>
        <p:spPr>
          <a:xfrm>
            <a:off x="0" y="-24"/>
            <a:ext cx="9144000" cy="400110"/>
          </a:xfrm>
          <a:prstGeom prst="rect">
            <a:avLst/>
          </a:prstGeom>
          <a:solidFill>
            <a:schemeClr val="bg2">
              <a:lumMod val="75000"/>
            </a:schemeClr>
          </a:solidFill>
          <a:ln w="6350">
            <a:noFill/>
          </a:ln>
        </p:spPr>
        <p:txBody>
          <a:bodyPr wrap="square">
            <a:spAutoFit/>
          </a:bodyPr>
          <a:lstStyle/>
          <a:p>
            <a:pPr algn="ctr">
              <a:buClr>
                <a:srgbClr val="000000"/>
              </a:buClr>
              <a:buFont typeface="Arial"/>
              <a:buNone/>
            </a:pPr>
            <a:endParaRPr lang="en-GB" sz="2000" b="1" kern="0" dirty="0">
              <a:solidFill>
                <a:srgbClr val="FFFFFF"/>
              </a:solidFill>
              <a:latin typeface="Calibri Light" pitchFamily="34" charset="0"/>
              <a:cs typeface="Calibri Light" pitchFamily="34" charset="0"/>
              <a:sym typeface="Arial"/>
            </a:endParaRPr>
          </a:p>
        </p:txBody>
      </p:sp>
      <p:sp>
        <p:nvSpPr>
          <p:cNvPr id="2" name="Slide Number Placeholder 1">
            <a:extLst>
              <a:ext uri="{FF2B5EF4-FFF2-40B4-BE49-F238E27FC236}">
                <a16:creationId xmlns:a16="http://schemas.microsoft.com/office/drawing/2014/main" id="{E2145D50-B72A-43D0-A439-A0F52AA79E64}"/>
              </a:ext>
            </a:extLst>
          </p:cNvPr>
          <p:cNvSpPr>
            <a:spLocks noGrp="1"/>
          </p:cNvSpPr>
          <p:nvPr>
            <p:ph type="sldNum" idx="12"/>
          </p:nvPr>
        </p:nvSpPr>
        <p:spPr/>
        <p:txBody>
          <a:bodyPr/>
          <a:lstStyle/>
          <a:p>
            <a:fld id="{00000000-1234-1234-1234-123412341234}" type="slidenum">
              <a:rPr lang="en-US" smtClean="0"/>
              <a:pPr/>
              <a:t>1</a:t>
            </a:fld>
            <a:endParaRPr lang="en-US"/>
          </a:p>
        </p:txBody>
      </p:sp>
    </p:spTree>
    <p:extLst>
      <p:ext uri="{BB962C8B-B14F-4D97-AF65-F5344CB8AC3E}">
        <p14:creationId xmlns:p14="http://schemas.microsoft.com/office/powerpoint/2010/main" val="1903942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091" y="788368"/>
            <a:ext cx="9052413" cy="56886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91"/>
            <a:endParaRPr lang="el-GR" sz="1050">
              <a:solidFill>
                <a:prstClr val="white"/>
              </a:solidFill>
            </a:endParaRPr>
          </a:p>
        </p:txBody>
      </p:sp>
      <p:sp>
        <p:nvSpPr>
          <p:cNvPr id="14" name="TextBox 13">
            <a:extLst>
              <a:ext uri="{FF2B5EF4-FFF2-40B4-BE49-F238E27FC236}">
                <a16:creationId xmlns:a16="http://schemas.microsoft.com/office/drawing/2014/main" id="{462907E3-396C-4F6C-96CA-22E75B0BC433}"/>
              </a:ext>
            </a:extLst>
          </p:cNvPr>
          <p:cNvSpPr txBox="1"/>
          <p:nvPr/>
        </p:nvSpPr>
        <p:spPr>
          <a:xfrm>
            <a:off x="899592" y="980728"/>
            <a:ext cx="1656183" cy="830997"/>
          </a:xfrm>
          <a:prstGeom prst="rect">
            <a:avLst/>
          </a:prstGeom>
          <a:solidFill>
            <a:srgbClr val="FFFFFF">
              <a:lumMod val="95000"/>
            </a:srgbClr>
          </a:solidFill>
        </p:spPr>
        <p:txBody>
          <a:bodyPr wrap="square">
            <a:spAutoFit/>
          </a:bodyPr>
          <a:lstStyle/>
          <a:p>
            <a:pPr>
              <a:defRPr/>
            </a:pPr>
            <a:r>
              <a:rPr lang="en-US" sz="1200" b="1"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Phase I</a:t>
            </a: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Start: 01/01/2021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End: 28/02/2023</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Coordinator: S. Kavadas</a:t>
            </a:r>
          </a:p>
        </p:txBody>
      </p:sp>
      <p:sp>
        <p:nvSpPr>
          <p:cNvPr id="16" name="Google Shape;142;p15">
            <a:extLst>
              <a:ext uri="{FF2B5EF4-FFF2-40B4-BE49-F238E27FC236}">
                <a16:creationId xmlns:a16="http://schemas.microsoft.com/office/drawing/2014/main" id="{CA0B7D13-CF2B-415D-8E3F-A7177223F8EF}"/>
              </a:ext>
            </a:extLst>
          </p:cNvPr>
          <p:cNvSpPr/>
          <p:nvPr/>
        </p:nvSpPr>
        <p:spPr>
          <a:xfrm>
            <a:off x="2411760" y="762000"/>
            <a:ext cx="5732900" cy="916968"/>
          </a:xfrm>
          <a:prstGeom prst="rect">
            <a:avLst/>
          </a:prstGeom>
          <a:noFill/>
          <a:ln>
            <a:noFill/>
          </a:ln>
        </p:spPr>
        <p:txBody>
          <a:bodyPr spcFirstLastPara="1" wrap="square" lIns="68587" tIns="34284" rIns="68587" bIns="34284" anchor="t" anchorCtr="0">
            <a:noAutofit/>
          </a:bodyPr>
          <a:lstStyle/>
          <a:p>
            <a:pPr algn="ctr">
              <a:lnSpc>
                <a:spcPct val="105000"/>
              </a:lnSpc>
              <a:defRPr/>
            </a:pPr>
            <a:r>
              <a:rPr lang="en-US" b="1" cap="small" dirty="0">
                <a:solidFill>
                  <a:srgbClr val="1F497D">
                    <a:lumMod val="75000"/>
                  </a:srgbClr>
                </a:solidFill>
                <a:latin typeface="Calibri Light" pitchFamily="34" charset="0"/>
                <a:ea typeface="Calibri"/>
                <a:cs typeface="Calibri Light" pitchFamily="34" charset="0"/>
                <a:sym typeface="Calibri"/>
              </a:rPr>
              <a:t>MARE/2020/08 - SI2.839444</a:t>
            </a:r>
          </a:p>
          <a:p>
            <a:pPr algn="ctr">
              <a:lnSpc>
                <a:spcPct val="105000"/>
              </a:lnSpc>
              <a:defRPr/>
            </a:pPr>
            <a:r>
              <a:rPr lang="en-US" b="1" cap="small" dirty="0">
                <a:solidFill>
                  <a:srgbClr val="1F497D">
                    <a:lumMod val="75000"/>
                  </a:srgbClr>
                </a:solidFill>
                <a:latin typeface="Calibri Light" pitchFamily="34" charset="0"/>
                <a:ea typeface="Calibri"/>
                <a:cs typeface="Calibri Light" pitchFamily="34" charset="0"/>
                <a:sym typeface="Calibri"/>
              </a:rPr>
              <a:t>Development of the Regional Database for the </a:t>
            </a:r>
          </a:p>
          <a:p>
            <a:pPr algn="ctr">
              <a:lnSpc>
                <a:spcPct val="105000"/>
              </a:lnSpc>
              <a:defRPr/>
            </a:pPr>
            <a:r>
              <a:rPr lang="en-US" b="1" cap="small" dirty="0">
                <a:solidFill>
                  <a:srgbClr val="1F497D">
                    <a:lumMod val="75000"/>
                  </a:srgbClr>
                </a:solidFill>
                <a:latin typeface="Calibri Light" pitchFamily="34" charset="0"/>
                <a:ea typeface="Calibri"/>
                <a:cs typeface="Calibri Light" pitchFamily="34" charset="0"/>
                <a:sym typeface="Calibri"/>
              </a:rPr>
              <a:t>Mediterranean &amp; Black Seas (</a:t>
            </a:r>
            <a:r>
              <a:rPr lang="en-US" b="1" dirty="0">
                <a:solidFill>
                  <a:srgbClr val="1F497D">
                    <a:lumMod val="75000"/>
                  </a:srgbClr>
                </a:solidFill>
                <a:latin typeface="Calibri Light" pitchFamily="34" charset="0"/>
                <a:ea typeface="Calibri"/>
                <a:cs typeface="Calibri Light" pitchFamily="34" charset="0"/>
                <a:sym typeface="Calibri"/>
              </a:rPr>
              <a:t>Med&amp;BS RDBFIS</a:t>
            </a:r>
            <a:r>
              <a:rPr lang="en-US" b="1" cap="small" dirty="0">
                <a:solidFill>
                  <a:srgbClr val="1F497D">
                    <a:lumMod val="75000"/>
                  </a:srgbClr>
                </a:solidFill>
                <a:latin typeface="Calibri Light" pitchFamily="34" charset="0"/>
                <a:ea typeface="Calibri"/>
                <a:cs typeface="Calibri Light" pitchFamily="34" charset="0"/>
                <a:sym typeface="Calibri"/>
              </a:rPr>
              <a:t>)</a:t>
            </a:r>
          </a:p>
          <a:p>
            <a:pPr algn="ctr">
              <a:lnSpc>
                <a:spcPct val="105000"/>
              </a:lnSpc>
              <a:defRPr/>
            </a:pPr>
            <a:r>
              <a:rPr lang="en-US" sz="1200" i="1" dirty="0">
                <a:solidFill>
                  <a:srgbClr val="1F497D">
                    <a:lumMod val="75000"/>
                  </a:srgbClr>
                </a:solidFill>
                <a:latin typeface="Calibri Light" pitchFamily="34" charset="0"/>
                <a:ea typeface="Calibri"/>
                <a:cs typeface="Calibri Light" pitchFamily="34" charset="0"/>
                <a:sym typeface="Calibri"/>
              </a:rPr>
              <a:t>This project has financed under the European Maritime and Fisheries Fund (EMFF)</a:t>
            </a:r>
          </a:p>
        </p:txBody>
      </p:sp>
      <p:sp>
        <p:nvSpPr>
          <p:cNvPr id="18" name="Google Shape;142;p15">
            <a:extLst>
              <a:ext uri="{FF2B5EF4-FFF2-40B4-BE49-F238E27FC236}">
                <a16:creationId xmlns:a16="http://schemas.microsoft.com/office/drawing/2014/main" id="{EFC8739C-6FB0-4931-8120-63B24B621A7D}"/>
              </a:ext>
            </a:extLst>
          </p:cNvPr>
          <p:cNvSpPr/>
          <p:nvPr/>
        </p:nvSpPr>
        <p:spPr>
          <a:xfrm>
            <a:off x="2874900" y="2748919"/>
            <a:ext cx="5126100" cy="756281"/>
          </a:xfrm>
          <a:prstGeom prst="rect">
            <a:avLst/>
          </a:prstGeom>
          <a:noFill/>
          <a:ln>
            <a:noFill/>
          </a:ln>
        </p:spPr>
        <p:txBody>
          <a:bodyPr spcFirstLastPara="1" wrap="square" lIns="68587" tIns="34284" rIns="68587" bIns="34284" anchor="t" anchorCtr="0">
            <a:noAutofit/>
          </a:bodyPr>
          <a:lstStyle/>
          <a:p>
            <a:pPr algn="ctr">
              <a:lnSpc>
                <a:spcPct val="105000"/>
              </a:lnSpc>
              <a:defRPr/>
            </a:pPr>
            <a:r>
              <a:rPr lang="en-US" b="1" cap="small" dirty="0">
                <a:solidFill>
                  <a:srgbClr val="1F497D">
                    <a:lumMod val="75000"/>
                  </a:srgbClr>
                </a:solidFill>
                <a:latin typeface="Calibri Light" pitchFamily="34" charset="0"/>
                <a:ea typeface="Calibri"/>
                <a:cs typeface="Calibri Light" pitchFamily="34" charset="0"/>
                <a:sym typeface="Symbol"/>
              </a:rPr>
              <a:t>CINEA/EMFAF/2021/3.1.2/03/SC04/SI2.881222</a:t>
            </a:r>
          </a:p>
          <a:p>
            <a:pPr algn="ctr">
              <a:defRPr/>
            </a:pPr>
            <a:r>
              <a:rPr lang="en-US" b="1" cap="small" dirty="0">
                <a:solidFill>
                  <a:srgbClr val="1F497D">
                    <a:lumMod val="75000"/>
                  </a:srgbClr>
                </a:solidFill>
                <a:latin typeface="Calibri Light" pitchFamily="34" charset="0"/>
                <a:ea typeface="Calibri"/>
                <a:cs typeface="Calibri Light" pitchFamily="34" charset="0"/>
                <a:sym typeface="Symbol"/>
              </a:rPr>
              <a:t>Hosting, maintenance and further development of the Regional Database for the Mediterranean and Black Seas</a:t>
            </a:r>
            <a:endParaRPr lang="en-US" b="1" dirty="0">
              <a:solidFill>
                <a:srgbClr val="002060"/>
              </a:solidFill>
              <a:latin typeface="Calibri Light" pitchFamily="34" charset="0"/>
              <a:ea typeface="Calibri Light" pitchFamily="34" charset="0"/>
              <a:cs typeface="Calibri Light" pitchFamily="34" charset="0"/>
              <a:sym typeface="Calibri"/>
            </a:endParaRPr>
          </a:p>
          <a:p>
            <a:pPr algn="ctr">
              <a:lnSpc>
                <a:spcPct val="105000"/>
              </a:lnSpc>
              <a:defRPr/>
            </a:pPr>
            <a:endParaRPr lang="en-US" sz="1050" i="1" dirty="0">
              <a:solidFill>
                <a:srgbClr val="1F497D">
                  <a:lumMod val="50000"/>
                </a:srgbClr>
              </a:solidFill>
              <a:latin typeface="Calibri Light" pitchFamily="34" charset="0"/>
              <a:ea typeface="Calibri"/>
              <a:cs typeface="Calibri Light" pitchFamily="34" charset="0"/>
              <a:sym typeface="Calibri"/>
            </a:endParaRPr>
          </a:p>
          <a:p>
            <a:pPr algn="ctr">
              <a:lnSpc>
                <a:spcPct val="105000"/>
              </a:lnSpc>
              <a:defRPr/>
            </a:pPr>
            <a:endParaRPr lang="en-US" sz="1800" b="1" cap="small" dirty="0">
              <a:solidFill>
                <a:srgbClr val="1F497D">
                  <a:lumMod val="50000"/>
                </a:srgbClr>
              </a:solidFill>
              <a:latin typeface="Calibri"/>
              <a:ea typeface="Calibri"/>
              <a:cs typeface="Calibri"/>
              <a:sym typeface="Calibri"/>
            </a:endParaRPr>
          </a:p>
        </p:txBody>
      </p:sp>
      <p:sp>
        <p:nvSpPr>
          <p:cNvPr id="19" name="TextBox 18">
            <a:extLst>
              <a:ext uri="{FF2B5EF4-FFF2-40B4-BE49-F238E27FC236}">
                <a16:creationId xmlns:a16="http://schemas.microsoft.com/office/drawing/2014/main" id="{61B1D47F-CCB7-4494-8E16-27BAC42390B0}"/>
              </a:ext>
            </a:extLst>
          </p:cNvPr>
          <p:cNvSpPr txBox="1"/>
          <p:nvPr/>
        </p:nvSpPr>
        <p:spPr>
          <a:xfrm>
            <a:off x="899592" y="2742019"/>
            <a:ext cx="1656183" cy="830997"/>
          </a:xfrm>
          <a:prstGeom prst="rect">
            <a:avLst/>
          </a:prstGeom>
          <a:solidFill>
            <a:srgbClr val="FFFFFF">
              <a:lumMod val="95000"/>
            </a:srgbClr>
          </a:solidFill>
        </p:spPr>
        <p:txBody>
          <a:bodyPr wrap="square">
            <a:spAutoFit/>
          </a:bodyPr>
          <a:lstStyle/>
          <a:p>
            <a:pPr>
              <a:defRPr/>
            </a:pPr>
            <a:r>
              <a:rPr lang="en-US" sz="1200" b="1"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Phase II</a:t>
            </a: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Start: 01/04/2023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End: 31/03/2025</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Coordinator: S. Kavadas</a:t>
            </a:r>
          </a:p>
        </p:txBody>
      </p:sp>
      <p:sp>
        <p:nvSpPr>
          <p:cNvPr id="21" name="TextBox 20">
            <a:extLst>
              <a:ext uri="{FF2B5EF4-FFF2-40B4-BE49-F238E27FC236}">
                <a16:creationId xmlns:a16="http://schemas.microsoft.com/office/drawing/2014/main" id="{61B1D47F-CCB7-4494-8E16-27BAC42390B0}"/>
              </a:ext>
            </a:extLst>
          </p:cNvPr>
          <p:cNvSpPr txBox="1"/>
          <p:nvPr/>
        </p:nvSpPr>
        <p:spPr>
          <a:xfrm>
            <a:off x="899592" y="4974267"/>
            <a:ext cx="1656183" cy="1015663"/>
          </a:xfrm>
          <a:prstGeom prst="rect">
            <a:avLst/>
          </a:prstGeom>
          <a:solidFill>
            <a:srgbClr val="FFFFFF">
              <a:lumMod val="95000"/>
            </a:srgbClr>
          </a:solidFill>
        </p:spPr>
        <p:txBody>
          <a:bodyPr wrap="square">
            <a:spAutoFit/>
          </a:bodyPr>
          <a:lstStyle/>
          <a:p>
            <a:pPr>
              <a:defRPr/>
            </a:pPr>
            <a:r>
              <a:rPr lang="en-US" sz="1200" b="1"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Phase III</a:t>
            </a: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Start: 01/04/2025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End: 21/05/2026</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Coordinators: I. Maina &amp; S. Kavadas</a:t>
            </a:r>
          </a:p>
        </p:txBody>
      </p:sp>
      <p:sp>
        <p:nvSpPr>
          <p:cNvPr id="3" name="TextBox 2"/>
          <p:cNvSpPr txBox="1"/>
          <p:nvPr/>
        </p:nvSpPr>
        <p:spPr>
          <a:xfrm>
            <a:off x="3045534" y="4989493"/>
            <a:ext cx="4461734" cy="954107"/>
          </a:xfrm>
          <a:prstGeom prst="rect">
            <a:avLst/>
          </a:prstGeom>
          <a:noFill/>
        </p:spPr>
        <p:txBody>
          <a:bodyPr wrap="square" rtlCol="0">
            <a:spAutoFit/>
          </a:bodyPr>
          <a:lstStyle/>
          <a:p>
            <a:pPr algn="ctr" defTabSz="342991"/>
            <a:r>
              <a:rPr lang="en-US" b="1" cap="small" dirty="0">
                <a:solidFill>
                  <a:srgbClr val="1F497D">
                    <a:lumMod val="75000"/>
                  </a:srgbClr>
                </a:solidFill>
                <a:latin typeface="Calibri Light" pitchFamily="34" charset="0"/>
                <a:ea typeface="Calibri"/>
                <a:cs typeface="Calibri Light" pitchFamily="34" charset="0"/>
              </a:rPr>
              <a:t>CINEA/EMFAF/2024/3.1/01/SC08</a:t>
            </a:r>
          </a:p>
          <a:p>
            <a:pPr algn="ctr" defTabSz="342991"/>
            <a:r>
              <a:rPr lang="en-US" b="1" cap="small" dirty="0">
                <a:solidFill>
                  <a:srgbClr val="1F497D">
                    <a:lumMod val="75000"/>
                  </a:srgbClr>
                </a:solidFill>
                <a:latin typeface="Calibri Light" pitchFamily="34" charset="0"/>
                <a:ea typeface="Calibri"/>
                <a:cs typeface="Calibri Light" pitchFamily="34" charset="0"/>
              </a:rPr>
              <a:t>Establishment of the Regional Database for the Mediterranean and Black Seas</a:t>
            </a:r>
          </a:p>
          <a:p>
            <a:pPr algn="ctr" defTabSz="342991"/>
            <a:endParaRPr lang="en-US" b="1" dirty="0">
              <a:solidFill>
                <a:srgbClr val="002060"/>
              </a:solidFill>
              <a:latin typeface="Calibri" pitchFamily="34" charset="0"/>
              <a:ea typeface="Calibri" pitchFamily="34" charset="0"/>
              <a:cs typeface="Calibri" pitchFamily="34" charset="0"/>
            </a:endParaRPr>
          </a:p>
        </p:txBody>
      </p:sp>
      <p:cxnSp>
        <p:nvCxnSpPr>
          <p:cNvPr id="24" name="Straight Connector 23"/>
          <p:cNvCxnSpPr/>
          <p:nvPr/>
        </p:nvCxnSpPr>
        <p:spPr>
          <a:xfrm>
            <a:off x="0" y="2195315"/>
            <a:ext cx="9144000" cy="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p:cNvCxnSpPr/>
          <p:nvPr/>
        </p:nvCxnSpPr>
        <p:spPr>
          <a:xfrm>
            <a:off x="8073" y="4419600"/>
            <a:ext cx="9144000" cy="0"/>
          </a:xfrm>
          <a:prstGeom prst="line">
            <a:avLst/>
          </a:prstGeom>
        </p:spPr>
        <p:style>
          <a:lnRef idx="1">
            <a:schemeClr val="dk1"/>
          </a:lnRef>
          <a:fillRef idx="0">
            <a:schemeClr val="dk1"/>
          </a:fillRef>
          <a:effectRef idx="0">
            <a:schemeClr val="dk1"/>
          </a:effectRef>
          <a:fontRef idx="minor">
            <a:schemeClr val="tx1"/>
          </a:fontRef>
        </p:style>
      </p:cxnSp>
      <p:sp>
        <p:nvSpPr>
          <p:cNvPr id="30" name="Right Arrow 29"/>
          <p:cNvSpPr/>
          <p:nvPr/>
        </p:nvSpPr>
        <p:spPr>
          <a:xfrm>
            <a:off x="467544" y="5291580"/>
            <a:ext cx="355002" cy="232282"/>
          </a:xfrm>
          <a:prstGeom prst="rightArrow">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defTabSz="342991"/>
            <a:endParaRPr lang="el-GR" sz="1050">
              <a:solidFill>
                <a:schemeClr val="accent1">
                  <a:lumMod val="50000"/>
                </a:schemeClr>
              </a:solidFill>
            </a:endParaRPr>
          </a:p>
        </p:txBody>
      </p:sp>
      <p:sp>
        <p:nvSpPr>
          <p:cNvPr id="22" name="Rectangle 21">
            <a:extLst>
              <a:ext uri="{FF2B5EF4-FFF2-40B4-BE49-F238E27FC236}">
                <a16:creationId xmlns:a16="http://schemas.microsoft.com/office/drawing/2014/main" id="{8FD2C567-3A6D-44F1-8D75-04DE5F59243D}"/>
              </a:ext>
            </a:extLst>
          </p:cNvPr>
          <p:cNvSpPr/>
          <p:nvPr/>
        </p:nvSpPr>
        <p:spPr>
          <a:xfrm>
            <a:off x="0" y="-685"/>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RDBFIS Phases (I, II, III)</a:t>
            </a:r>
          </a:p>
        </p:txBody>
      </p:sp>
    </p:spTree>
    <p:extLst>
      <p:ext uri="{BB962C8B-B14F-4D97-AF65-F5344CB8AC3E}">
        <p14:creationId xmlns:p14="http://schemas.microsoft.com/office/powerpoint/2010/main" val="185052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457200" y="609600"/>
            <a:ext cx="8064896" cy="6011902"/>
          </a:xfrm>
          <a:prstGeom prst="rect">
            <a:avLst/>
          </a:prstGeom>
          <a:noFill/>
          <a:ln w="6350">
            <a:noFill/>
          </a:ln>
        </p:spPr>
        <p:txBody>
          <a:bodyPr wrap="square">
            <a:spAutoFit/>
          </a:bodyPr>
          <a:lstStyle/>
          <a:p>
            <a:r>
              <a:rPr lang="en-US" sz="2000"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During the third phase of the RDBFIS implementation , in addition to supporting MS in data validation and uploading, as well as addressing specific requirements, the consortium focused on the following objectives:</a:t>
            </a:r>
          </a:p>
          <a:p>
            <a:pPr>
              <a:spcAft>
                <a:spcPts val="400"/>
              </a:spcAft>
            </a:pPr>
            <a:endPar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system maintenance and fine-tuning</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finalising the MEDIAS data base structure;</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developing the MEDIAS R package </a:t>
            </a:r>
            <a:r>
              <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a:t>
            </a: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similar to RoME</a:t>
            </a:r>
            <a:r>
              <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a:t>
            </a: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developing an R package for statistical analysis;</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integration of SDTool package for sampling optimization;</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substantially enhancing system performance, with a particular focus on the consistency check phase;</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establishing collaboration with other consortia, with the aim of expanding the system through the integration of new components with the aim</a:t>
            </a:r>
            <a:r>
              <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 </a:t>
            </a: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of enabling MS to use the platform to respond to multiple data requests (JRC, GFCM, ICES);</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RDBFIS Transition to EU DIGIT – Collaboration with EU IT experts;</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harmonizing RDBFIS with other platforms (JRC, GFCM);</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participation in meetings</a:t>
            </a:r>
            <a:r>
              <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 (</a:t>
            </a: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MED&amp;BS RCG, Liaison, NC DCF meetings, LP RCG, ..) </a:t>
            </a:r>
            <a:endPar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workshops and internal meetings were organised to support system fine-tuning and development;</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rgbClr val="FFFFFF"/>
                </a:solidFill>
                <a:latin typeface="Calibri Light" pitchFamily="34" charset="0"/>
                <a:cs typeface="Calibri Light" pitchFamily="34" charset="0"/>
              </a:rPr>
              <a:t>RDBFIS III: Key activities</a:t>
            </a:r>
            <a:endPar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endParaRPr>
          </a:p>
        </p:txBody>
      </p:sp>
      <p:sp>
        <p:nvSpPr>
          <p:cNvPr id="2" name="Slide Number Placeholder 1">
            <a:extLst>
              <a:ext uri="{FF2B5EF4-FFF2-40B4-BE49-F238E27FC236}">
                <a16:creationId xmlns:a16="http://schemas.microsoft.com/office/drawing/2014/main" id="{B6E6BE4A-D2C1-4E72-9D27-2FEF536ADA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a:p>
        </p:txBody>
      </p:sp>
    </p:spTree>
    <p:extLst>
      <p:ext uri="{BB962C8B-B14F-4D97-AF65-F5344CB8AC3E}">
        <p14:creationId xmlns:p14="http://schemas.microsoft.com/office/powerpoint/2010/main" val="1192018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 y="-27384"/>
            <a:ext cx="9144000" cy="400110"/>
          </a:xfrm>
          <a:prstGeom prst="rect">
            <a:avLst/>
          </a:prstGeom>
          <a:solidFill>
            <a:schemeClr val="bg2">
              <a:lumMod val="75000"/>
            </a:schemeClr>
          </a:solidFill>
          <a:ln w="6350">
            <a:noFill/>
          </a:ln>
        </p:spPr>
        <p:txBody>
          <a:bodyPr wrap="square">
            <a:spAutoFit/>
          </a:bodyPr>
          <a:lstStyle/>
          <a:p>
            <a:pPr algn="ctr">
              <a:buClr>
                <a:srgbClr val="000000"/>
              </a:buClr>
              <a:buFont typeface="Arial"/>
              <a:buNone/>
              <a:defRPr/>
            </a:pPr>
            <a:r>
              <a:rPr lang="en-US" sz="2000" b="1" dirty="0">
                <a:solidFill>
                  <a:prstClr val="white"/>
                </a:solidFill>
                <a:latin typeface="Calibri Light" panose="020F0302020204030204" pitchFamily="34" charset="0"/>
                <a:ea typeface="Calibri Light" panose="020F0302020204030204" pitchFamily="34" charset="0"/>
                <a:cs typeface="Calibri Light" panose="020F0302020204030204" pitchFamily="34" charset="0"/>
              </a:rPr>
              <a:t>RDB and integrated components</a:t>
            </a:r>
            <a:endParaRPr lang="en-GB" sz="2000" b="1" dirty="0">
              <a:solidFill>
                <a:prstClr val="white"/>
              </a:solidFill>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2" name="Group 1">
            <a:extLst>
              <a:ext uri="{FF2B5EF4-FFF2-40B4-BE49-F238E27FC236}">
                <a16:creationId xmlns:a16="http://schemas.microsoft.com/office/drawing/2014/main" id="{D4B73FB2-A3A3-4F9B-BBE7-03402F635BF0}"/>
              </a:ext>
            </a:extLst>
          </p:cNvPr>
          <p:cNvGrpSpPr/>
          <p:nvPr/>
        </p:nvGrpSpPr>
        <p:grpSpPr>
          <a:xfrm>
            <a:off x="539552" y="683055"/>
            <a:ext cx="7992888" cy="5412945"/>
            <a:chOff x="539552" y="378255"/>
            <a:chExt cx="7992888" cy="5412945"/>
          </a:xfrm>
        </p:grpSpPr>
        <p:sp>
          <p:nvSpPr>
            <p:cNvPr id="9" name="Cylinder 8">
              <a:extLst>
                <a:ext uri="{FF2B5EF4-FFF2-40B4-BE49-F238E27FC236}">
                  <a16:creationId xmlns:a16="http://schemas.microsoft.com/office/drawing/2014/main" id="{D1512444-598A-429B-8F2B-3562F4269895}"/>
                </a:ext>
              </a:extLst>
            </p:cNvPr>
            <p:cNvSpPr/>
            <p:nvPr/>
          </p:nvSpPr>
          <p:spPr>
            <a:xfrm>
              <a:off x="899592" y="1219200"/>
              <a:ext cx="3130849" cy="4104456"/>
            </a:xfrm>
            <a:prstGeom prst="can">
              <a:avLst/>
            </a:prstGeom>
            <a:solidFill>
              <a:schemeClr val="bg1">
                <a:lumMod val="85000"/>
                <a:alpha val="7000"/>
              </a:schemeClr>
            </a:solidFill>
            <a:ln w="6350">
              <a:solidFill>
                <a:schemeClr val="accent5">
                  <a:lumMod val="50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00"/>
                </a:buClr>
                <a:buFont typeface="Arial"/>
                <a:buNone/>
              </a:pPr>
              <a:endParaRPr lang="el-GR" sz="1050">
                <a:solidFill>
                  <a:srgbClr val="FFFFFF"/>
                </a:solidFill>
              </a:endParaRPr>
            </a:p>
          </p:txBody>
        </p:sp>
        <p:sp>
          <p:nvSpPr>
            <p:cNvPr id="14" name="TextBox 9">
              <a:extLst>
                <a:ext uri="{FF2B5EF4-FFF2-40B4-BE49-F238E27FC236}">
                  <a16:creationId xmlns:a16="http://schemas.microsoft.com/office/drawing/2014/main" id="{76F8BFE1-A548-4887-A565-574F961ACA93}"/>
                </a:ext>
              </a:extLst>
            </p:cNvPr>
            <p:cNvSpPr txBox="1">
              <a:spLocks noChangeArrowheads="1"/>
            </p:cNvSpPr>
            <p:nvPr/>
          </p:nvSpPr>
          <p:spPr bwMode="auto">
            <a:xfrm>
              <a:off x="1043608" y="1507232"/>
              <a:ext cx="2918792" cy="3554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vert="horz" wrap="square" lIns="68598" tIns="34299" rIns="68598" bIns="34299" numCol="1" anchor="t" anchorCtr="0" compatLnSpc="1">
              <a:prstTxWarp prst="textNoShape">
                <a:avLst/>
              </a:prstTxWarp>
              <a:spAutoFit/>
            </a:bodyPr>
            <a:lstStyle/>
            <a:p>
              <a:pPr algn="ctr" eaLnBrk="0" fontAlgn="base" hangingPunct="0">
                <a:spcBef>
                  <a:spcPct val="0"/>
                </a:spcBef>
                <a:spcAft>
                  <a:spcPct val="0"/>
                </a:spcAft>
              </a:pPr>
              <a:r>
                <a:rPr lang="en-US" altLang="el-GR" sz="2101"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Med&amp;BS RDB</a:t>
              </a:r>
            </a:p>
            <a:p>
              <a:pPr algn="ctr" eaLnBrk="0" fontAlgn="base" hangingPunct="0">
                <a:spcBef>
                  <a:spcPct val="0"/>
                </a:spcBef>
                <a:spcAft>
                  <a:spcPct val="0"/>
                </a:spcAft>
              </a:pPr>
              <a:endParaRPr lang="en-US" altLang="el-GR" sz="1050"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endParaRPr>
            </a:p>
            <a:p>
              <a:pPr marL="135767" indent="-135767" eaLnBrk="0" fontAlgn="base" hangingPunct="0">
                <a:spcBef>
                  <a:spcPct val="0"/>
                </a:spcBef>
                <a:spcAft>
                  <a:spcPct val="0"/>
                </a:spcAft>
                <a:buFont typeface="Arial" panose="020B0604020202020204" pitchFamily="34" charset="0"/>
                <a:buChar char="•"/>
              </a:pPr>
              <a:r>
                <a:rPr lang="en-US" altLang="el-GR" sz="1500"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Datacalls</a:t>
              </a: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 Med&amp;BS, FDI, DCRF, AER</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Detailed biological data (CS)</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Landings (CL)</a:t>
              </a:r>
            </a:p>
            <a:p>
              <a:pPr marL="135767" indent="-135767" eaLnBrk="0" fontAlgn="base" hangingPunct="0">
                <a:spcBef>
                  <a:spcPct val="0"/>
                </a:spcBef>
                <a:spcAft>
                  <a:spcPct val="0"/>
                </a:spcAft>
                <a:buFont typeface="Arial" panose="020B0604020202020204" pitchFamily="34" charset="0"/>
                <a:buChar char="•"/>
              </a:pPr>
              <a:r>
                <a:rPr lang="en-US" altLang="el-GR" sz="1500"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Surveys</a:t>
              </a: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 </a:t>
              </a:r>
              <a:r>
                <a:rPr lang="en-US" altLang="el-GR" sz="1500" b="1" dirty="0">
                  <a:solidFill>
                    <a:schemeClr val="accent6">
                      <a:lumMod val="75000"/>
                    </a:schemeClr>
                  </a:solidFill>
                  <a:latin typeface="Calibri Light" panose="020F0302020204030204" pitchFamily="34" charset="0"/>
                  <a:ea typeface="Calibri Light" panose="020F0302020204030204" pitchFamily="34" charset="0"/>
                  <a:cs typeface="Calibri Light" panose="020F0302020204030204" pitchFamily="34" charset="0"/>
                </a:rPr>
                <a:t>MEDITS</a:t>
              </a: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 MEDIAS, Eggs&amp;Larvae, LP</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EU professional fleet</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Stomach content</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PETS</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Alien species</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Recreational</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Coding</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Environmental</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Spatial data</a:t>
              </a:r>
            </a:p>
          </p:txBody>
        </p:sp>
        <p:sp>
          <p:nvSpPr>
            <p:cNvPr id="15" name="Rectangle 14">
              <a:extLst>
                <a:ext uri="{FF2B5EF4-FFF2-40B4-BE49-F238E27FC236}">
                  <a16:creationId xmlns:a16="http://schemas.microsoft.com/office/drawing/2014/main" id="{399967EF-F798-4B26-B57F-A2BA83182A05}"/>
                </a:ext>
              </a:extLst>
            </p:cNvPr>
            <p:cNvSpPr/>
            <p:nvPr/>
          </p:nvSpPr>
          <p:spPr>
            <a:xfrm>
              <a:off x="539552" y="548680"/>
              <a:ext cx="7992888" cy="5242520"/>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l-GR" sz="1050">
                <a:solidFill>
                  <a:srgbClr val="FFFFFF"/>
                </a:solidFill>
              </a:endParaRPr>
            </a:p>
          </p:txBody>
        </p:sp>
        <p:pic>
          <p:nvPicPr>
            <p:cNvPr id="17" name="Picture 16">
              <a:extLst>
                <a:ext uri="{FF2B5EF4-FFF2-40B4-BE49-F238E27FC236}">
                  <a16:creationId xmlns:a16="http://schemas.microsoft.com/office/drawing/2014/main" id="{7C28F84C-F814-42B8-A5C6-43E398CAB62F}"/>
                </a:ext>
              </a:extLst>
            </p:cNvPr>
            <p:cNvPicPr>
              <a:picLocks noChangeAspect="1"/>
            </p:cNvPicPr>
            <p:nvPr/>
          </p:nvPicPr>
          <p:blipFill>
            <a:blip r:embed="rId3"/>
            <a:stretch>
              <a:fillRect/>
            </a:stretch>
          </p:blipFill>
          <p:spPr>
            <a:xfrm>
              <a:off x="3995937" y="378255"/>
              <a:ext cx="1095114" cy="314441"/>
            </a:xfrm>
            <a:prstGeom prst="rect">
              <a:avLst/>
            </a:prstGeom>
          </p:spPr>
        </p:pic>
        <p:sp>
          <p:nvSpPr>
            <p:cNvPr id="21" name="TextBox 20">
              <a:extLst>
                <a:ext uri="{FF2B5EF4-FFF2-40B4-BE49-F238E27FC236}">
                  <a16:creationId xmlns:a16="http://schemas.microsoft.com/office/drawing/2014/main" id="{3EE56E1C-97FD-491C-AABC-902D6A7CDBC9}"/>
                </a:ext>
              </a:extLst>
            </p:cNvPr>
            <p:cNvSpPr txBox="1"/>
            <p:nvPr/>
          </p:nvSpPr>
          <p:spPr>
            <a:xfrm>
              <a:off x="4428023" y="1295400"/>
              <a:ext cx="3672369" cy="3970446"/>
            </a:xfrm>
            <a:prstGeom prst="rect">
              <a:avLst/>
            </a:prstGeom>
            <a:solidFill>
              <a:schemeClr val="bg1">
                <a:lumMod val="95000"/>
                <a:alpha val="30000"/>
              </a:schemeClr>
            </a:solidFill>
            <a:ln w="3175">
              <a:noFill/>
            </a:ln>
          </p:spPr>
          <p:txBody>
            <a:bodyPr wrap="square">
              <a:spAutoFit/>
            </a:bodyPr>
            <a:lstStyle/>
            <a:p>
              <a:pPr>
                <a:buClr>
                  <a:srgbClr val="000000"/>
                </a:buClr>
                <a:buFont typeface="Arial"/>
                <a:buNone/>
              </a:pPr>
              <a:r>
                <a:rPr lang="en-US" sz="2101"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Integrated Components</a:t>
              </a:r>
            </a:p>
            <a:p>
              <a:pPr>
                <a:buClr>
                  <a:srgbClr val="000000"/>
                </a:buClr>
                <a:buFont typeface="Arial"/>
                <a:buNone/>
              </a:pPr>
              <a:endParaRPr lang="en-US" sz="6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endParaRP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UI</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Validation schemes (syntax checks)</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RDBqc (consistency checks)</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FDI spatial checks</a:t>
              </a:r>
            </a:p>
            <a:p>
              <a:pPr marL="257244" indent="-257244">
                <a:buFont typeface="Wingdings" panose="05000000000000000000" pitchFamily="2" charset="2"/>
                <a:buChar char="ü"/>
              </a:pPr>
              <a:r>
                <a:rPr lang="en-US" sz="1500" dirty="0" err="1">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RDBprocessing</a:t>
              </a:r>
              <a:endPar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endParaRPr>
            </a:p>
            <a:p>
              <a:pPr marL="257244" indent="-257244">
                <a:buFont typeface="Wingdings" panose="05000000000000000000" pitchFamily="2" charset="2"/>
                <a:buChar char="ü"/>
              </a:pPr>
              <a:r>
                <a:rPr lang="en-US" sz="1500" b="1" dirty="0">
                  <a:solidFill>
                    <a:schemeClr val="accent6">
                      <a:lumMod val="75000"/>
                    </a:schemeClr>
                  </a:solidFill>
                  <a:latin typeface="Calibri Light" panose="020F0302020204030204" pitchFamily="34" charset="0"/>
                  <a:ea typeface="Calibri Light" panose="020F0302020204030204" pitchFamily="34" charset="0"/>
                  <a:cs typeface="Calibri Light" panose="020F0302020204030204" pitchFamily="34" charset="0"/>
                </a:rPr>
                <a:t>RoME, </a:t>
              </a:r>
              <a:r>
                <a:rPr lang="en-US" sz="1500" b="1" dirty="0" err="1">
                  <a:solidFill>
                    <a:schemeClr val="accent6">
                      <a:lumMod val="75000"/>
                    </a:schemeClr>
                  </a:solidFill>
                  <a:latin typeface="Calibri Light" panose="020F0302020204030204" pitchFamily="34" charset="0"/>
                  <a:ea typeface="Calibri Light" panose="020F0302020204030204" pitchFamily="34" charset="0"/>
                  <a:cs typeface="Calibri Light" panose="020F0302020204030204" pitchFamily="34" charset="0"/>
                </a:rPr>
                <a:t>RoMEBS</a:t>
              </a:r>
              <a:endParaRPr lang="en-US" sz="1500" b="1" dirty="0">
                <a:solidFill>
                  <a:schemeClr val="accent6">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a:p>
              <a:pPr marL="257244" indent="-257244">
                <a:buFont typeface="Wingdings" panose="05000000000000000000" pitchFamily="2" charset="2"/>
                <a:buChar char="ü"/>
              </a:pPr>
              <a:r>
                <a:rPr lang="en-US" sz="1500" b="1" dirty="0" err="1">
                  <a:solidFill>
                    <a:schemeClr val="accent6">
                      <a:lumMod val="75000"/>
                    </a:schemeClr>
                  </a:solidFill>
                  <a:latin typeface="Calibri Light" panose="020F0302020204030204" pitchFamily="34" charset="0"/>
                  <a:ea typeface="Calibri Light" panose="020F0302020204030204" pitchFamily="34" charset="0"/>
                  <a:cs typeface="Calibri Light" panose="020F0302020204030204" pitchFamily="34" charset="0"/>
                </a:rPr>
                <a:t>BioIndex</a:t>
              </a:r>
              <a:endParaRPr lang="en-US" sz="1500" b="1" dirty="0">
                <a:solidFill>
                  <a:schemeClr val="accent6">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EU fleet analysis</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MCDA for SSF</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Mapping</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Stomach content, Eggs&amp;Larvae data entry forms</a:t>
              </a:r>
            </a:p>
            <a:p>
              <a:pPr marL="257244" indent="-257244">
                <a:buFont typeface="Wingdings" panose="05000000000000000000" pitchFamily="2" charset="2"/>
                <a:buChar char="ü"/>
              </a:pPr>
              <a:r>
                <a:rPr lang="en-US" sz="15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MEDIAS R package</a:t>
              </a:r>
            </a:p>
            <a:p>
              <a:pPr marL="257244" indent="-257244">
                <a:buFont typeface="Wingdings" panose="05000000000000000000" pitchFamily="2" charset="2"/>
                <a:buChar char="ü"/>
              </a:pPr>
              <a:r>
                <a:rPr lang="en-US" sz="15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stat4RDBFIS R package</a:t>
              </a:r>
            </a:p>
            <a:p>
              <a:pPr marL="257244" indent="-257244">
                <a:buFont typeface="Wingdings" panose="05000000000000000000" pitchFamily="2" charset="2"/>
                <a:buChar char="ü"/>
              </a:pPr>
              <a:r>
                <a:rPr lang="en-US" sz="15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SDTool package for sampling optimization </a:t>
              </a:r>
            </a:p>
          </p:txBody>
        </p:sp>
      </p:grpSp>
      <p:sp>
        <p:nvSpPr>
          <p:cNvPr id="3" name="Slide Number Placeholder 2">
            <a:extLst>
              <a:ext uri="{FF2B5EF4-FFF2-40B4-BE49-F238E27FC236}">
                <a16:creationId xmlns:a16="http://schemas.microsoft.com/office/drawing/2014/main" id="{9B18AFC2-FBBC-4495-B652-F0B44244AEB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a:p>
        </p:txBody>
      </p:sp>
    </p:spTree>
    <p:extLst>
      <p:ext uri="{BB962C8B-B14F-4D97-AF65-F5344CB8AC3E}">
        <p14:creationId xmlns:p14="http://schemas.microsoft.com/office/powerpoint/2010/main" val="3212594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rgbClr val="FFFFFF"/>
                </a:solidFill>
                <a:latin typeface="Calibri Light" pitchFamily="34" charset="0"/>
                <a:cs typeface="Calibri Light" pitchFamily="34" charset="0"/>
              </a:rPr>
              <a:t>populate the system with data</a:t>
            </a: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 </a:t>
            </a:r>
            <a:endParaRPr kumimoji="0" lang="en-GB"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endParaRPr>
          </a:p>
        </p:txBody>
      </p:sp>
      <p:sp>
        <p:nvSpPr>
          <p:cNvPr id="13" name="TextBox 12">
            <a:extLst>
              <a:ext uri="{FF2B5EF4-FFF2-40B4-BE49-F238E27FC236}">
                <a16:creationId xmlns:a16="http://schemas.microsoft.com/office/drawing/2014/main" id="{4E0D9EAD-F0F4-4899-8B52-FFE7C4CC4B14}"/>
              </a:ext>
            </a:extLst>
          </p:cNvPr>
          <p:cNvSpPr txBox="1"/>
          <p:nvPr/>
        </p:nvSpPr>
        <p:spPr>
          <a:xfrm>
            <a:off x="1926106" y="530572"/>
            <a:ext cx="5465294" cy="4062651"/>
          </a:xfrm>
          <a:prstGeom prst="rect">
            <a:avLst/>
          </a:prstGeom>
          <a:noFill/>
          <a:ln w="3175">
            <a:solidFill>
              <a:schemeClr val="bg1">
                <a:lumMod val="65000"/>
              </a:schemeClr>
            </a:solidFill>
          </a:ln>
        </p:spPr>
        <p:txBody>
          <a:bodyPr wrap="square">
            <a:spAutoFit/>
          </a:bodyPr>
          <a:lstStyle/>
          <a:p>
            <a:r>
              <a:rPr lang="en-US" sz="2400" b="1" u="sng"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Aggregated data</a:t>
            </a:r>
          </a:p>
          <a:p>
            <a:pPr marL="342900" indent="-342900">
              <a:buFont typeface="Arial" panose="020B0604020202020204" pitchFamily="34" charset="0"/>
              <a:buChar char="•"/>
            </a:pPr>
            <a:r>
              <a:rPr lang="en-US" sz="2400"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Med&amp;BS</a:t>
            </a:r>
          </a:p>
          <a:p>
            <a:pPr marL="342900" indent="-342900">
              <a:buFont typeface="Arial" panose="020B0604020202020204" pitchFamily="34" charset="0"/>
              <a:buChar char="•"/>
            </a:pPr>
            <a:r>
              <a:rPr lang="en-US" sz="2400"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FDI (Tables A, B, G, H, I, J)</a:t>
            </a:r>
          </a:p>
          <a:p>
            <a:pPr marL="342900" indent="-342900">
              <a:buFont typeface="Arial" panose="020B0604020202020204" pitchFamily="34" charset="0"/>
              <a:buChar char="•"/>
            </a:pPr>
            <a:r>
              <a:rPr lang="en-US" sz="2400"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AER</a:t>
            </a:r>
          </a:p>
          <a:p>
            <a:pPr marL="342900" indent="-342900">
              <a:buFont typeface="Arial" panose="020B0604020202020204" pitchFamily="34" charset="0"/>
              <a:buChar char="•"/>
            </a:pPr>
            <a:r>
              <a:rPr lang="en-US" sz="2400"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GFCM/DCRF</a:t>
            </a:r>
          </a:p>
          <a:p>
            <a:pPr marL="180975" indent="-180975">
              <a:buFont typeface="Arial" panose="020B0604020202020204" pitchFamily="34" charset="0"/>
              <a:buChar char="•"/>
            </a:pPr>
            <a:endPar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a:p>
            <a:r>
              <a:rPr lang="en-US" sz="2400" b="1" u="sng"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Detailed biological (CS) &amp; landings (CL) data</a:t>
            </a:r>
          </a:p>
          <a:p>
            <a:endParaRPr lang="en-US" sz="2400" b="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a:p>
            <a:r>
              <a:rPr lang="en-US" sz="2400" b="1" u="sng"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Surveys data:</a:t>
            </a:r>
          </a:p>
          <a:p>
            <a:pPr marL="342900" indent="-342900">
              <a:buFont typeface="Arial" panose="020B0604020202020204" pitchFamily="34" charset="0"/>
              <a:buChar char="•"/>
            </a:pPr>
            <a:r>
              <a:rPr lang="en-US" sz="2400" b="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MEDITS (</a:t>
            </a:r>
            <a:r>
              <a:rPr lang="en-US" sz="2400"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TA, TB, TC)</a:t>
            </a:r>
          </a:p>
          <a:p>
            <a:pPr marL="342900" indent="-342900">
              <a:buFont typeface="Arial" panose="020B0604020202020204" pitchFamily="34" charset="0"/>
              <a:buChar char="•"/>
            </a:pPr>
            <a:r>
              <a:rPr lang="en-US" sz="2400" b="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MEDIAS (acoustics, pelagic trawl, CTD)</a:t>
            </a:r>
            <a:endParaRPr lang="en-US" sz="2400" b="1" dirty="0">
              <a:solidFill>
                <a:schemeClr val="bg1">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7" name="Group 16">
            <a:extLst>
              <a:ext uri="{FF2B5EF4-FFF2-40B4-BE49-F238E27FC236}">
                <a16:creationId xmlns:a16="http://schemas.microsoft.com/office/drawing/2014/main" id="{4E10AF5A-C5C4-413C-BDE1-4F6918112BCC}"/>
              </a:ext>
            </a:extLst>
          </p:cNvPr>
          <p:cNvGrpSpPr/>
          <p:nvPr/>
        </p:nvGrpSpPr>
        <p:grpSpPr>
          <a:xfrm>
            <a:off x="762000" y="4882261"/>
            <a:ext cx="7488832" cy="1445167"/>
            <a:chOff x="755576" y="5013176"/>
            <a:chExt cx="7560840" cy="1445167"/>
          </a:xfrm>
        </p:grpSpPr>
        <p:sp>
          <p:nvSpPr>
            <p:cNvPr id="5" name="TextBox 4">
              <a:extLst>
                <a:ext uri="{FF2B5EF4-FFF2-40B4-BE49-F238E27FC236}">
                  <a16:creationId xmlns:a16="http://schemas.microsoft.com/office/drawing/2014/main" id="{DEBDDDA1-3ABD-4292-A7C4-D5912815DBF5}"/>
                </a:ext>
              </a:extLst>
            </p:cNvPr>
            <p:cNvSpPr txBox="1"/>
            <p:nvPr/>
          </p:nvSpPr>
          <p:spPr>
            <a:xfrm>
              <a:off x="2627784" y="5469797"/>
              <a:ext cx="5688632" cy="338554"/>
            </a:xfrm>
            <a:prstGeom prst="rect">
              <a:avLst/>
            </a:prstGeom>
            <a:noFill/>
          </p:spPr>
          <p:txBody>
            <a:bodyPr wrap="square">
              <a:spAutoFit/>
            </a:bodyPr>
            <a:lstStyle/>
            <a:p>
              <a:r>
                <a:rPr lang="en-US" sz="1600" b="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Step 1. Syntax check (validation scheme)</a:t>
              </a:r>
            </a:p>
          </p:txBody>
        </p:sp>
        <p:sp>
          <p:nvSpPr>
            <p:cNvPr id="6" name="TextBox 5">
              <a:extLst>
                <a:ext uri="{FF2B5EF4-FFF2-40B4-BE49-F238E27FC236}">
                  <a16:creationId xmlns:a16="http://schemas.microsoft.com/office/drawing/2014/main" id="{1F26FEA7-B4F9-460A-AE8E-FE964E6E574B}"/>
                </a:ext>
              </a:extLst>
            </p:cNvPr>
            <p:cNvSpPr txBox="1"/>
            <p:nvPr/>
          </p:nvSpPr>
          <p:spPr>
            <a:xfrm>
              <a:off x="2627784" y="5984364"/>
              <a:ext cx="5688632" cy="338554"/>
            </a:xfrm>
            <a:prstGeom prst="rect">
              <a:avLst/>
            </a:prstGeom>
            <a:noFill/>
          </p:spPr>
          <p:txBody>
            <a:bodyPr wrap="square">
              <a:spAutoFit/>
            </a:bodyPr>
            <a:lstStyle/>
            <a:p>
              <a:r>
                <a:rPr lang="en-US" sz="1600" b="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Step 3. Upload (update RDBFIS)</a:t>
              </a:r>
            </a:p>
          </p:txBody>
        </p:sp>
        <p:grpSp>
          <p:nvGrpSpPr>
            <p:cNvPr id="7" name="Group 6">
              <a:extLst>
                <a:ext uri="{FF2B5EF4-FFF2-40B4-BE49-F238E27FC236}">
                  <a16:creationId xmlns:a16="http://schemas.microsoft.com/office/drawing/2014/main" id="{C194CC4F-FCD2-4965-8860-A837EDEC11CB}"/>
                </a:ext>
              </a:extLst>
            </p:cNvPr>
            <p:cNvGrpSpPr/>
            <p:nvPr/>
          </p:nvGrpSpPr>
          <p:grpSpPr>
            <a:xfrm>
              <a:off x="755576" y="5648147"/>
              <a:ext cx="1008112" cy="580781"/>
              <a:chOff x="755576" y="1840107"/>
              <a:chExt cx="1008112" cy="580781"/>
            </a:xfrm>
          </p:grpSpPr>
          <p:sp>
            <p:nvSpPr>
              <p:cNvPr id="8" name="TextBox 7">
                <a:extLst>
                  <a:ext uri="{FF2B5EF4-FFF2-40B4-BE49-F238E27FC236}">
                    <a16:creationId xmlns:a16="http://schemas.microsoft.com/office/drawing/2014/main" id="{D57EF3FB-8053-4A3E-924E-6C7D463495E0}"/>
                  </a:ext>
                </a:extLst>
              </p:cNvPr>
              <p:cNvSpPr txBox="1"/>
              <p:nvPr/>
            </p:nvSpPr>
            <p:spPr>
              <a:xfrm>
                <a:off x="755576" y="1900502"/>
                <a:ext cx="1008112" cy="400110"/>
              </a:xfrm>
              <a:prstGeom prst="rect">
                <a:avLst/>
              </a:prstGeom>
              <a:noFill/>
            </p:spPr>
            <p:txBody>
              <a:bodyPr wrap="square">
                <a:spAutoFit/>
              </a:bodyPr>
              <a:lstStyle/>
              <a:p>
                <a:pPr algn="ctr"/>
                <a:r>
                  <a:rPr lang="en-US" sz="2000" b="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csv</a:t>
                </a:r>
              </a:p>
            </p:txBody>
          </p:sp>
          <p:sp>
            <p:nvSpPr>
              <p:cNvPr id="9" name="Rectangle: Folded Corner 8">
                <a:extLst>
                  <a:ext uri="{FF2B5EF4-FFF2-40B4-BE49-F238E27FC236}">
                    <a16:creationId xmlns:a16="http://schemas.microsoft.com/office/drawing/2014/main" id="{9715C114-AEF3-4ADE-BE5B-187FCE480295}"/>
                  </a:ext>
                </a:extLst>
              </p:cNvPr>
              <p:cNvSpPr/>
              <p:nvPr/>
            </p:nvSpPr>
            <p:spPr>
              <a:xfrm>
                <a:off x="755576" y="1840107"/>
                <a:ext cx="1008112" cy="580781"/>
              </a:xfrm>
              <a:prstGeom prst="foldedCorner">
                <a:avLst/>
              </a:prstGeom>
              <a:noFill/>
              <a:ln w="63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l-GR"/>
              </a:p>
            </p:txBody>
          </p:sp>
        </p:grpSp>
        <p:sp>
          <p:nvSpPr>
            <p:cNvPr id="10" name="Arrow: Right 9">
              <a:extLst>
                <a:ext uri="{FF2B5EF4-FFF2-40B4-BE49-F238E27FC236}">
                  <a16:creationId xmlns:a16="http://schemas.microsoft.com/office/drawing/2014/main" id="{E036EB88-D8DA-4359-9B42-3298F9758F68}"/>
                </a:ext>
              </a:extLst>
            </p:cNvPr>
            <p:cNvSpPr/>
            <p:nvPr/>
          </p:nvSpPr>
          <p:spPr>
            <a:xfrm>
              <a:off x="1907704" y="5833374"/>
              <a:ext cx="432048" cy="175992"/>
            </a:xfrm>
            <a:prstGeom prst="rightArrow">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11" name="Rectangle: Rounded Corners 10">
              <a:extLst>
                <a:ext uri="{FF2B5EF4-FFF2-40B4-BE49-F238E27FC236}">
                  <a16:creationId xmlns:a16="http://schemas.microsoft.com/office/drawing/2014/main" id="{EA9B7DCA-EE04-4F7C-95BD-B36575407884}"/>
                </a:ext>
              </a:extLst>
            </p:cNvPr>
            <p:cNvSpPr/>
            <p:nvPr/>
          </p:nvSpPr>
          <p:spPr>
            <a:xfrm>
              <a:off x="2483768" y="5432123"/>
              <a:ext cx="4608512" cy="1026220"/>
            </a:xfrm>
            <a:prstGeom prst="round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2" name="TextBox 11">
              <a:extLst>
                <a:ext uri="{FF2B5EF4-FFF2-40B4-BE49-F238E27FC236}">
                  <a16:creationId xmlns:a16="http://schemas.microsoft.com/office/drawing/2014/main" id="{07101E8C-E5F3-43F1-A884-CC2C8D2BC092}"/>
                </a:ext>
              </a:extLst>
            </p:cNvPr>
            <p:cNvSpPr txBox="1"/>
            <p:nvPr/>
          </p:nvSpPr>
          <p:spPr>
            <a:xfrm>
              <a:off x="2555776" y="5013176"/>
              <a:ext cx="4752528" cy="400110"/>
            </a:xfrm>
            <a:prstGeom prst="rect">
              <a:avLst/>
            </a:prstGeom>
            <a:noFill/>
          </p:spPr>
          <p:txBody>
            <a:bodyPr wrap="square">
              <a:spAutoFit/>
            </a:bodyPr>
            <a:lstStyle/>
            <a:p>
              <a:r>
                <a:rPr lang="en-US" sz="2000" i="1" dirty="0">
                  <a:solidFill>
                    <a:srgbClr val="0070C0"/>
                  </a:solidFill>
                  <a:latin typeface="Calibri" panose="020F0502020204030204" pitchFamily="34" charset="0"/>
                  <a:ea typeface="Calibri" panose="020F0502020204030204" pitchFamily="34" charset="0"/>
                  <a:cs typeface="Calibri" panose="020F0502020204030204" pitchFamily="34" charset="0"/>
                </a:rPr>
                <a:t>A straight-forward process to upload data</a:t>
              </a:r>
              <a:endParaRPr lang="el-GR" sz="2000" i="1"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112170A6-72E8-4BD7-92F6-2FEB9DB81D3A}"/>
                </a:ext>
              </a:extLst>
            </p:cNvPr>
            <p:cNvSpPr txBox="1"/>
            <p:nvPr/>
          </p:nvSpPr>
          <p:spPr>
            <a:xfrm>
              <a:off x="2627784" y="5720155"/>
              <a:ext cx="5328592" cy="338554"/>
            </a:xfrm>
            <a:prstGeom prst="rect">
              <a:avLst/>
            </a:prstGeom>
            <a:noFill/>
          </p:spPr>
          <p:txBody>
            <a:bodyPr wrap="square">
              <a:spAutoFit/>
            </a:bodyPr>
            <a:lstStyle/>
            <a:p>
              <a:r>
                <a:rPr lang="en-US" sz="1600" b="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Step 2. Consistency check (quality control routines)</a:t>
              </a:r>
            </a:p>
          </p:txBody>
        </p:sp>
      </p:grpSp>
      <p:sp>
        <p:nvSpPr>
          <p:cNvPr id="2" name="Slide Number Placeholder 1">
            <a:extLst>
              <a:ext uri="{FF2B5EF4-FFF2-40B4-BE49-F238E27FC236}">
                <a16:creationId xmlns:a16="http://schemas.microsoft.com/office/drawing/2014/main" id="{A2FB10F4-7BC7-43ED-B75C-520FD3BBA7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a:p>
        </p:txBody>
      </p:sp>
    </p:spTree>
    <p:extLst>
      <p:ext uri="{BB962C8B-B14F-4D97-AF65-F5344CB8AC3E}">
        <p14:creationId xmlns:p14="http://schemas.microsoft.com/office/powerpoint/2010/main" val="3916399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67E19A8-BE14-4366-8151-8C8535B05911}"/>
              </a:ext>
            </a:extLst>
          </p:cNvPr>
          <p:cNvSpPr/>
          <p:nvPr/>
        </p:nvSpPr>
        <p:spPr>
          <a:xfrm>
            <a:off x="0" y="0"/>
            <a:ext cx="9144000" cy="707886"/>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Data call for acoustics, pelagic trawl and CTD data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collected from MEDIAS survey in the Med&amp;BS</a:t>
            </a:r>
          </a:p>
        </p:txBody>
      </p:sp>
      <p:pic>
        <p:nvPicPr>
          <p:cNvPr id="3" name="Picture 2">
            <a:extLst>
              <a:ext uri="{FF2B5EF4-FFF2-40B4-BE49-F238E27FC236}">
                <a16:creationId xmlns:a16="http://schemas.microsoft.com/office/drawing/2014/main" id="{2BBF6A2B-EA4F-469D-B250-79BF02C2A60D}"/>
              </a:ext>
            </a:extLst>
          </p:cNvPr>
          <p:cNvPicPr>
            <a:picLocks noChangeAspect="1"/>
          </p:cNvPicPr>
          <p:nvPr/>
        </p:nvPicPr>
        <p:blipFill>
          <a:blip r:embed="rId2"/>
          <a:stretch>
            <a:fillRect/>
          </a:stretch>
        </p:blipFill>
        <p:spPr>
          <a:xfrm>
            <a:off x="3909016" y="836712"/>
            <a:ext cx="5006384" cy="5825370"/>
          </a:xfrm>
          <a:prstGeom prst="rect">
            <a:avLst/>
          </a:prstGeom>
        </p:spPr>
      </p:pic>
      <p:sp>
        <p:nvSpPr>
          <p:cNvPr id="7" name="TextBox 6">
            <a:extLst>
              <a:ext uri="{FF2B5EF4-FFF2-40B4-BE49-F238E27FC236}">
                <a16:creationId xmlns:a16="http://schemas.microsoft.com/office/drawing/2014/main" id="{6F8D5471-CF14-4FD1-AADD-A784607CDD31}"/>
              </a:ext>
            </a:extLst>
          </p:cNvPr>
          <p:cNvSpPr txBox="1"/>
          <p:nvPr/>
        </p:nvSpPr>
        <p:spPr>
          <a:xfrm>
            <a:off x="457200" y="1143000"/>
            <a:ext cx="3429000" cy="4801314"/>
          </a:xfrm>
          <a:prstGeom prst="rect">
            <a:avLst/>
          </a:prstGeom>
          <a:noFill/>
        </p:spPr>
        <p:txBody>
          <a:bodyPr wrap="square">
            <a:spAutoFit/>
          </a:bodyPr>
          <a:lstStyle/>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Aim: to populate the system with relevant datasets collected during MEDIAS survey.</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RDBFIS consortium supports MS in the preparation of data call and data submission through bilateral meetings and demonstrations of the available tools, addressing any issues that arise.</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During the latest MEDIAS Annual Meeting (end of April 2026), the group agreed on the most appropriate period of the year to launch the data call.</a:t>
            </a:r>
          </a:p>
        </p:txBody>
      </p:sp>
      <p:sp>
        <p:nvSpPr>
          <p:cNvPr id="2" name="Slide Number Placeholder 1">
            <a:extLst>
              <a:ext uri="{FF2B5EF4-FFF2-40B4-BE49-F238E27FC236}">
                <a16:creationId xmlns:a16="http://schemas.microsoft.com/office/drawing/2014/main" id="{519C0927-0ABE-4FAF-BDEA-7386BC526D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Tree>
    <p:extLst>
      <p:ext uri="{BB962C8B-B14F-4D97-AF65-F5344CB8AC3E}">
        <p14:creationId xmlns:p14="http://schemas.microsoft.com/office/powerpoint/2010/main" val="2939508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67E19A8-BE14-4366-8151-8C8535B05911}"/>
              </a:ext>
            </a:extLst>
          </p:cNvPr>
          <p:cNvSpPr/>
          <p:nvPr/>
        </p:nvSpPr>
        <p:spPr>
          <a:xfrm>
            <a:off x="0" y="0"/>
            <a:ext cx="9144000" cy="707886"/>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CTD data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collected from surveys in the Med&amp;BS</a:t>
            </a:r>
          </a:p>
        </p:txBody>
      </p:sp>
      <p:sp>
        <p:nvSpPr>
          <p:cNvPr id="7" name="TextBox 6">
            <a:extLst>
              <a:ext uri="{FF2B5EF4-FFF2-40B4-BE49-F238E27FC236}">
                <a16:creationId xmlns:a16="http://schemas.microsoft.com/office/drawing/2014/main" id="{6F8D5471-CF14-4FD1-AADD-A784607CDD31}"/>
              </a:ext>
            </a:extLst>
          </p:cNvPr>
          <p:cNvSpPr txBox="1"/>
          <p:nvPr/>
        </p:nvSpPr>
        <p:spPr>
          <a:xfrm>
            <a:off x="457200" y="1143000"/>
            <a:ext cx="3429000" cy="2585323"/>
          </a:xfrm>
          <a:prstGeom prst="rect">
            <a:avLst/>
          </a:prstGeom>
          <a:noFill/>
        </p:spPr>
        <p:txBody>
          <a:bodyPr wrap="square">
            <a:spAutoFit/>
          </a:bodyPr>
          <a:lstStyle/>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validation and upload of CTD data collected during the MEDITS survey can be supported by RDBFIS.</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If requested by the group, we can extend the MEDITS component by adding a dedicated tab for handling CTD data.</a:t>
            </a:r>
          </a:p>
        </p:txBody>
      </p:sp>
      <p:pic>
        <p:nvPicPr>
          <p:cNvPr id="4" name="Picture 3">
            <a:hlinkClick r:id="rId2" action="ppaction://hlinkfile"/>
            <a:extLst>
              <a:ext uri="{FF2B5EF4-FFF2-40B4-BE49-F238E27FC236}">
                <a16:creationId xmlns:a16="http://schemas.microsoft.com/office/drawing/2014/main" id="{ED9757AA-4371-4414-BA29-BF41E45A73E5}"/>
              </a:ext>
            </a:extLst>
          </p:cNvPr>
          <p:cNvPicPr>
            <a:picLocks noChangeAspect="1"/>
          </p:cNvPicPr>
          <p:nvPr/>
        </p:nvPicPr>
        <p:blipFill>
          <a:blip r:embed="rId3"/>
          <a:stretch>
            <a:fillRect/>
          </a:stretch>
        </p:blipFill>
        <p:spPr>
          <a:xfrm>
            <a:off x="3895106" y="1219200"/>
            <a:ext cx="4850978" cy="5105400"/>
          </a:xfrm>
          <a:prstGeom prst="rect">
            <a:avLst/>
          </a:prstGeom>
        </p:spPr>
      </p:pic>
      <p:sp>
        <p:nvSpPr>
          <p:cNvPr id="5" name="Slide Number Placeholder 4">
            <a:extLst>
              <a:ext uri="{FF2B5EF4-FFF2-40B4-BE49-F238E27FC236}">
                <a16:creationId xmlns:a16="http://schemas.microsoft.com/office/drawing/2014/main" id="{664D737E-9E3A-4539-8724-A5F0038EAF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Tree>
    <p:extLst>
      <p:ext uri="{BB962C8B-B14F-4D97-AF65-F5344CB8AC3E}">
        <p14:creationId xmlns:p14="http://schemas.microsoft.com/office/powerpoint/2010/main" val="2360390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755576" y="3789040"/>
            <a:ext cx="7704856" cy="1938992"/>
          </a:xfrm>
          <a:prstGeom prst="rect">
            <a:avLst/>
          </a:prstGeom>
          <a:noFill/>
          <a:ln w="1270">
            <a:solidFill>
              <a:schemeClr val="bg2">
                <a:lumMod val="75000"/>
              </a:schemeClr>
            </a:solidFill>
          </a:ln>
        </p:spPr>
        <p:txBody>
          <a:bodyPr wrap="square">
            <a:spAutoFit/>
          </a:bodyPr>
          <a:lstStyle/>
          <a:p>
            <a:pPr algn="just"/>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RDBFIS</a:t>
            </a:r>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The validation scheme implemented in the RDBFIS was strictly aligned with the specifications defined in the various Annexes of the relevant EU/GFCM data calls and the survey handbooks.</a:t>
            </a:r>
          </a:p>
          <a:p>
            <a:pPr algn="just"/>
            <a:endPar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a:t>
            </a:r>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JRC</a:t>
            </a:r>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system is more flexible with certain validation rules, particularly regarding the number of digits allowed after the decimal point</a:t>
            </a:r>
            <a:r>
              <a:rPr lang="el-GR"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Harmonization across RDBFIS, JRC, and GFCM Platforms</a:t>
            </a:r>
          </a:p>
        </p:txBody>
      </p:sp>
      <p:sp>
        <p:nvSpPr>
          <p:cNvPr id="9" name="TextBox 8">
            <a:extLst>
              <a:ext uri="{FF2B5EF4-FFF2-40B4-BE49-F238E27FC236}">
                <a16:creationId xmlns:a16="http://schemas.microsoft.com/office/drawing/2014/main" id="{64743C98-DC31-4E80-BD09-039A13E7B029}"/>
              </a:ext>
            </a:extLst>
          </p:cNvPr>
          <p:cNvSpPr txBox="1"/>
          <p:nvPr/>
        </p:nvSpPr>
        <p:spPr>
          <a:xfrm>
            <a:off x="1043608" y="808413"/>
            <a:ext cx="7128792" cy="2764603"/>
          </a:xfrm>
          <a:prstGeom prst="rect">
            <a:avLst/>
          </a:prstGeom>
          <a:noFill/>
          <a:ln w="3175">
            <a:noFill/>
          </a:ln>
        </p:spPr>
        <p:txBody>
          <a:bodyPr wrap="square">
            <a:spAutoFit/>
          </a:bodyPr>
          <a:lstStyle/>
          <a:p>
            <a:pPr>
              <a:buSzPts val="1000"/>
              <a:tabLst>
                <a:tab pos="457200" algn="l"/>
              </a:tabLst>
            </a:pPr>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schema &amp; syntactic rules</a:t>
            </a:r>
          </a:p>
          <a:p>
            <a:pPr lvl="0">
              <a:buSzPts val="1000"/>
              <a:tabLst>
                <a:tab pos="457200" algn="l"/>
              </a:tabLst>
            </a:pPr>
            <a:r>
              <a:rPr lang="en-US"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Multiple platforms (RDBFIS, JRC, GFCM DCRF) </a:t>
            </a:r>
          </a:p>
          <a:p>
            <a:pPr lvl="0">
              <a:buSzPts val="1000"/>
              <a:tabLst>
                <a:tab pos="457200" algn="l"/>
              </a:tabLst>
            </a:pPr>
            <a:endParaRPr lang="en-US"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buSzPts val="1000"/>
              <a:buFont typeface="Symbol" panose="05050102010706020507" pitchFamily="18" charset="2"/>
              <a:buChar char=""/>
              <a:tabLst>
                <a:tab pos="457200" algn="l"/>
              </a:tabLst>
            </a:pPr>
            <a:r>
              <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Issues:</a:t>
            </a:r>
          </a:p>
          <a:p>
            <a:pPr marL="742950" lvl="1" indent="-285750">
              <a:lnSpc>
                <a:spcPct val="115000"/>
              </a:lnSpc>
              <a:buSzPts val="1000"/>
              <a:buFont typeface="Courier New" panose="02070309020205020404" pitchFamily="49" charset="0"/>
              <a:buChar char="o"/>
              <a:tabLst>
                <a:tab pos="914400" algn="l"/>
              </a:tabLst>
            </a:pPr>
            <a:r>
              <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Divergent </a:t>
            </a:r>
            <a:r>
              <a:rPr lang="el-GR"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field names</a:t>
            </a:r>
            <a:endPar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15000"/>
              </a:lnSpc>
              <a:buSzPts val="1000"/>
              <a:buFont typeface="Courier New" panose="02070309020205020404" pitchFamily="49" charset="0"/>
              <a:buChar char="o"/>
              <a:tabLst>
                <a:tab pos="914400" algn="l"/>
              </a:tabLst>
            </a:pPr>
            <a:r>
              <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Varying </a:t>
            </a:r>
            <a:r>
              <a:rPr lang="el-GR"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decimal precision tolerance</a:t>
            </a:r>
            <a:endPar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15000"/>
              </a:lnSpc>
              <a:buSzPts val="1000"/>
              <a:buFont typeface="Courier New" panose="02070309020205020404" pitchFamily="49" charset="0"/>
              <a:buChar char="o"/>
              <a:tabLst>
                <a:tab pos="914400" algn="l"/>
              </a:tabLst>
            </a:pPr>
            <a:r>
              <a:rPr lang="en-US"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Code lists</a:t>
            </a:r>
            <a:r>
              <a:rPr lang="en-US"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 applied (species, gears, GSAs)</a:t>
            </a:r>
            <a:endPar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15000"/>
              </a:lnSpc>
              <a:buSzPts val="1000"/>
              <a:buFont typeface="Courier New" panose="02070309020205020404" pitchFamily="49" charset="0"/>
              <a:buChar char="o"/>
              <a:tabLst>
                <a:tab pos="914400" algn="l"/>
              </a:tabLst>
            </a:pPr>
            <a:r>
              <a:rPr lang="en-US"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Different </a:t>
            </a:r>
            <a:r>
              <a:rPr lang="en-US"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syntactic rules</a:t>
            </a:r>
            <a:endPar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A9736F46-D7D6-4DCA-9AB9-7F237C2380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spTree>
    <p:extLst>
      <p:ext uri="{BB962C8B-B14F-4D97-AF65-F5344CB8AC3E}">
        <p14:creationId xmlns:p14="http://schemas.microsoft.com/office/powerpoint/2010/main" val="4221636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9552" y="533400"/>
            <a:ext cx="8064896" cy="5909310"/>
          </a:xfrm>
          <a:prstGeom prst="rect">
            <a:avLst/>
          </a:prstGeom>
          <a:noFill/>
          <a:ln w="6350">
            <a:noFill/>
          </a:ln>
        </p:spPr>
        <p:txBody>
          <a:bodyPr wrap="square">
            <a:spAutoFit/>
          </a:bodyPr>
          <a:lstStyle/>
          <a:p>
            <a:pPr algn="just"/>
            <a:r>
              <a:rPr lang="en-US" sz="1800" b="1" dirty="0">
                <a:solidFill>
                  <a:schemeClr val="bg2">
                    <a:lumMod val="75000"/>
                  </a:schemeClr>
                </a:solidFill>
                <a:latin typeface="Calibri" panose="020F0502020204030204" pitchFamily="34" charset="0"/>
              </a:rPr>
              <a:t>JRC-RDBFIS meeting, 20 November 2025</a:t>
            </a:r>
          </a:p>
          <a:p>
            <a:pPr algn="just"/>
            <a:r>
              <a:rPr lang="en-US" sz="1800" u="sng" dirty="0">
                <a:solidFill>
                  <a:schemeClr val="bg2">
                    <a:lumMod val="75000"/>
                  </a:schemeClr>
                </a:solidFill>
                <a:latin typeface="Calibri" panose="020F0502020204030204" pitchFamily="34" charset="0"/>
              </a:rPr>
              <a:t>Objective:</a:t>
            </a:r>
            <a:r>
              <a:rPr lang="en-US" sz="1800" dirty="0">
                <a:solidFill>
                  <a:schemeClr val="bg2">
                    <a:lumMod val="75000"/>
                  </a:schemeClr>
                </a:solidFill>
                <a:latin typeface="Calibri" panose="020F0502020204030204" pitchFamily="34" charset="0"/>
              </a:rPr>
              <a:t> To review and align the technical aspects and data validation rules between RDBFIS and JRC systems, ensuring consistency, interoperability, and accurate data exchange under the DCF / Med&amp;BS datacall framework.</a:t>
            </a:r>
          </a:p>
          <a:p>
            <a:pPr algn="just"/>
            <a:endParaRPr lang="en-US" sz="1800" u="sng"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Main topics</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Coding Systems and Species Lists</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Validation Rules and Numerical Precision</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ANNEX 1 Update</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MEDITS-Specific Harmonization Issues</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Next Steps and Coordination</a:t>
            </a:r>
          </a:p>
          <a:p>
            <a:pPr algn="just"/>
            <a:endParaRPr lang="en-US" sz="1800"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Actions implemented following the meeting</a:t>
            </a:r>
            <a:r>
              <a:rPr lang="en-US" sz="1800" dirty="0">
                <a:solidFill>
                  <a:schemeClr val="bg2">
                    <a:lumMod val="75000"/>
                  </a:schemeClr>
                </a:solidFill>
                <a:latin typeface="Calibri" panose="020F0502020204030204" pitchFamily="34" charset="0"/>
              </a:rPr>
              <a:t>: </a:t>
            </a:r>
          </a:p>
          <a:p>
            <a:pPr algn="just"/>
            <a:r>
              <a:rPr lang="en-US" sz="1800" dirty="0">
                <a:solidFill>
                  <a:schemeClr val="bg2">
                    <a:lumMod val="75000"/>
                  </a:schemeClr>
                </a:solidFill>
                <a:latin typeface="Calibri" panose="020F0502020204030204" pitchFamily="34" charset="0"/>
              </a:rPr>
              <a:t>The harmonization process between the JRC and RDBFIS databases is nearly complete; a few remaining issues require further discussion and will be included as agenda items for the next meeting.</a:t>
            </a:r>
          </a:p>
          <a:p>
            <a:pPr algn="just"/>
            <a:endParaRPr lang="en-US" sz="1800" dirty="0">
              <a:solidFill>
                <a:schemeClr val="bg2">
                  <a:lumMod val="75000"/>
                </a:schemeClr>
              </a:solidFill>
              <a:latin typeface="Calibri" panose="020F0502020204030204" pitchFamily="34" charset="0"/>
            </a:endParaRPr>
          </a:p>
          <a:p>
            <a:pPr algn="just"/>
            <a:r>
              <a:rPr lang="en-US" sz="1800" dirty="0">
                <a:solidFill>
                  <a:schemeClr val="bg2">
                    <a:lumMod val="75000"/>
                  </a:schemeClr>
                </a:solidFill>
                <a:latin typeface="Calibri" panose="020F0502020204030204" pitchFamily="34" charset="0"/>
              </a:rPr>
              <a:t>Regarding the MEDITS structure and validation rules, these will be addressed at the next meeting with JRC as: (a) the new MEDITS Handbook has been finalised and published, and (b) the outcomes of the meeting between RDBFIS and the MEDITS Chair have been circulated within the MEDITS group for review and agreement.</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System Harmonization across RDBFIS</a:t>
            </a:r>
            <a:r>
              <a:rPr lang="en-US" sz="2000" b="1" dirty="0">
                <a:solidFill>
                  <a:srgbClr val="FFFFFF"/>
                </a:solidFill>
                <a:latin typeface="Calibri Light" pitchFamily="34" charset="0"/>
                <a:cs typeface="Calibri Light" pitchFamily="34" charset="0"/>
              </a:rPr>
              <a:t> and </a:t>
            </a: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JRC (Med&amp;BS datacall)</a:t>
            </a:r>
          </a:p>
        </p:txBody>
      </p:sp>
      <p:sp>
        <p:nvSpPr>
          <p:cNvPr id="2" name="Slide Number Placeholder 1">
            <a:extLst>
              <a:ext uri="{FF2B5EF4-FFF2-40B4-BE49-F238E27FC236}">
                <a16:creationId xmlns:a16="http://schemas.microsoft.com/office/drawing/2014/main" id="{C0F72860-2A80-4C2B-B3E4-FB414CA867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Tree>
    <p:extLst>
      <p:ext uri="{BB962C8B-B14F-4D97-AF65-F5344CB8AC3E}">
        <p14:creationId xmlns:p14="http://schemas.microsoft.com/office/powerpoint/2010/main" val="3320619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9552" y="934283"/>
            <a:ext cx="4642048" cy="4247317"/>
          </a:xfrm>
          <a:prstGeom prst="rect">
            <a:avLst/>
          </a:prstGeom>
          <a:noFill/>
          <a:ln w="6350">
            <a:noFill/>
          </a:ln>
        </p:spPr>
        <p:txBody>
          <a:bodyPr wrap="square">
            <a:spAutoFit/>
          </a:bodyPr>
          <a:lstStyle/>
          <a:p>
            <a:pPr algn="just"/>
            <a:r>
              <a:rPr lang="en-US" sz="1800" b="1" dirty="0">
                <a:solidFill>
                  <a:schemeClr val="bg2">
                    <a:lumMod val="75000"/>
                  </a:schemeClr>
                </a:solidFill>
                <a:latin typeface="Calibri" panose="020F0502020204030204" pitchFamily="34" charset="0"/>
              </a:rPr>
              <a:t>GFCM-RDBFIS meeting, 26 November 2025</a:t>
            </a:r>
          </a:p>
          <a:p>
            <a:pPr algn="just"/>
            <a:r>
              <a:rPr lang="en-US" sz="1800" u="sng" dirty="0">
                <a:solidFill>
                  <a:schemeClr val="bg2">
                    <a:lumMod val="75000"/>
                  </a:schemeClr>
                </a:solidFill>
                <a:latin typeface="Calibri" panose="020F0502020204030204" pitchFamily="34" charset="0"/>
              </a:rPr>
              <a:t>Objective:</a:t>
            </a:r>
            <a:r>
              <a:rPr lang="en-US" sz="1800" dirty="0">
                <a:solidFill>
                  <a:schemeClr val="bg2">
                    <a:lumMod val="75000"/>
                  </a:schemeClr>
                </a:solidFill>
                <a:latin typeface="Calibri" panose="020F0502020204030204" pitchFamily="34" charset="0"/>
              </a:rPr>
              <a:t> To address the technical harmonization needs between the GFCM Data Collection Reference Framework (DCRF) and the RDBFIS platform. </a:t>
            </a:r>
          </a:p>
          <a:p>
            <a:pPr algn="just"/>
            <a:endParaRPr lang="en-US" sz="1800" u="sng"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Main topics</a:t>
            </a:r>
          </a:p>
          <a:p>
            <a:pPr marL="254000" lvl="3" algn="just"/>
            <a:r>
              <a:rPr lang="en-US" sz="1800" dirty="0">
                <a:solidFill>
                  <a:schemeClr val="bg2">
                    <a:lumMod val="75000"/>
                  </a:schemeClr>
                </a:solidFill>
                <a:latin typeface="Calibri" panose="020F0502020204030204" pitchFamily="34" charset="0"/>
              </a:rPr>
              <a:t>Participants from the RDBFIS consortium, DG MARE, and the GFCM Secretariat examined the current integration status, coding systems, data validation processes, spatial inconsistencies in GSA polygons, and upcoming changes in the DCRF structure.</a:t>
            </a:r>
          </a:p>
          <a:p>
            <a:pPr algn="just"/>
            <a:endParaRPr lang="en-US" sz="1800"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Next meeting:</a:t>
            </a:r>
            <a:r>
              <a:rPr lang="en-US" sz="1800" dirty="0">
                <a:solidFill>
                  <a:schemeClr val="bg2">
                    <a:lumMod val="75000"/>
                  </a:schemeClr>
                </a:solidFill>
                <a:latin typeface="Calibri" panose="020F0502020204030204" pitchFamily="34" charset="0"/>
              </a:rPr>
              <a:t> GFCM will set the date  </a:t>
            </a:r>
            <a:endPar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System Harmonization across RDBFIS</a:t>
            </a:r>
            <a:r>
              <a:rPr lang="en-US" sz="2000" b="1" dirty="0">
                <a:solidFill>
                  <a:srgbClr val="FFFFFF"/>
                </a:solidFill>
                <a:latin typeface="Calibri Light" pitchFamily="34" charset="0"/>
                <a:cs typeface="Calibri Light" pitchFamily="34" charset="0"/>
              </a:rPr>
              <a:t> and </a:t>
            </a: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GFCM/DCRF datacalls</a:t>
            </a:r>
          </a:p>
        </p:txBody>
      </p:sp>
      <p:pic>
        <p:nvPicPr>
          <p:cNvPr id="2" name="Picture 1">
            <a:extLst>
              <a:ext uri="{FF2B5EF4-FFF2-40B4-BE49-F238E27FC236}">
                <a16:creationId xmlns:a16="http://schemas.microsoft.com/office/drawing/2014/main" id="{91C67020-BCAD-4AE6-B38D-187F4E09FCA9}"/>
              </a:ext>
            </a:extLst>
          </p:cNvPr>
          <p:cNvPicPr>
            <a:picLocks noChangeAspect="1"/>
          </p:cNvPicPr>
          <p:nvPr/>
        </p:nvPicPr>
        <p:blipFill>
          <a:blip r:embed="rId2"/>
          <a:stretch>
            <a:fillRect/>
          </a:stretch>
        </p:blipFill>
        <p:spPr>
          <a:xfrm>
            <a:off x="5334000" y="762000"/>
            <a:ext cx="3322608" cy="4529721"/>
          </a:xfrm>
          <a:prstGeom prst="rect">
            <a:avLst/>
          </a:prstGeom>
        </p:spPr>
      </p:pic>
      <p:sp>
        <p:nvSpPr>
          <p:cNvPr id="3" name="Slide Number Placeholder 2">
            <a:extLst>
              <a:ext uri="{FF2B5EF4-FFF2-40B4-BE49-F238E27FC236}">
                <a16:creationId xmlns:a16="http://schemas.microsoft.com/office/drawing/2014/main" id="{B1086593-8270-485A-8506-9A5CE4E920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spTree>
    <p:extLst>
      <p:ext uri="{BB962C8B-B14F-4D97-AF65-F5344CB8AC3E}">
        <p14:creationId xmlns:p14="http://schemas.microsoft.com/office/powerpoint/2010/main" val="3565094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9552" y="856595"/>
            <a:ext cx="8064896" cy="4401205"/>
          </a:xfrm>
          <a:prstGeom prst="rect">
            <a:avLst/>
          </a:prstGeom>
          <a:noFill/>
          <a:ln w="6350">
            <a:noFill/>
          </a:ln>
        </p:spPr>
        <p:txBody>
          <a:bodyPr wrap="square">
            <a:spAutoFit/>
          </a:bodyPr>
          <a:lstStyle/>
          <a:p>
            <a:pPr algn="just"/>
            <a:r>
              <a:rPr lang="en-US" sz="1800" b="1" dirty="0">
                <a:solidFill>
                  <a:schemeClr val="bg2">
                    <a:lumMod val="75000"/>
                  </a:schemeClr>
                </a:solidFill>
                <a:latin typeface="Calibri" panose="020F0502020204030204" pitchFamily="34" charset="0"/>
              </a:rPr>
              <a:t>MEDITS Chair and RDBFIS Consortium online meeting, 2 December 2025</a:t>
            </a:r>
          </a:p>
          <a:p>
            <a:pPr algn="just"/>
            <a:r>
              <a:rPr lang="en-US" sz="1800" u="sng" dirty="0">
                <a:solidFill>
                  <a:schemeClr val="bg2">
                    <a:lumMod val="75000"/>
                  </a:schemeClr>
                </a:solidFill>
                <a:latin typeface="Calibri" panose="020F0502020204030204" pitchFamily="34" charset="0"/>
              </a:rPr>
              <a:t>Objective:</a:t>
            </a:r>
            <a:r>
              <a:rPr lang="en-US" sz="1800" dirty="0">
                <a:solidFill>
                  <a:schemeClr val="bg2">
                    <a:lumMod val="75000"/>
                  </a:schemeClr>
                </a:solidFill>
                <a:latin typeface="Calibri" panose="020F0502020204030204" pitchFamily="34" charset="0"/>
              </a:rPr>
              <a:t> Revision of the MEDITS new Handbook and species </a:t>
            </a:r>
            <a:r>
              <a:rPr lang="en-US" dirty="0">
                <a:solidFill>
                  <a:schemeClr val="bg2">
                    <a:lumMod val="75000"/>
                  </a:schemeClr>
                </a:solidFill>
                <a:latin typeface="Calibri" panose="020F0502020204030204" pitchFamily="34" charset="0"/>
              </a:rPr>
              <a:t>l</a:t>
            </a:r>
            <a:r>
              <a:rPr lang="en-US" sz="1800" dirty="0">
                <a:solidFill>
                  <a:schemeClr val="bg2">
                    <a:lumMod val="75000"/>
                  </a:schemeClr>
                </a:solidFill>
                <a:latin typeface="Calibri" panose="020F0502020204030204" pitchFamily="34" charset="0"/>
              </a:rPr>
              <a:t>ist</a:t>
            </a:r>
          </a:p>
          <a:p>
            <a:pPr algn="just"/>
            <a:endParaRPr lang="en-US" sz="1800" u="sng"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Main topics</a:t>
            </a:r>
          </a:p>
          <a:p>
            <a:pPr algn="just"/>
            <a:r>
              <a:rPr lang="en-US" sz="1800" dirty="0">
                <a:solidFill>
                  <a:schemeClr val="bg2">
                    <a:lumMod val="75000"/>
                  </a:schemeClr>
                </a:solidFill>
                <a:latin typeface="Calibri" panose="020F0502020204030204" pitchFamily="34" charset="0"/>
              </a:rPr>
              <a:t>The discussion focused on: </a:t>
            </a:r>
          </a:p>
          <a:p>
            <a:pPr marL="285750" indent="-285750" algn="just">
              <a:spcAft>
                <a:spcPts val="600"/>
              </a:spcAft>
              <a:buFont typeface="Arial" panose="020B0604020202020204" pitchFamily="34" charset="0"/>
              <a:buChar char="•"/>
            </a:pPr>
            <a:r>
              <a:rPr lang="en-US" dirty="0">
                <a:solidFill>
                  <a:schemeClr val="bg2">
                    <a:lumMod val="75000"/>
                  </a:schemeClr>
                </a:solidFill>
                <a:latin typeface="Calibri" panose="020F0502020204030204" pitchFamily="34" charset="0"/>
              </a:rPr>
              <a:t>assessing</a:t>
            </a:r>
            <a:r>
              <a:rPr lang="en-US" sz="1800" dirty="0">
                <a:solidFill>
                  <a:schemeClr val="bg2">
                    <a:lumMod val="75000"/>
                  </a:schemeClr>
                </a:solidFill>
                <a:latin typeface="Calibri" panose="020F0502020204030204" pitchFamily="34" charset="0"/>
              </a:rPr>
              <a:t> the impact of the changes introduced in the MEDITS data structure on the RDBFIS platform, including the database, </a:t>
            </a:r>
            <a:r>
              <a:rPr lang="en-US" dirty="0">
                <a:solidFill>
                  <a:schemeClr val="bg2">
                    <a:lumMod val="75000"/>
                  </a:schemeClr>
                </a:solidFill>
                <a:latin typeface="Calibri" panose="020F0502020204030204" pitchFamily="34" charset="0"/>
              </a:rPr>
              <a:t>the integrated R packages (RoME</a:t>
            </a:r>
            <a:r>
              <a:rPr lang="en-US" sz="1800" dirty="0">
                <a:solidFill>
                  <a:schemeClr val="bg2">
                    <a:lumMod val="75000"/>
                  </a:schemeClr>
                </a:solidFill>
                <a:latin typeface="Calibri" panose="020F0502020204030204" pitchFamily="34" charset="0"/>
              </a:rPr>
              <a:t>, BioIndex, and RDBQC), the backend, frontend, and validation schema (</a:t>
            </a:r>
            <a:r>
              <a:rPr lang="en-US" sz="1600" i="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reordering of the column NUMBER_OF_THE_STRATUM in table TA, removal of the columns CODEND_CLOSING and PART_OF_THE_CODEND from tables TA and TB, addition of new columns-STATION_NUMBER and DOOR_OPENING to table TA</a:t>
            </a:r>
            <a:r>
              <a:rPr lang="en-US" sz="1800" dirty="0">
                <a:solidFill>
                  <a:schemeClr val="bg2">
                    <a:lumMod val="75000"/>
                  </a:schemeClr>
                </a:solidFill>
                <a:latin typeface="Calibri" panose="020F0502020204030204" pitchFamily="34" charset="0"/>
              </a:rPr>
              <a:t>);</a:t>
            </a:r>
            <a:endParaRPr lang="en-US" dirty="0">
              <a:solidFill>
                <a:schemeClr val="bg2">
                  <a:lumMod val="75000"/>
                </a:schemeClr>
              </a:solidFill>
              <a:latin typeface="Calibri" panose="020F0502020204030204" pitchFamily="34" charset="0"/>
            </a:endParaRPr>
          </a:p>
          <a:p>
            <a:pPr marL="285750" indent="-285750" algn="just">
              <a:spcAft>
                <a:spcPts val="600"/>
              </a:spcAft>
              <a:buFont typeface="Arial" panose="020B0604020202020204" pitchFamily="34" charset="0"/>
              <a:buChar char="•"/>
            </a:pPr>
            <a:r>
              <a:rPr lang="en-US" sz="1800" dirty="0">
                <a:solidFill>
                  <a:schemeClr val="accent6">
                    <a:lumMod val="75000"/>
                  </a:schemeClr>
                </a:solidFill>
                <a:latin typeface="Calibri" panose="020F0502020204030204" pitchFamily="34" charset="0"/>
              </a:rPr>
              <a:t>Matching of the MEDITS TM species list with </a:t>
            </a:r>
            <a:r>
              <a:rPr lang="en-US" sz="1800" dirty="0" err="1">
                <a:solidFill>
                  <a:schemeClr val="accent6">
                    <a:lumMod val="75000"/>
                  </a:schemeClr>
                </a:solidFill>
                <a:latin typeface="Calibri" panose="020F0502020204030204" pitchFamily="34" charset="0"/>
              </a:rPr>
              <a:t>WoRMS</a:t>
            </a:r>
            <a:r>
              <a:rPr lang="en-US" sz="1800" dirty="0">
                <a:solidFill>
                  <a:schemeClr val="accent6">
                    <a:lumMod val="75000"/>
                  </a:schemeClr>
                </a:solidFill>
                <a:latin typeface="Calibri" panose="020F0502020204030204" pitchFamily="34" charset="0"/>
              </a:rPr>
              <a:t> and ASFIS</a:t>
            </a:r>
            <a:r>
              <a:rPr lang="en-US" sz="1800" dirty="0">
                <a:solidFill>
                  <a:schemeClr val="bg2">
                    <a:lumMod val="75000"/>
                  </a:schemeClr>
                </a:solidFill>
                <a:latin typeface="Calibri" panose="020F0502020204030204" pitchFamily="34" charset="0"/>
              </a:rPr>
              <a:t>.</a:t>
            </a:r>
          </a:p>
          <a:p>
            <a:pPr algn="just"/>
            <a:endParaRPr lang="en-US" sz="1800"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Actions:</a:t>
            </a:r>
            <a:r>
              <a:rPr lang="en-US" sz="1800" dirty="0">
                <a:solidFill>
                  <a:schemeClr val="bg2">
                    <a:lumMod val="75000"/>
                  </a:schemeClr>
                </a:solidFill>
                <a:latin typeface="Calibri" panose="020F0502020204030204" pitchFamily="34" charset="0"/>
              </a:rPr>
              <a:t> the outcomes of the meeting has been circulated within the MEDITS group for review and agreement. </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lvl="0" algn="ctr">
              <a:buClr>
                <a:srgbClr val="000000"/>
              </a:buClr>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Harmonization </a:t>
            </a:r>
            <a:r>
              <a:rPr lang="en-US" sz="2000" b="1" kern="0" dirty="0">
                <a:solidFill>
                  <a:srgbClr val="FFFFFF"/>
                </a:solidFill>
                <a:latin typeface="Calibri Light" pitchFamily="34" charset="0"/>
                <a:cs typeface="Calibri Light" pitchFamily="34" charset="0"/>
                <a:sym typeface="Arial"/>
              </a:rPr>
              <a:t>among RDBFIS and MEDITS</a:t>
            </a:r>
            <a:endPar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endParaRPr>
          </a:p>
        </p:txBody>
      </p:sp>
      <p:sp>
        <p:nvSpPr>
          <p:cNvPr id="2" name="Slide Number Placeholder 1">
            <a:extLst>
              <a:ext uri="{FF2B5EF4-FFF2-40B4-BE49-F238E27FC236}">
                <a16:creationId xmlns:a16="http://schemas.microsoft.com/office/drawing/2014/main" id="{388D9C89-05AD-47B2-8EAD-6DBAECE413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Tree>
    <p:extLst>
      <p:ext uri="{BB962C8B-B14F-4D97-AF65-F5344CB8AC3E}">
        <p14:creationId xmlns:p14="http://schemas.microsoft.com/office/powerpoint/2010/main" val="2963775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9552" y="1170325"/>
            <a:ext cx="8064896" cy="3477875"/>
          </a:xfrm>
          <a:prstGeom prst="rect">
            <a:avLst/>
          </a:prstGeom>
          <a:noFill/>
          <a:ln w="6350">
            <a:noFill/>
          </a:ln>
        </p:spPr>
        <p:txBody>
          <a:bodyPr wrap="square">
            <a:spAutoFit/>
          </a:bodyPr>
          <a:lstStyle/>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 constructive collaboration between the DIASPARA and RDBFIS consortia has been initiated to explore potential pathways for future integration. DIASPARA is currently assessing long-term hosting solutions, including RDBFIS and RDBES.</a:t>
            </a:r>
          </a:p>
          <a:p>
            <a:pPr algn="just"/>
            <a:endPar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proposed approach is for diadromous data collected under the Med&amp;BS framework to be hosted within RDBFIS, enabling functionalities such as syntax and consistency checks, data upload, and data call generation. The DIASPARA consortium has already shared detailed information on the existing database structure, and further technical discussions are planned throughout 2026.</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Establishing collaboration with other consortia</a:t>
            </a:r>
          </a:p>
        </p:txBody>
      </p:sp>
      <p:sp>
        <p:nvSpPr>
          <p:cNvPr id="2" name="Slide Number Placeholder 1">
            <a:extLst>
              <a:ext uri="{FF2B5EF4-FFF2-40B4-BE49-F238E27FC236}">
                <a16:creationId xmlns:a16="http://schemas.microsoft.com/office/drawing/2014/main" id="{140746A9-13F1-47B8-A6F2-D30A70C164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Tree>
    <p:extLst>
      <p:ext uri="{BB962C8B-B14F-4D97-AF65-F5344CB8AC3E}">
        <p14:creationId xmlns:p14="http://schemas.microsoft.com/office/powerpoint/2010/main" val="3064617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71472" y="1615105"/>
            <a:ext cx="8001056" cy="1813895"/>
          </a:xfrm>
          <a:prstGeom prst="rect">
            <a:avLst/>
          </a:prstGeom>
        </p:spPr>
        <p:txBody>
          <a:bodyPr wrap="square">
            <a:spAutoFit/>
          </a:bodyPr>
          <a:lstStyle/>
          <a:p>
            <a:pPr algn="ctr">
              <a:lnSpc>
                <a:spcPct val="105000"/>
              </a:lnSpc>
            </a:pPr>
            <a:r>
              <a:rPr lang="en-US" sz="36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sym typeface="Calibri"/>
              </a:rPr>
              <a:t>Suggestions from the MEDITS group for further improvements or new functionalities (e.g. maps, graphs) </a:t>
            </a:r>
          </a:p>
        </p:txBody>
      </p:sp>
      <p:sp>
        <p:nvSpPr>
          <p:cNvPr id="4" name="Rectangle 3"/>
          <p:cNvSpPr/>
          <p:nvPr/>
        </p:nvSpPr>
        <p:spPr>
          <a:xfrm>
            <a:off x="0" y="-24"/>
            <a:ext cx="9144000" cy="400110"/>
          </a:xfrm>
          <a:prstGeom prst="rect">
            <a:avLst/>
          </a:prstGeom>
          <a:solidFill>
            <a:schemeClr val="bg2">
              <a:lumMod val="75000"/>
            </a:schemeClr>
          </a:solidFill>
          <a:ln w="6350">
            <a:noFill/>
          </a:ln>
        </p:spPr>
        <p:txBody>
          <a:bodyPr wrap="square">
            <a:spAutoFit/>
          </a:bodyPr>
          <a:lstStyle/>
          <a:p>
            <a:pPr algn="ctr"/>
            <a:r>
              <a:rPr lang="en-US" sz="2000" b="1" dirty="0">
                <a:solidFill>
                  <a:schemeClr val="bg1"/>
                </a:solidFill>
                <a:latin typeface="Calibri Light" pitchFamily="34" charset="0"/>
                <a:cs typeface="Calibri Light" pitchFamily="34" charset="0"/>
              </a:rPr>
              <a:t>MEDITS: further improvements &amp; new functionalities</a:t>
            </a:r>
            <a:endParaRPr lang="en-GB" sz="2000" b="1" dirty="0">
              <a:solidFill>
                <a:schemeClr val="bg1"/>
              </a:solidFill>
              <a:latin typeface="Calibri Light" pitchFamily="34" charset="0"/>
              <a:cs typeface="Calibri Light" pitchFamily="34" charset="0"/>
            </a:endParaRPr>
          </a:p>
        </p:txBody>
      </p:sp>
      <p:sp>
        <p:nvSpPr>
          <p:cNvPr id="2" name="Slide Number Placeholder 1">
            <a:extLst>
              <a:ext uri="{FF2B5EF4-FFF2-40B4-BE49-F238E27FC236}">
                <a16:creationId xmlns:a16="http://schemas.microsoft.com/office/drawing/2014/main" id="{25AFBADE-9834-44A7-B626-318F794643D6}"/>
              </a:ext>
            </a:extLst>
          </p:cNvPr>
          <p:cNvSpPr>
            <a:spLocks noGrp="1"/>
          </p:cNvSpPr>
          <p:nvPr>
            <p:ph type="sldNum" idx="12"/>
          </p:nvPr>
        </p:nvSpPr>
        <p:spPr/>
        <p:txBody>
          <a:bodyPr/>
          <a:lstStyle/>
          <a:p>
            <a:fld id="{00000000-1234-1234-1234-123412341234}" type="slidenum">
              <a:rPr lang="en-US" smtClean="0"/>
              <a:pPr/>
              <a:t>13</a:t>
            </a:fld>
            <a:endParaRPr lang="en-US"/>
          </a:p>
        </p:txBody>
      </p:sp>
    </p:spTree>
    <p:extLst>
      <p:ext uri="{BB962C8B-B14F-4D97-AF65-F5344CB8AC3E}">
        <p14:creationId xmlns:p14="http://schemas.microsoft.com/office/powerpoint/2010/main" val="4047158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71474" y="1940301"/>
            <a:ext cx="8001056" cy="650499"/>
          </a:xfrm>
          <a:prstGeom prst="rect">
            <a:avLst/>
          </a:prstGeom>
        </p:spPr>
        <p:txBody>
          <a:bodyPr wrap="square">
            <a:spAutoFit/>
          </a:bodyPr>
          <a:lstStyle/>
          <a:p>
            <a:pPr algn="ctr">
              <a:lnSpc>
                <a:spcPct val="105000"/>
              </a:lnSpc>
            </a:pPr>
            <a:r>
              <a:rPr lang="en-US" sz="36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sym typeface="Calibri"/>
              </a:rPr>
              <a:t>Thank you for your attention </a:t>
            </a:r>
          </a:p>
        </p:txBody>
      </p:sp>
      <p:sp>
        <p:nvSpPr>
          <p:cNvPr id="4" name="Rectangle 3"/>
          <p:cNvSpPr/>
          <p:nvPr/>
        </p:nvSpPr>
        <p:spPr>
          <a:xfrm>
            <a:off x="0" y="-24"/>
            <a:ext cx="9144000" cy="400110"/>
          </a:xfrm>
          <a:prstGeom prst="rect">
            <a:avLst/>
          </a:prstGeom>
          <a:solidFill>
            <a:schemeClr val="bg2">
              <a:lumMod val="75000"/>
            </a:schemeClr>
          </a:solidFill>
          <a:ln w="6350">
            <a:noFill/>
          </a:ln>
        </p:spPr>
        <p:txBody>
          <a:bodyPr wrap="square">
            <a:spAutoFit/>
          </a:bodyPr>
          <a:lstStyle/>
          <a:p>
            <a:pPr algn="ctr"/>
            <a:r>
              <a:rPr lang="en-US" sz="2000" b="1" dirty="0" err="1">
                <a:solidFill>
                  <a:schemeClr val="bg1"/>
                </a:solidFill>
                <a:latin typeface="Calibri Light" pitchFamily="34" charset="0"/>
                <a:cs typeface="Calibri Light" pitchFamily="34" charset="0"/>
              </a:rPr>
              <a:t>Med&amp;BS</a:t>
            </a:r>
            <a:r>
              <a:rPr lang="en-US" sz="2000" b="1" dirty="0">
                <a:solidFill>
                  <a:schemeClr val="bg1"/>
                </a:solidFill>
                <a:latin typeface="Calibri Light" pitchFamily="34" charset="0"/>
                <a:cs typeface="Calibri Light" pitchFamily="34" charset="0"/>
              </a:rPr>
              <a:t> RDBFIS-III: Comments &amp; Discussions </a:t>
            </a:r>
            <a:endParaRPr lang="en-GB" sz="2000" b="1" dirty="0">
              <a:solidFill>
                <a:schemeClr val="bg1"/>
              </a:solidFill>
              <a:latin typeface="Calibri Light" pitchFamily="34" charset="0"/>
              <a:cs typeface="Calibri Light" pitchFamily="34" charset="0"/>
            </a:endParaRPr>
          </a:p>
        </p:txBody>
      </p:sp>
      <p:sp>
        <p:nvSpPr>
          <p:cNvPr id="2" name="Slide Number Placeholder 1">
            <a:extLst>
              <a:ext uri="{FF2B5EF4-FFF2-40B4-BE49-F238E27FC236}">
                <a16:creationId xmlns:a16="http://schemas.microsoft.com/office/drawing/2014/main" id="{D99A4667-42E7-450B-A990-5A882F685E93}"/>
              </a:ext>
            </a:extLst>
          </p:cNvPr>
          <p:cNvSpPr>
            <a:spLocks noGrp="1"/>
          </p:cNvSpPr>
          <p:nvPr>
            <p:ph type="sldNum" idx="12"/>
          </p:nvPr>
        </p:nvSpPr>
        <p:spPr/>
        <p:txBody>
          <a:bodyPr/>
          <a:lstStyle/>
          <a:p>
            <a:fld id="{00000000-1234-1234-1234-123412341234}" type="slidenum">
              <a:rPr lang="en-US" smtClean="0"/>
              <a:pPr/>
              <a:t>14</a:t>
            </a:fld>
            <a:endParaRPr lang="en-US"/>
          </a:p>
        </p:txBody>
      </p:sp>
    </p:spTree>
    <p:extLst>
      <p:ext uri="{BB962C8B-B14F-4D97-AF65-F5344CB8AC3E}">
        <p14:creationId xmlns:p14="http://schemas.microsoft.com/office/powerpoint/2010/main" val="3077792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990600"/>
            <a:ext cx="4337248" cy="5019305"/>
          </a:xfrm>
        </p:spPr>
        <p:txBody>
          <a:bodyPr anchor="t" anchorCtr="0">
            <a:noAutofit/>
          </a:bodyPr>
          <a:lstStyle/>
          <a:p>
            <a:pPr algn="just"/>
            <a:r>
              <a:rPr lang="en-US" sz="1800"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An innovative R package* is designed to estimate the spatial effort, weight, and value of landings in small-scale fisheries (SSF) for data-limited scenarios, specifically for vessels under 12 meters in length. The R package has been integrated into RDBFIS, facilitating the estimation of fishing effort and landings in the format of Tables H and I. </a:t>
            </a:r>
            <a:endParaRPr lang="el-GR" sz="1800"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Rectangle 2">
            <a:extLst>
              <a:ext uri="{FF2B5EF4-FFF2-40B4-BE49-F238E27FC236}">
                <a16:creationId xmlns:a16="http://schemas.microsoft.com/office/drawing/2014/main" id="{5BBC810D-D253-4DE1-B4D0-A41054111AB1}"/>
              </a:ext>
            </a:extLst>
          </p:cNvPr>
          <p:cNvSpPr/>
          <p:nvPr/>
        </p:nvSpPr>
        <p:spPr>
          <a:xfrm>
            <a:off x="0" y="0"/>
            <a:ext cx="9144000" cy="707886"/>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rgbClr val="FFFFFF"/>
                </a:solidFill>
                <a:latin typeface="Calibri Light" pitchFamily="34" charset="0"/>
                <a:cs typeface="Calibri Light" pitchFamily="34" charset="0"/>
              </a:rPr>
              <a:t>Estimating the spatial FE &amp; landings for SSF </a:t>
            </a: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(FDI Tables H, I)</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rgbClr val="FFFFFF"/>
                </a:solidFill>
                <a:latin typeface="Calibri Light" pitchFamily="34" charset="0"/>
                <a:cs typeface="Calibri Light" pitchFamily="34" charset="0"/>
              </a:rPr>
              <a:t>- integration within RDBFIS</a:t>
            </a:r>
            <a:endParaRPr kumimoji="0" lang="en-GB"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endParaRPr>
          </a:p>
        </p:txBody>
      </p:sp>
      <p:pic>
        <p:nvPicPr>
          <p:cNvPr id="5" name="Picture 4">
            <a:extLst>
              <a:ext uri="{FF2B5EF4-FFF2-40B4-BE49-F238E27FC236}">
                <a16:creationId xmlns:a16="http://schemas.microsoft.com/office/drawing/2014/main" id="{A17EF425-4A01-4AC1-B38F-5CC72E2F5ED9}"/>
              </a:ext>
            </a:extLst>
          </p:cNvPr>
          <p:cNvPicPr>
            <a:picLocks noChangeAspect="1"/>
          </p:cNvPicPr>
          <p:nvPr/>
        </p:nvPicPr>
        <p:blipFill>
          <a:blip r:embed="rId2"/>
          <a:stretch>
            <a:fillRect/>
          </a:stretch>
        </p:blipFill>
        <p:spPr>
          <a:xfrm>
            <a:off x="243769" y="3437906"/>
            <a:ext cx="4099631" cy="1615787"/>
          </a:xfrm>
          <a:prstGeom prst="rect">
            <a:avLst/>
          </a:prstGeom>
        </p:spPr>
      </p:pic>
      <p:pic>
        <p:nvPicPr>
          <p:cNvPr id="4" name="Picture 3">
            <a:extLst>
              <a:ext uri="{FF2B5EF4-FFF2-40B4-BE49-F238E27FC236}">
                <a16:creationId xmlns:a16="http://schemas.microsoft.com/office/drawing/2014/main" id="{CF045F89-82C8-4321-AA62-F3C07F7E6C8E}"/>
              </a:ext>
            </a:extLst>
          </p:cNvPr>
          <p:cNvPicPr>
            <a:picLocks noChangeAspect="1"/>
          </p:cNvPicPr>
          <p:nvPr/>
        </p:nvPicPr>
        <p:blipFill>
          <a:blip r:embed="rId3"/>
          <a:stretch>
            <a:fillRect/>
          </a:stretch>
        </p:blipFill>
        <p:spPr>
          <a:xfrm>
            <a:off x="4641734" y="1371600"/>
            <a:ext cx="4273666" cy="3407959"/>
          </a:xfrm>
          <a:prstGeom prst="rect">
            <a:avLst/>
          </a:prstGeom>
        </p:spPr>
      </p:pic>
      <p:sp>
        <p:nvSpPr>
          <p:cNvPr id="6" name="TextBox 5">
            <a:extLst>
              <a:ext uri="{FF2B5EF4-FFF2-40B4-BE49-F238E27FC236}">
                <a16:creationId xmlns:a16="http://schemas.microsoft.com/office/drawing/2014/main" id="{8FFA49CE-43B3-4D97-BA8C-BD59C80A3C5E}"/>
              </a:ext>
            </a:extLst>
          </p:cNvPr>
          <p:cNvSpPr txBox="1"/>
          <p:nvPr/>
        </p:nvSpPr>
        <p:spPr>
          <a:xfrm>
            <a:off x="366703" y="5635726"/>
            <a:ext cx="8064896" cy="830997"/>
          </a:xfrm>
          <a:prstGeom prst="rect">
            <a:avLst/>
          </a:prstGeom>
          <a:noFill/>
        </p:spPr>
        <p:txBody>
          <a:bodyPr wrap="square">
            <a:spAutoFit/>
          </a:bodyPr>
          <a:lstStyle/>
          <a:p>
            <a:r>
              <a:rPr lang="en-US" sz="1200" dirty="0">
                <a:latin typeface="Calibri Light" panose="020F0302020204030204" pitchFamily="34" charset="0"/>
                <a:ea typeface="Calibri Light" panose="020F0302020204030204" pitchFamily="34" charset="0"/>
                <a:cs typeface="Calibri Light" panose="020F0302020204030204" pitchFamily="34" charset="0"/>
              </a:rPr>
              <a:t>* Maina, I., </a:t>
            </a:r>
            <a:r>
              <a:rPr lang="en-US" sz="1200" dirty="0" err="1">
                <a:latin typeface="Calibri Light" panose="020F0302020204030204" pitchFamily="34" charset="0"/>
                <a:ea typeface="Calibri Light" panose="020F0302020204030204" pitchFamily="34" charset="0"/>
                <a:cs typeface="Calibri Light" panose="020F0302020204030204" pitchFamily="34" charset="0"/>
              </a:rPr>
              <a:t>Politikos</a:t>
            </a:r>
            <a:r>
              <a:rPr lang="en-US" sz="1200" dirty="0">
                <a:latin typeface="Calibri Light" panose="020F0302020204030204" pitchFamily="34" charset="0"/>
                <a:ea typeface="Calibri Light" panose="020F0302020204030204" pitchFamily="34" charset="0"/>
                <a:cs typeface="Calibri Light" panose="020F0302020204030204" pitchFamily="34" charset="0"/>
              </a:rPr>
              <a:t>, D. and Kavadas, S., 2026. tools4MCDA: An R-Package to estimate spatial fishing effort, weight and value of landings using multi-criteria decision analysis. Ecological Modelling, 516, p.111541.</a:t>
            </a:r>
          </a:p>
          <a:p>
            <a:r>
              <a:rPr lang="en-US" sz="1200" i="1" dirty="0">
                <a:solidFill>
                  <a:srgbClr val="0066CC"/>
                </a:solidFill>
                <a:latin typeface="Calibri Light" panose="020F0302020204030204" pitchFamily="34" charset="0"/>
                <a:ea typeface="Calibri Light" panose="020F0302020204030204" pitchFamily="34" charset="0"/>
                <a:cs typeface="Calibri Light" panose="020F0302020204030204" pitchFamily="34" charset="0"/>
                <a:hlinkClick r:id="rId4">
                  <a:extLst>
                    <a:ext uri="{A12FA001-AC4F-418D-AE19-62706E023703}">
                      <ahyp:hlinkClr xmlns:ahyp="http://schemas.microsoft.com/office/drawing/2018/hyperlinkcolor" val="tx"/>
                    </a:ext>
                  </a:extLst>
                </a:hlinkClick>
              </a:rPr>
              <a:t>https://doi.org/10.1016/j.ecolmodel.2026.111541</a:t>
            </a:r>
            <a:endParaRPr lang="en-US" sz="1200" i="1" dirty="0">
              <a:solidFill>
                <a:srgbClr val="0066CC"/>
              </a:solidFill>
              <a:latin typeface="Calibri Light" panose="020F0302020204030204" pitchFamily="34" charset="0"/>
              <a:ea typeface="Calibri Light" panose="020F0302020204030204" pitchFamily="34" charset="0"/>
              <a:cs typeface="Calibri Light" panose="020F0302020204030204" pitchFamily="34" charset="0"/>
            </a:endParaRPr>
          </a:p>
          <a:p>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57D1710C-8A6C-401E-9729-958C1F59AD66}"/>
              </a:ext>
            </a:extLst>
          </p:cNvPr>
          <p:cNvSpPr>
            <a:spLocks noGrp="1"/>
          </p:cNvSpPr>
          <p:nvPr>
            <p:ph type="sldNum" idx="12"/>
          </p:nvPr>
        </p:nvSpPr>
        <p:spPr/>
        <p:txBody>
          <a:bodyPr/>
          <a:lstStyle/>
          <a:p>
            <a:fld id="{00000000-1234-1234-1234-123412341234}" type="slidenum">
              <a:rPr lang="en-US" smtClean="0"/>
              <a:pPr/>
              <a:t>15</a:t>
            </a:fld>
            <a:endParaRPr lang="en-US"/>
          </a:p>
        </p:txBody>
      </p:sp>
    </p:spTree>
    <p:extLst>
      <p:ext uri="{BB962C8B-B14F-4D97-AF65-F5344CB8AC3E}">
        <p14:creationId xmlns:p14="http://schemas.microsoft.com/office/powerpoint/2010/main" val="1060420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67544" y="1447800"/>
            <a:ext cx="8280920" cy="238526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1800" b="0" i="1"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Data from the professional fishing fleet, spanning the period from 1991 to 2024, was downloaded from the </a:t>
            </a:r>
            <a:r>
              <a:rPr kumimoji="0" lang="en-US" sz="1800" b="1" i="1"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official EU Fleet Register portal</a:t>
            </a:r>
            <a:r>
              <a:rPr kumimoji="0" lang="en-US" sz="1800" b="0" i="1"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 GIS techniques were employed to spatially join the fishing ports with various geographical entities, including NUTS2 and NUTS3, FDI subregions, Geographical areas (GFCM, ICES). The fishing ports were match to </a:t>
            </a:r>
            <a:r>
              <a:rPr kumimoji="0" lang="en-US" sz="1800" b="1" i="1"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LOCODE from the CIRCAMB Master Data Register</a:t>
            </a:r>
            <a:r>
              <a:rPr kumimoji="0" lang="en-US" sz="1800" b="0" i="1"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 The accuracy of the fishing port locations was validated using information available from the </a:t>
            </a:r>
            <a:r>
              <a:rPr kumimoji="0" lang="en-US" sz="1800" b="1" i="1"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IFREMER Sextant portal</a:t>
            </a:r>
            <a:r>
              <a:rPr kumimoji="0" lang="en-US" sz="1800" b="0" i="1"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 </a:t>
            </a:r>
          </a:p>
          <a:p>
            <a:pPr marL="0" marR="0" lvl="0" indent="0" algn="just" defTabSz="914400" rtl="0" eaLnBrk="1" fontAlgn="auto" latinLnBrk="0" hangingPunct="1">
              <a:lnSpc>
                <a:spcPct val="100000"/>
              </a:lnSpc>
              <a:spcBef>
                <a:spcPts val="0"/>
              </a:spcBef>
              <a:spcAft>
                <a:spcPts val="600"/>
              </a:spcAft>
              <a:buClr>
                <a:srgbClr val="000000"/>
              </a:buClr>
              <a:buSzTx/>
              <a:buFont typeface="Arial"/>
              <a:buNone/>
              <a:tabLst/>
              <a:defRPr/>
            </a:pPr>
            <a:r>
              <a:rPr lang="en-US" sz="1800" i="1" dirty="0">
                <a:solidFill>
                  <a:schemeClr val="accent1">
                    <a:lumMod val="50000"/>
                  </a:schemeClr>
                </a:solidFill>
                <a:latin typeface="Calibri Light" pitchFamily="34" charset="0"/>
                <a:ea typeface="Calibri Light" pitchFamily="34" charset="0"/>
                <a:cs typeface="Calibri Light" pitchFamily="34" charset="0"/>
                <a:sym typeface="Symbol"/>
              </a:rPr>
              <a:t>Reports </a:t>
            </a:r>
            <a:r>
              <a:rPr kumimoji="0" lang="en-US" sz="1800" b="0" i="1"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can be generated based on user-defined queries about active or decommissioned fishing vessels</a:t>
            </a:r>
          </a:p>
        </p:txBody>
      </p:sp>
      <p:sp>
        <p:nvSpPr>
          <p:cNvPr id="4" name="Rectangle 3"/>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EU fleet analysis</a:t>
            </a:r>
            <a:endParaRPr kumimoji="0" lang="en-GB"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endParaRPr>
          </a:p>
        </p:txBody>
      </p:sp>
      <p:pic>
        <p:nvPicPr>
          <p:cNvPr id="12" name="Picture 11">
            <a:extLst>
              <a:ext uri="{FF2B5EF4-FFF2-40B4-BE49-F238E27FC236}">
                <a16:creationId xmlns:a16="http://schemas.microsoft.com/office/drawing/2014/main" id="{FA9CAC3D-387C-46EF-9D53-60C59A467C1E}"/>
              </a:ext>
            </a:extLst>
          </p:cNvPr>
          <p:cNvPicPr>
            <a:picLocks noChangeAspect="1"/>
          </p:cNvPicPr>
          <p:nvPr/>
        </p:nvPicPr>
        <p:blipFill>
          <a:blip r:embed="rId3"/>
          <a:stretch>
            <a:fillRect/>
          </a:stretch>
        </p:blipFill>
        <p:spPr>
          <a:xfrm>
            <a:off x="2209800" y="3834811"/>
            <a:ext cx="5060238" cy="2865436"/>
          </a:xfrm>
          <a:prstGeom prst="rect">
            <a:avLst/>
          </a:prstGeom>
        </p:spPr>
      </p:pic>
      <p:sp>
        <p:nvSpPr>
          <p:cNvPr id="7" name="TextBox 6">
            <a:extLst>
              <a:ext uri="{FF2B5EF4-FFF2-40B4-BE49-F238E27FC236}">
                <a16:creationId xmlns:a16="http://schemas.microsoft.com/office/drawing/2014/main" id="{48F3C02E-7D66-445D-A0D0-8320E107B3F9}"/>
              </a:ext>
            </a:extLst>
          </p:cNvPr>
          <p:cNvSpPr txBox="1"/>
          <p:nvPr/>
        </p:nvSpPr>
        <p:spPr>
          <a:xfrm>
            <a:off x="467544" y="404664"/>
            <a:ext cx="8280920" cy="101566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2000" b="1"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Fleet analysis: </a:t>
            </a:r>
            <a:r>
              <a:rPr kumimoji="0" lang="en-US" sz="2000" b="0"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an open access dynamic tool </a:t>
            </a:r>
            <a:r>
              <a:rPr lang="en-US" sz="2000" dirty="0">
                <a:solidFill>
                  <a:schemeClr val="accent1">
                    <a:lumMod val="50000"/>
                  </a:schemeClr>
                </a:solidFill>
                <a:latin typeface="Calibri Light" pitchFamily="34" charset="0"/>
                <a:ea typeface="Calibri Light" pitchFamily="34" charset="0"/>
                <a:cs typeface="Calibri Light" pitchFamily="34" charset="0"/>
                <a:sym typeface="Symbol"/>
              </a:rPr>
              <a:t>has </a:t>
            </a:r>
            <a:r>
              <a:rPr kumimoji="0" lang="en-US" sz="2000" b="0"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developed to </a:t>
            </a:r>
            <a:r>
              <a:rPr lang="en-US" sz="2000" dirty="0">
                <a:solidFill>
                  <a:schemeClr val="accent1">
                    <a:lumMod val="50000"/>
                  </a:schemeClr>
                </a:solidFill>
                <a:latin typeface="Calibri Light" pitchFamily="34" charset="0"/>
                <a:ea typeface="Calibri Light" pitchFamily="34" charset="0"/>
                <a:cs typeface="Calibri Light" pitchFamily="34" charset="0"/>
                <a:sym typeface="Symbol"/>
              </a:rPr>
              <a:t>illustrate </a:t>
            </a:r>
            <a:r>
              <a:rPr kumimoji="0" lang="en-US" sz="2000" b="0" u="none" strike="noStrike" kern="0" cap="none" spc="0" normalizeH="0" baseline="0" noProof="0" dirty="0">
                <a:ln>
                  <a:noFill/>
                </a:ln>
                <a:solidFill>
                  <a:schemeClr val="accent1">
                    <a:lumMod val="50000"/>
                  </a:schemeClr>
                </a:solidFill>
                <a:effectLst/>
                <a:uLnTx/>
                <a:uFillTx/>
                <a:latin typeface="Calibri Light" pitchFamily="34" charset="0"/>
                <a:ea typeface="Calibri Light" pitchFamily="34" charset="0"/>
                <a:cs typeface="Calibri Light" pitchFamily="34" charset="0"/>
                <a:sym typeface="Symbol"/>
              </a:rPr>
              <a:t>the evolution of the fleet dynamics in Europe; potential links with the landings, discards and value (FDI Table A)</a:t>
            </a:r>
            <a:r>
              <a:rPr lang="en-US" sz="2000" dirty="0">
                <a:solidFill>
                  <a:schemeClr val="accent1">
                    <a:lumMod val="50000"/>
                  </a:schemeClr>
                </a:solidFill>
                <a:latin typeface="Calibri Light" pitchFamily="34" charset="0"/>
                <a:ea typeface="Calibri Light" pitchFamily="34" charset="0"/>
                <a:cs typeface="Calibri Light" pitchFamily="34" charset="0"/>
                <a:sym typeface="Symbol"/>
              </a:rPr>
              <a:t>;</a:t>
            </a:r>
            <a:endParaRPr lang="el-GR" sz="2000" dirty="0">
              <a:solidFill>
                <a:schemeClr val="accent1">
                  <a:lumMod val="50000"/>
                </a:schemeClr>
              </a:solidFill>
              <a:latin typeface="Calibri Light" pitchFamily="34" charset="0"/>
              <a:ea typeface="Calibri Light" pitchFamily="34" charset="0"/>
              <a:cs typeface="Calibri Light" pitchFamily="34" charset="0"/>
              <a:sym typeface="Symbol"/>
            </a:endParaRPr>
          </a:p>
        </p:txBody>
      </p:sp>
      <p:sp>
        <p:nvSpPr>
          <p:cNvPr id="2" name="Slide Number Placeholder 1">
            <a:extLst>
              <a:ext uri="{FF2B5EF4-FFF2-40B4-BE49-F238E27FC236}">
                <a16:creationId xmlns:a16="http://schemas.microsoft.com/office/drawing/2014/main" id="{F112ED03-EB57-4F08-B117-F80A4B2809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DC4123ED56FC439ECC7FB0707F01E2" ma:contentTypeVersion="4" ma:contentTypeDescription="Create a new document." ma:contentTypeScope="" ma:versionID="becfe9ee911982a1bfd82b662fd7073d">
  <xsd:schema xmlns:xsd="http://www.w3.org/2001/XMLSchema" xmlns:xs="http://www.w3.org/2001/XMLSchema" xmlns:p="http://schemas.microsoft.com/office/2006/metadata/properties" xmlns:ns2="e3df9749-23e7-48f4-8166-c91eef933ef2" targetNamespace="http://schemas.microsoft.com/office/2006/metadata/properties" ma:root="true" ma:fieldsID="7e0e3d25092fd0e5f123df64e8385ca9" ns2:_="">
    <xsd:import namespace="e3df9749-23e7-48f4-8166-c91eef933ef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df9749-23e7-48f4-8166-c91eef933e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16F94D-AD5B-4990-8586-4A5A9C866686}">
  <ds:schemaRefs>
    <ds:schemaRef ds:uri="http://schemas.microsoft.com/office/infopath/2007/PartnerControls"/>
    <ds:schemaRef ds:uri="http://www.w3.org/XML/1998/namespace"/>
    <ds:schemaRef ds:uri="http://schemas.openxmlformats.org/package/2006/metadata/core-properties"/>
    <ds:schemaRef ds:uri="http://purl.org/dc/terms/"/>
    <ds:schemaRef ds:uri="http://schemas.microsoft.com/office/2006/documentManagement/types"/>
    <ds:schemaRef ds:uri="e3df9749-23e7-48f4-8166-c91eef933ef2"/>
    <ds:schemaRef ds:uri="http://purl.org/dc/elements/1.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55276F98-E905-43A0-9DE6-1C0CC94D2A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df9749-23e7-48f4-8166-c91eef933e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E2D049-B0BE-4020-B4B6-3C7A52EF49F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3880</TotalTime>
  <Words>1894</Words>
  <Application>Microsoft Office PowerPoint</Application>
  <PresentationFormat>On-screen Show (4:3)</PresentationFormat>
  <Paragraphs>215</Paragraphs>
  <Slides>16</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Calibri</vt:lpstr>
      <vt:lpstr>Calibri Light</vt:lpstr>
      <vt:lpstr>Courier New</vt:lpstr>
      <vt:lpstr>Symbol</vt:lpstr>
      <vt:lpstr>Wingdings</vt:lpstr>
      <vt:lpstr>1_Office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 innovative R package* is designed to estimate the spatial effort, weight, and value of landings in small-scale fisheries (SSF) for data-limited scenarios, specifically for vessels under 12 meters in length. The R package has been integrated into RDBFIS, facilitating the estimation of fishing effort and landings in the format of Tables H and I.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irida maina</dc:creator>
  <cp:lastModifiedBy>Stefanos Kavadas</cp:lastModifiedBy>
  <cp:revision>348</cp:revision>
  <dcterms:created xsi:type="dcterms:W3CDTF">2025-04-22T15:56:01Z</dcterms:created>
  <dcterms:modified xsi:type="dcterms:W3CDTF">2026-05-05T10:26:29Z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0x01010060DC4123ED56FC439ECC7FB0707F01E2</vt:lpwstr>
  </property>
</Properties>
</file>